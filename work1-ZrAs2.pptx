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各位专家好，这是我的第一个工作：拓扑节线半金属ZrAs2中的极大不饱和磁阻与手性反常现象。我将从研究背景、实验方法、主要结果和结论四个方面进行汇报。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拓扑节线半金属是一类重要的拓扑量子材料，其节点线受晶体对称性保护。ZrAs2属于过渡金属磷化物家族，理论预测为拓扑节线半金属。但此前研究受限于样品质量，其拓扑性质尚待实验验证。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我们的研究目标包括四个方面：生长高质量单晶、系统研究磁输运性质、解析费米面结构、验证拓扑性质。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我们采用化学气相输运法生长ZrAs2单晶。通过控制温度梯度获得针状单晶，沿b轴方向生长。EDS测定元素比例接近1:2。单晶XRD确认空间群为Pnma。电输运测量使用PPMS系统，磁场范围正负14特斯拉，温度最低2K。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电阻率测量显示典型金属行为。2K时剩余电阻率为0.53微欧姆厘米，RRR达到56，高于文献报道，证明我们获得了高质量单晶。双带模型拟合显示电子和空穴浓度几乎完全补偿，这是产生极大磁阻的主要原因。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们在ZrAs2中观测到极大不饱和磁阻。在2K和14特斯拉下，磁阻高达1.9×10^4%，即19000%，且仍未饱和。这一数值远高于此前文献报道。通过双带模型分析，我们发现电子与空穴浓度几乎完全补偿，这是产生XMR的主要原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量子振荡是研究费米面的有效手段。我们在低温强磁场下观测到明显的SdH振荡。通过FFT分析提取了四个主要频率，对应多个费米面口袋。朗道能级指数拟合得到非平庸的π贝里相位，这是拓扑非平庸电子结构的直接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我们进一步研究了角度依赖的磁输运。磁阻呈现二重旋转对称性，与DFT计算的费米面结构一致。通过跟踪振荡频率随角度的变化，我们将四个频率归属到不同的费米面口袋。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重要的发现是手性反常导致的负磁阻。当磁场与电流平行时，我们观测到显著的负磁阻效应。通过排除其他可能的机制，我们确认这一现象来源于手性反常——狄拉克费米子在平行电磁场下手性不守恒导致的电荷转移。这直接验证了ZrAs2的拓扑非平庸特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DFT计算支持了我们的实验发现。考虑自旋轨道耦合后，节线打开能隙，但拓扑非平庸特性保留。计算的费米面结构与SdH振荡频率吻合，角度依赖的二重对称性也得到了验证。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总结工作一的主要成果。我们生长了高质量ZrAs2单晶，发现了极大不饱和磁阻，通过量子振荡解析了费米面结构，并通过手性反常导致的负磁阻验证了拓扑非平庸特性。这是首次在ZrAs2中报道手性反常现象。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该工作已发表于Frontiers of Physics期刊。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1300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0000" y="100000"/>
            <a:ext cx="40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defRPr sz="2200" b="1">
                <a:solidFill>
                  <a:srgbClr val="FFD700"/>
                </a:solidFill>
              </a:defRPr>
            </a:pPr>
            <a:r>
              <a:t>工作一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00" y="1500000"/>
            <a:ext cx="105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  <a:defRPr sz="4400" b="1">
                <a:solidFill>
                  <a:srgbClr val="FFFFFF"/>
                </a:solidFill>
              </a:defRPr>
            </a:pPr>
            <a:r>
              <a:t>拓扑节线半金属ZrAs₂中的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2700000"/>
            <a:ext cx="105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  <a:defRPr sz="4400" b="1">
                <a:solidFill>
                  <a:srgbClr val="FFFFFF"/>
                </a:solidFill>
              </a:defRPr>
            </a:pPr>
            <a:r>
              <a:t>极大不饱和磁阻与手性反常现象</a:t>
            </a:r>
          </a:p>
        </p:txBody>
      </p:sp>
      <p:sp>
        <p:nvSpPr>
          <p:cNvPr id="8" name="Rectangle 7"/>
          <p:cNvSpPr/>
          <p:nvPr/>
        </p:nvSpPr>
        <p:spPr>
          <a:xfrm>
            <a:off x="800000" y="4000000"/>
            <a:ext cx="3000000" cy="400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0000" y="4200000"/>
            <a:ext cx="80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defRPr sz="1800" b="0">
                <a:solidFill>
                  <a:srgbClr val="E0E0E0"/>
                </a:solidFill>
              </a:defRPr>
            </a:pPr>
            <a:r>
              <a:t>Extremely Large Magnetoresistance and Chiral Anomaly in Nodal-line Semimetal ZrAs₂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00" y="5500000"/>
            <a:ext cx="6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defRPr sz="2000" b="0">
                <a:solidFill>
                  <a:srgbClr val="E0E0E0"/>
                </a:solidFill>
              </a:defRPr>
            </a:pPr>
            <a:r>
              <a:t>答辩人：杨浩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000" y="5900000"/>
            <a:ext cx="6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defRPr sz="1800" b="0">
                <a:solidFill>
                  <a:srgbClr val="E0E0E0"/>
                </a:solidFill>
              </a:defRPr>
            </a:pPr>
            <a:r>
              <a:t>导师：许祝安 教授、李林军 副教授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00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0000" y="50000"/>
            <a:ext cx="11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defRPr sz="3600" b="1">
                <a:solidFill>
                  <a:srgbClr val="003366"/>
                </a:solidFill>
              </a:defRPr>
            </a:pPr>
            <a:r>
              <a:t>研究背景</a:t>
            </a:r>
          </a:p>
        </p:txBody>
      </p:sp>
      <p:sp>
        <p:nvSpPr>
          <p:cNvPr id="6" name="Rectangle 5"/>
          <p:cNvSpPr/>
          <p:nvPr/>
        </p:nvSpPr>
        <p:spPr>
          <a:xfrm>
            <a:off x="500000" y="700000"/>
            <a:ext cx="1500000" cy="40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0000" y="750000"/>
            <a:ext cx="11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defRPr sz="2400" b="1">
                <a:solidFill>
                  <a:srgbClr val="1A4B8C"/>
                </a:solidFill>
              </a:defRPr>
            </a:pPr>
            <a:r>
              <a:t>拓扑节线半金属材料体系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0000" y="1300000"/>
            <a:ext cx="110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拓扑节线半金属是一类新型拓扑量子材料：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• 节点线受晶体对称性保护，在动量空间形成闭合环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• 典型材料：PbTaSe₂、PtSn₄、ZrSiX (X = S, Se, Te)、AB₃家族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• 表现出极大磁阻（XMR）和负磁阻等独特输运现象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ZrAs₂ 材料特点：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• 空间群 Pnma (No. 62)，过渡金属磷化物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• 理论预测为拓扑节线半金属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• 不考虑SOC时存在节点环，考虑SOC后打开能隙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• ZrP₂已报道极大磁阻，源于电子-空穴补偿机制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研究动机：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• ZrAs₂的拓扑性质尚待实验验证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• 此前样品质量有限（RRR较低）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• 费米面结构缺乏系统解析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00000" y="6450000"/>
            <a:ext cx="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  <a:defRPr sz="1400" b="0">
                <a:solidFill>
                  <a:srgbClr val="E0E0E0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00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0000" y="50000"/>
            <a:ext cx="11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defRPr sz="3600" b="1">
                <a:solidFill>
                  <a:srgbClr val="003366"/>
                </a:solidFill>
              </a:defRPr>
            </a:pPr>
            <a:r>
              <a:t>研究目标</a:t>
            </a:r>
          </a:p>
        </p:txBody>
      </p:sp>
      <p:sp>
        <p:nvSpPr>
          <p:cNvPr id="6" name="Rectangle 5"/>
          <p:cNvSpPr/>
          <p:nvPr/>
        </p:nvSpPr>
        <p:spPr>
          <a:xfrm>
            <a:off x="500000" y="700000"/>
            <a:ext cx="1500000" cy="40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0000" y="1000000"/>
            <a:ext cx="11000000" cy="5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0"/>
              </a:spcBef>
              <a:defRPr sz="2200" b="0">
                <a:solidFill>
                  <a:srgbClr val="444444"/>
                </a:solidFill>
              </a:defRPr>
            </a:pPr>
            <a:r>
              <a:t>本研究的主要目标：</a:t>
            </a:r>
          </a:p>
          <a:p>
            <a:pPr algn="l">
              <a:spcBef>
                <a:spcPts val="1000"/>
              </a:spcBef>
              <a:defRPr sz="22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1000"/>
              </a:spcBef>
              <a:defRPr sz="2200" b="0">
                <a:solidFill>
                  <a:srgbClr val="444444"/>
                </a:solidFill>
              </a:defRPr>
            </a:pPr>
            <a:r>
              <a:t>1. 生长高质量ZrAs₂单晶</a:t>
            </a:r>
          </a:p>
          <a:p>
            <a:pPr algn="l">
              <a:spcBef>
                <a:spcPts val="1000"/>
              </a:spcBef>
              <a:defRPr sz="2200" b="0">
                <a:solidFill>
                  <a:srgbClr val="444444"/>
                </a:solidFill>
              </a:defRPr>
            </a:pPr>
            <a:r>
              <a:t>   • 化学气相输运法（CVT）</a:t>
            </a:r>
          </a:p>
          <a:p>
            <a:pPr algn="l">
              <a:spcBef>
                <a:spcPts val="1000"/>
              </a:spcBef>
              <a:defRPr sz="2200" b="0">
                <a:solidFill>
                  <a:srgbClr val="444444"/>
                </a:solidFill>
              </a:defRPr>
            </a:pPr>
            <a:r>
              <a:t>   • 提高剩余电阻率比（RRR）</a:t>
            </a:r>
          </a:p>
          <a:p>
            <a:pPr algn="l">
              <a:spcBef>
                <a:spcPts val="1000"/>
              </a:spcBef>
              <a:defRPr sz="2200" b="0">
                <a:solidFill>
                  <a:srgbClr val="444444"/>
                </a:solidFill>
              </a:defRPr>
            </a:pPr>
            <a:r>
              <a:t>   • 获得更清晰的量子振荡信号</a:t>
            </a:r>
          </a:p>
          <a:p>
            <a:pPr algn="l">
              <a:spcBef>
                <a:spcPts val="1000"/>
              </a:spcBef>
              <a:defRPr sz="22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1000"/>
              </a:spcBef>
              <a:defRPr sz="2200" b="0">
                <a:solidFill>
                  <a:srgbClr val="444444"/>
                </a:solidFill>
              </a:defRPr>
            </a:pPr>
            <a:r>
              <a:t>2. 系统研究磁输运性质</a:t>
            </a:r>
          </a:p>
          <a:p>
            <a:pPr algn="l">
              <a:spcBef>
                <a:spcPts val="1000"/>
              </a:spcBef>
              <a:defRPr sz="2200" b="0">
                <a:solidFill>
                  <a:srgbClr val="444444"/>
                </a:solidFill>
              </a:defRPr>
            </a:pPr>
            <a:r>
              <a:t>   • 纵向磁阻与霍尔效应</a:t>
            </a:r>
          </a:p>
          <a:p>
            <a:pPr algn="l">
              <a:spcBef>
                <a:spcPts val="1000"/>
              </a:spcBef>
              <a:defRPr sz="2200" b="0">
                <a:solidFill>
                  <a:srgbClr val="444444"/>
                </a:solidFill>
              </a:defRPr>
            </a:pPr>
            <a:r>
              <a:t>   • SdH量子振荡</a:t>
            </a:r>
          </a:p>
          <a:p>
            <a:pPr algn="l">
              <a:spcBef>
                <a:spcPts val="1000"/>
              </a:spcBef>
              <a:defRPr sz="2200" b="0">
                <a:solidFill>
                  <a:srgbClr val="444444"/>
                </a:solidFill>
              </a:defRPr>
            </a:pPr>
            <a:r>
              <a:t>   • 角度依赖的磁输运</a:t>
            </a:r>
          </a:p>
          <a:p>
            <a:pPr algn="l">
              <a:spcBef>
                <a:spcPts val="1000"/>
              </a:spcBef>
              <a:defRPr sz="22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1000"/>
              </a:spcBef>
              <a:defRPr sz="2200" b="0">
                <a:solidFill>
                  <a:srgbClr val="444444"/>
                </a:solidFill>
              </a:defRPr>
            </a:pPr>
            <a:r>
              <a:t>3. 解析费米面结构</a:t>
            </a:r>
          </a:p>
          <a:p>
            <a:pPr algn="l">
              <a:spcBef>
                <a:spcPts val="1000"/>
              </a:spcBef>
              <a:defRPr sz="2200" b="0">
                <a:solidFill>
                  <a:srgbClr val="444444"/>
                </a:solidFill>
              </a:defRPr>
            </a:pPr>
            <a:r>
              <a:t>   • FFT提取振荡频率</a:t>
            </a:r>
          </a:p>
          <a:p>
            <a:pPr algn="l">
              <a:spcBef>
                <a:spcPts val="1000"/>
              </a:spcBef>
              <a:defRPr sz="2200" b="0">
                <a:solidFill>
                  <a:srgbClr val="444444"/>
                </a:solidFill>
              </a:defRPr>
            </a:pPr>
            <a:r>
              <a:t>   • DFT计算验证</a:t>
            </a:r>
          </a:p>
          <a:p>
            <a:pPr algn="l">
              <a:spcBef>
                <a:spcPts val="1000"/>
              </a:spcBef>
              <a:defRPr sz="2200" b="0">
                <a:solidFill>
                  <a:srgbClr val="444444"/>
                </a:solidFill>
              </a:defRPr>
            </a:pPr>
            <a:r>
              <a:t>   • 有效质量与贝里相位</a:t>
            </a:r>
          </a:p>
          <a:p>
            <a:pPr algn="l">
              <a:spcBef>
                <a:spcPts val="1000"/>
              </a:spcBef>
              <a:defRPr sz="22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1000"/>
              </a:spcBef>
              <a:defRPr sz="2200" b="0">
                <a:solidFill>
                  <a:srgbClr val="444444"/>
                </a:solidFill>
              </a:defRPr>
            </a:pPr>
            <a:r>
              <a:t>4. 验证拓扑性质</a:t>
            </a:r>
          </a:p>
          <a:p>
            <a:pPr algn="l">
              <a:spcBef>
                <a:spcPts val="1000"/>
              </a:spcBef>
              <a:defRPr sz="2200" b="0">
                <a:solidFill>
                  <a:srgbClr val="444444"/>
                </a:solidFill>
              </a:defRPr>
            </a:pPr>
            <a:r>
              <a:t>   • 非平庸贝里相位</a:t>
            </a:r>
          </a:p>
          <a:p>
            <a:pPr algn="l">
              <a:spcBef>
                <a:spcPts val="1000"/>
              </a:spcBef>
              <a:defRPr sz="2200" b="0">
                <a:solidFill>
                  <a:srgbClr val="444444"/>
                </a:solidFill>
              </a:defRPr>
            </a:pPr>
            <a:r>
              <a:t>   • 手性反常导致的负磁阻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00000" y="6450000"/>
            <a:ext cx="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  <a:defRPr sz="1400" b="0">
                <a:solidFill>
                  <a:srgbClr val="E0E0E0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00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0000" y="50000"/>
            <a:ext cx="11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defRPr sz="3600" b="1">
                <a:solidFill>
                  <a:srgbClr val="003366"/>
                </a:solidFill>
              </a:defRPr>
            </a:pPr>
            <a:r>
              <a:t>实验方法</a:t>
            </a:r>
          </a:p>
        </p:txBody>
      </p:sp>
      <p:sp>
        <p:nvSpPr>
          <p:cNvPr id="6" name="Rectangle 5"/>
          <p:cNvSpPr/>
          <p:nvPr/>
        </p:nvSpPr>
        <p:spPr>
          <a:xfrm>
            <a:off x="500000" y="700000"/>
            <a:ext cx="1500000" cy="40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0000" y="750000"/>
            <a:ext cx="11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defRPr sz="2400" b="1">
                <a:solidFill>
                  <a:srgbClr val="1A4B8C"/>
                </a:solidFill>
              </a:defRPr>
            </a:pPr>
            <a:r>
              <a:t>样品制备与表征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0000" y="1200000"/>
            <a:ext cx="5500000" cy="5000000"/>
          </a:xfrm>
          <a:prstGeom prst="roundRect">
            <a:avLst/>
          </a:prstGeom>
          <a:solidFill>
            <a:srgbClr val="F0F7FF"/>
          </a:solidFill>
          <a:ln w="25400">
            <a:solidFill>
              <a:srgbClr val="1870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0000" y="1250000"/>
            <a:ext cx="5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defRPr sz="2200" b="1">
                <a:solidFill>
                  <a:srgbClr val="003366"/>
                </a:solidFill>
              </a:defRPr>
            </a:pPr>
            <a:r>
              <a:t>样品制备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0000" y="1700000"/>
            <a:ext cx="50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化学气相输运法（CVT）：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原料：Zr粉 + As粉（摩尔比 1:2）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传输剂：I₂颗粒（4 mg/mL）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温度程序：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  - 48小时内升温至850°C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  - 850°C恒温1周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  - 1天内冷却至室温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产物特征：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针状单晶，沿b轴生长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EDS测定：Zr:As ≈ 1:1.92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接近化学计量比1:2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0000" y="1200000"/>
            <a:ext cx="5500000" cy="5000000"/>
          </a:xfrm>
          <a:prstGeom prst="roundRect">
            <a:avLst/>
          </a:prstGeom>
          <a:solidFill>
            <a:srgbClr val="FFF8F0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0000" y="1250000"/>
            <a:ext cx="5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defRPr sz="2200" b="1">
                <a:solidFill>
                  <a:srgbClr val="003366"/>
                </a:solidFill>
              </a:defRPr>
            </a:pPr>
            <a:r>
              <a:t>表征方法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0000" y="1700000"/>
            <a:ext cx="50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单晶X射线衍射：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Bruker D8 Venture衍射仪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温度：170 K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Olex2结构解析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空间群：Pnma (No. 62)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电输运测量：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Quantum Design PPMS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标准四探针法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磁场范围：-14 T ~ +14 T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温度范围：2 K ~ 300 K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晶体学参数：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a = 6.7964(3) Å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b = 3.6848(2) Å  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c = 9.0214(4) 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600000" y="6450000"/>
            <a:ext cx="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  <a:defRPr sz="1400" b="0">
                <a:solidFill>
                  <a:srgbClr val="E0E0E0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00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0000" y="50000"/>
            <a:ext cx="11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defRPr sz="3600" b="1">
                <a:solidFill>
                  <a:srgbClr val="003366"/>
                </a:solidFill>
              </a:defRPr>
            </a:pPr>
            <a:r>
              <a:t>电输运特性</a:t>
            </a:r>
          </a:p>
        </p:txBody>
      </p:sp>
      <p:sp>
        <p:nvSpPr>
          <p:cNvPr id="6" name="Rectangle 5"/>
          <p:cNvSpPr/>
          <p:nvPr/>
        </p:nvSpPr>
        <p:spPr>
          <a:xfrm>
            <a:off x="500000" y="700000"/>
            <a:ext cx="1500000" cy="40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0000" y="750000"/>
            <a:ext cx="11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defRPr sz="2400" b="1">
                <a:solidFill>
                  <a:srgbClr val="1A4B8C"/>
                </a:solidFill>
              </a:defRPr>
            </a:pPr>
            <a:r>
              <a:t>电阻率与样品质量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0000" y="1200000"/>
            <a:ext cx="11000000" cy="5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电阻率温度依赖：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• 呈典型金属行为，电阻率随温度降低而减小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• 2 K时剩余电阻率 ρxx(2 K) = 0.53 µΩ·cm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• 剩余电阻率比 RRR = ρxx(300K)/ρxx(2K) = 56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• RRR值高于文献报道，表明样品质量更高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载流子参数（2 K）：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• 电子浓度 ne = 3.58 × 10²⁰ cm⁻³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• 空穴浓度 nh = 3.47 × 10²⁰ cm⁻³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• 电子迁移率 μe = 5600 cm²·V⁻¹·s⁻¹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• 空穴迁移率 μh = 5164 cm²·V⁻¹·s⁻¹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关键发现：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• 电子与空穴浓度几乎完全补偿 → 产生极大磁阻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• 高迁移率反映优良晶体质量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00000" y="6450000"/>
            <a:ext cx="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  <a:defRPr sz="1400" b="0">
                <a:solidFill>
                  <a:srgbClr val="E0E0E0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00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0000" y="50000"/>
            <a:ext cx="11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defRPr sz="3600" b="1">
                <a:solidFill>
                  <a:srgbClr val="003366"/>
                </a:solidFill>
              </a:defRPr>
            </a:pPr>
            <a:r>
              <a:t>极大不饱和磁阻</a:t>
            </a:r>
          </a:p>
        </p:txBody>
      </p:sp>
      <p:sp>
        <p:nvSpPr>
          <p:cNvPr id="6" name="Rectangle 5"/>
          <p:cNvSpPr/>
          <p:nvPr/>
        </p:nvSpPr>
        <p:spPr>
          <a:xfrm>
            <a:off x="500000" y="700000"/>
            <a:ext cx="1500000" cy="40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0000" y="750000"/>
            <a:ext cx="11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defRPr sz="2400" b="1">
                <a:solidFill>
                  <a:srgbClr val="1A4B8C"/>
                </a:solidFill>
              </a:defRPr>
            </a:pPr>
            <a:r>
              <a:t>XMR现象与电子-空穴补偿机制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0000" y="1200000"/>
            <a:ext cx="5000000" cy="4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实验结果：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磁阻定义：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MR = [ρxx(B) - ρxx(0)]/ρxx(0) × 100%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关键数据：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2 K, 8 T: MR = 2.5 × 10³ %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2 K, 14 T: MR = 1.9 × 10⁴ %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磁场达14 T仍未饱和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明显高于此前报道的1.01 × 10³ %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温度依赖：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MR随温度升高而降低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80 K, 8 T: MR = 1.6 × 10² 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00000" y="1200000"/>
            <a:ext cx="5800000" cy="4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物理机制：电子-空穴补偿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双带模型分析：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霍尔电阻率呈非线性 → 多带特征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拟合霍尔电导率 σxy(B)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电子-空穴补偿：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ne ≈ nh（几乎相等）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高迁移率载流子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磁场下电子与空穴同时偏转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总电流几乎不变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导致磁阻趋近饱和但不完全饱和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类似体系：TaAs₂, NbAs₂, ZrP₂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均报道了电子-空穴补偿诱导的XMR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00000" y="6450000"/>
            <a:ext cx="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  <a:defRPr sz="1400" b="0">
                <a:solidFill>
                  <a:srgbClr val="E0E0E0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00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0000" y="50000"/>
            <a:ext cx="11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defRPr sz="3600" b="1">
                <a:solidFill>
                  <a:srgbClr val="003366"/>
                </a:solidFill>
              </a:defRPr>
            </a:pPr>
            <a:r>
              <a:t>SdH量子振荡</a:t>
            </a:r>
          </a:p>
        </p:txBody>
      </p:sp>
      <p:sp>
        <p:nvSpPr>
          <p:cNvPr id="6" name="Rectangle 5"/>
          <p:cNvSpPr/>
          <p:nvPr/>
        </p:nvSpPr>
        <p:spPr>
          <a:xfrm>
            <a:off x="500000" y="700000"/>
            <a:ext cx="1500000" cy="40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0000" y="750000"/>
            <a:ext cx="11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defRPr sz="2400" b="1">
                <a:solidFill>
                  <a:srgbClr val="1A4B8C"/>
                </a:solidFill>
              </a:defRPr>
            </a:pPr>
            <a:r>
              <a:t>费米面解析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0000" y="1200000"/>
            <a:ext cx="50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实验观测：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测量构型：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I // b轴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B // c轴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温度：2 K - 12 K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磁场：0 - 14 T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振荡特征：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低温高场下明显SdH振荡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温度升高振荡减弱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12 K时几乎消失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FFT分析结果：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F₁ = 155 T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F₂ = 178 T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F₃ = 443 T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F₄ = 579 T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另有高次谐波：2F₃, 2F₄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00000" y="1200000"/>
            <a:ext cx="58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LK公式分析：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有效质量：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m*₁ = 0.10 me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m*₂ = 0.11 me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m*₃ = 0.13 me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m*₄ = 0.12 me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较小的有效质量对应狄拉克费米子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贝里相位（Landau指数拟合）：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F₃ (δ = 1/8): ϕB = 1.1 π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F₄ (δ = -1/8): ϕB = 0.8 π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非平庸的π贝里相位！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表明能带具有拓扑非平庸特征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00000" y="6450000"/>
            <a:ext cx="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  <a:defRPr sz="1400" b="0">
                <a:solidFill>
                  <a:srgbClr val="E0E0E0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00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0000" y="50000"/>
            <a:ext cx="11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defRPr sz="3600" b="1">
                <a:solidFill>
                  <a:srgbClr val="003366"/>
                </a:solidFill>
              </a:defRPr>
            </a:pPr>
            <a:r>
              <a:t>角度依赖磁输运</a:t>
            </a:r>
          </a:p>
        </p:txBody>
      </p:sp>
      <p:sp>
        <p:nvSpPr>
          <p:cNvPr id="6" name="Rectangle 5"/>
          <p:cNvSpPr/>
          <p:nvPr/>
        </p:nvSpPr>
        <p:spPr>
          <a:xfrm>
            <a:off x="500000" y="700000"/>
            <a:ext cx="1500000" cy="40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0000" y="750000"/>
            <a:ext cx="11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defRPr sz="2400" b="1">
                <a:solidFill>
                  <a:srgbClr val="1A4B8C"/>
                </a:solidFill>
              </a:defRPr>
            </a:pPr>
            <a:r>
              <a:t>费米面各向异性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0000" y="1200000"/>
            <a:ext cx="5000000" cy="4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实验设计：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测量构型：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电流 I // b轴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磁场在ac平面内旋转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角度 φ：从a轴(0°)到c轴(90°)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温度：2 K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主要发现：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1. SdH振荡的角度依赖：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全角度范围均观测到振荡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F₁, F₂ 频率变化较小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F₃ 频率随φ减小而增加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F₄ 频率先增后减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00000" y="1200000"/>
            <a:ext cx="5800000" cy="4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2. 磁阻的二重对称性：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MR具有明显二重旋转对称性：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ρxx(14T, φ=90°)/ρxx(14T, φ=0°) ≈ 3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与费米面结构一致：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β和δ₂费米面呈二重对称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DFT计算支持该各向异性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频率归属：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F₁: δ₂内部小费米面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F₂: δ₁电子口袋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F₃: δ₂电子口袋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F₄: β空穴口袋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费米面拓扑由DFT计算验证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00000" y="6450000"/>
            <a:ext cx="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  <a:defRPr sz="1400" b="0">
                <a:solidFill>
                  <a:srgbClr val="E0E0E0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00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0000" y="50000"/>
            <a:ext cx="11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defRPr sz="3600" b="1">
                <a:solidFill>
                  <a:srgbClr val="003366"/>
                </a:solidFill>
              </a:defRPr>
            </a:pPr>
            <a:r>
              <a:t>手性反常</a:t>
            </a:r>
          </a:p>
        </p:txBody>
      </p:sp>
      <p:sp>
        <p:nvSpPr>
          <p:cNvPr id="6" name="Rectangle 5"/>
          <p:cNvSpPr/>
          <p:nvPr/>
        </p:nvSpPr>
        <p:spPr>
          <a:xfrm>
            <a:off x="500000" y="700000"/>
            <a:ext cx="1500000" cy="40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0000" y="750000"/>
            <a:ext cx="11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defRPr sz="2400" b="1">
                <a:solidFill>
                  <a:srgbClr val="1A4B8C"/>
                </a:solidFill>
              </a:defRPr>
            </a:pPr>
            <a:r>
              <a:t>负磁阻效应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0000" y="1200000"/>
            <a:ext cx="5000000" cy="4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实验观测：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测量构型：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磁场从B⊥I旋转到B//I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θ = 90°: B ⊥ I (沿a轴)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θ = 0°: B // I (沿b轴)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温度：2 K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关键发现：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当B // I时，观测到负磁阻！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低场区(B &lt; 5 T): MR先增大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高场区(B &gt; 5 T): MR逐渐减小（负磁阻）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50 K以下均可观测到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此前文献[189]未报道此现象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00000" y="1200000"/>
            <a:ext cx="5800000" cy="4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机制分析：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排除其他可能性：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1. 磁性散射？→ 不含磁性元素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2. 弱反局域化(WAL)？→ 负磁阻在高场区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3. 量子极限？→ 高场仍有量子振荡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4. 电流喷射效应？→ 电极横跨整个样品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结论：手性反常 (Chiral Anomaly)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物理图像：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狄拉克锥中的手性电子态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平行电磁场下手性不守恒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左手性和右手性电子间电荷转移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导致负磁阻效应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验证了ZrAs₂的拓扑非平庸特性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00000" y="6450000"/>
            <a:ext cx="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  <a:defRPr sz="1400" b="0">
                <a:solidFill>
                  <a:srgbClr val="E0E0E0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00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0000" y="50000"/>
            <a:ext cx="11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defRPr sz="3600" b="1">
                <a:solidFill>
                  <a:srgbClr val="003366"/>
                </a:solidFill>
              </a:defRPr>
            </a:pPr>
            <a:r>
              <a:t>第一性原理计算</a:t>
            </a:r>
          </a:p>
        </p:txBody>
      </p:sp>
      <p:sp>
        <p:nvSpPr>
          <p:cNvPr id="6" name="Rectangle 5"/>
          <p:cNvSpPr/>
          <p:nvPr/>
        </p:nvSpPr>
        <p:spPr>
          <a:xfrm>
            <a:off x="500000" y="700000"/>
            <a:ext cx="1500000" cy="40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0000" y="750000"/>
            <a:ext cx="11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defRPr sz="2400" b="1">
                <a:solidFill>
                  <a:srgbClr val="1A4B8C"/>
                </a:solidFill>
              </a:defRPr>
            </a:pPr>
            <a:r>
              <a:t>电子结构与费米面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0000" y="1200000"/>
            <a:ext cx="5000000" cy="4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能带结构：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不考虑SOC：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存在能带交叉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形成节点环（节线）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考虑SOC：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沿节线打开小能隙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能隙比ZrP₂更大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源于更强的自旋轨道耦合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拓扑特征：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能隙来源于SOC效应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具有拓扑非平庸性质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00000" y="1200000"/>
            <a:ext cx="5800000" cy="4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费米面结构（布里渊区）：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空穴口袋：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α: U点附近小口袋（蓝色）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β: 两个大空穴口袋（红色）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电子口袋：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δ₁: Γ点附近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δ₂: Γ点附近（紫色）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δ₂内部还有小费米面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对称性：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β和δ₂呈二重旋转对称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与角度依赖MR实验一致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频率计算值 vs 实验值：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δ₁: 135 T vs F₂=178 T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δ₂: 394 T vs F₃=443 T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β: 551 T vs F₄=579 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00000" y="6450000"/>
            <a:ext cx="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  <a:defRPr sz="1400" b="0">
                <a:solidFill>
                  <a:srgbClr val="E0E0E0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00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0000" y="50000"/>
            <a:ext cx="11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defRPr sz="3600" b="1">
                <a:solidFill>
                  <a:srgbClr val="003366"/>
                </a:solidFill>
              </a:defRPr>
            </a:pPr>
            <a:r>
              <a:t>工作一总结</a:t>
            </a:r>
          </a:p>
        </p:txBody>
      </p:sp>
      <p:sp>
        <p:nvSpPr>
          <p:cNvPr id="6" name="Rectangle 5"/>
          <p:cNvSpPr/>
          <p:nvPr/>
        </p:nvSpPr>
        <p:spPr>
          <a:xfrm>
            <a:off x="500000" y="700000"/>
            <a:ext cx="1500000" cy="40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0000" y="1000000"/>
            <a:ext cx="11000000" cy="5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主要成果：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1. 生长了高质量ZrAs₂单晶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   • RRR = 56，高于文献报道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   • 载流子迁移率 &gt; 5000 cm²·V⁻¹·s⁻¹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2. 发现极大不饱和磁阻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   • 2 K, 14 T: MR = 1.9 × 10⁴ %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   • 源于电子-空穴补偿机制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3. 解析费米面结构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   • 四个SdH振荡频率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   • 非平庸π贝里相位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   • DFT计算验证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4. 验证拓扑性质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   • 平行电磁场下负磁阻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   • 手性反常效应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   • 证明拓扑非平庸电子结构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创新点：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• 首次在ZrAs₂中观测到手性反常导致的负磁阻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• 系统解析了费米面拓扑结构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00000" y="6450000"/>
            <a:ext cx="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  <a:defRPr sz="1400" b="0">
                <a:solidFill>
                  <a:srgbClr val="E0E0E0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1300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0000" y="100000"/>
            <a:ext cx="40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defRPr sz="2200" b="1">
                <a:solidFill>
                  <a:srgbClr val="FFD700"/>
                </a:solidFill>
              </a:defRPr>
            </a:pPr>
            <a:r>
              <a:t>研究成果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00" y="2000000"/>
            <a:ext cx="105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  <a:defRPr sz="4400" b="1">
                <a:solidFill>
                  <a:srgbClr val="FFFFFF"/>
                </a:solidFill>
              </a:defRPr>
            </a:pPr>
            <a:r>
              <a:t>已发表论文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3700000"/>
            <a:ext cx="105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  <a:defRPr sz="2400" b="0">
                <a:solidFill>
                  <a:srgbClr val="E0E0E0"/>
                </a:solidFill>
              </a:defRPr>
            </a:pPr>
            <a:r>
              <a:t>Extremely large magnetoresistance and chiral anomaly </a:t>
            </a:r>
          </a:p>
          <a:p>
            <a:pPr algn="ctr">
              <a:spcBef>
                <a:spcPts val="600"/>
              </a:spcBef>
              <a:defRPr sz="2400" b="0">
                <a:solidFill>
                  <a:srgbClr val="E0E0E0"/>
                </a:solidFill>
              </a:defRPr>
            </a:pPr>
            <a:r>
              <a:t>in the nodal-line semimetal ZrAs₂</a:t>
            </a:r>
          </a:p>
          <a:p>
            <a:pPr algn="ctr">
              <a:spcBef>
                <a:spcPts val="600"/>
              </a:spcBef>
              <a:defRPr sz="2400" b="0">
                <a:solidFill>
                  <a:srgbClr val="E0E0E0"/>
                </a:solidFill>
              </a:defRPr>
            </a:pPr>
          </a:p>
          <a:p>
            <a:pPr algn="ctr">
              <a:spcBef>
                <a:spcPts val="600"/>
              </a:spcBef>
              <a:defRPr sz="2400" b="0">
                <a:solidFill>
                  <a:srgbClr val="E0E0E0"/>
                </a:solidFill>
              </a:defRPr>
            </a:pPr>
            <a:r>
              <a:t>Frontiers of Physics 20, 034203 (2025)</a:t>
            </a:r>
          </a:p>
          <a:p>
            <a:pPr algn="ctr">
              <a:spcBef>
                <a:spcPts val="600"/>
              </a:spcBef>
              <a:defRPr sz="2400" b="0">
                <a:solidFill>
                  <a:srgbClr val="E0E0E0"/>
                </a:solidFill>
              </a:defRPr>
            </a:pPr>
          </a:p>
          <a:p>
            <a:pPr algn="ctr">
              <a:spcBef>
                <a:spcPts val="600"/>
              </a:spcBef>
              <a:defRPr sz="2400" b="0">
                <a:solidFill>
                  <a:srgbClr val="E0E0E0"/>
                </a:solidFill>
              </a:defRPr>
            </a:pPr>
            <a:r>
              <a:t>第一作者：杨浩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00000" y="6450000"/>
            <a:ext cx="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  <a:defRPr sz="1400" b="0">
                <a:solidFill>
                  <a:srgbClr val="E0E0E0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