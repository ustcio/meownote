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老师好，我是杨浩，来自凝聚态物理专业。今天我汇报的题目是《拓扑量子材料中的输运与光电特性的研究》。本论文围绕新型拓扑量子材料的线性磁输运、非线性输运效应、手性声子以及红外光电探测展开研究。以下是我的选题背景介绍。</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将从以下三个部分进行汇报。第一部分介绍选题背景，包括拓扑量子材料的分类、霍尔效应、手性声子和红外光电探测器等前沿研究方向。第二部分详细介绍本论文的三个主要研究内容。第三部分对全文工作进行总结。</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下面进入第一部分：选题背景。拓扑量子材料是当前凝聚态物理领域最活跃的研究方向之一。我将从材料分类、霍尔效应、声子物理以及光电探测四个方面进行介绍。</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拓扑量子材料的起源可以追溯到整数量子霍尔效应。在强磁场下，二维电子气产生量子化的霍尔平台，纵向电阻趋近于零。2005年，Kane和Mele提出无需外加磁场的量子自旋霍尔效应，引入了Z2拓扑不变量。2007年，Fu、Kane和Mele预言，随后Hasan等人发现三维拓扑绝缘体Bi1-xSbx，开启了三维拓扑物态研究的新篇章。拓扑绝缘体的核心特征是体态绝缘而表面存在受拓扑保护的无能隙狄拉克锥表面态。</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根据能带结构的节点特征，拓扑半金属可以分为三类。第一类是狄拉克半金属，如Na3Bi和Cd3As2，它们在费米面附近形成四重简并的狄拉克点。第二类是外尔半金属，当时间反演或空间反演对称性破缺时，狄拉克点分裂成手性外尔点，如TaAs。2015年首次在TaAs中实验观测到。第三类是节线半金属，导带和价带的交叉形成一条线而非孤立的点，如ZrSiS和本论文研究的ZrAs2体系。</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霍尔效应是研究电子输运性质的重要窗口。普通霍尔效应源于洛伦兹力。反常霍尔效应无需外磁场即可产生横向电压，其微观机制分为外禀的斜散射和边跳机制，以及内禀的贝里曲率贡献。拓扑霍尔效应则来源于磁结构的拓扑性质，特别是非共面自旋结构产生的标量自旋手性。本论文的研究超越了传统的线性霍尔效应框架，重点探讨了三阶非线性霍尔效应。</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当研究范式从线性响应扩展到非线性输运后，霍尔效应受到的对称性限制被打破。二阶非线性霍尔效应由贝里曲率偶极子产生。三阶非线性霍尔效应则由贝里联络极化率和贝里曲率四极矩主导。本论文在手性反铁磁材料CoNb3S6中发现了拓扑三阶非线性霍尔效应，其物理起源被证明是贝里曲率四极矩。三阶非线性信号对费米面结构的演化表现得比一阶线性响应更加敏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声子通常被认为只携带能量和动量。但2014年张力发和牛谦提出在自旋声子耦合体系中，声子可以获得非零平均角动量。手性声子与能谷自由度密切相关。磁光拉曼效应揭示了外加磁场对晶格振动的调控作用。在本论文的工作中，我对手性反铁磁材料CoNb3S6进行了系统的拉曼光谱研究，发现了6支声子模式，其中4支是线性声子，2支是手性声子。线性声子表现出巨大的磁光拉曼效应，在12特斯拉磁场下可产生高达80度的偏振旋转。</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红外光电探测器在夜视成像、热辐射探测、遥感分析等领域有重要应用。拓扑绝缘体如Bi2Se3同时具有窄带隙体态和高迁移率表面态。拓扑半金属如TaAs的强贝里曲率可以显著增强位移电流。呼吸笼目晶格Nb3I8同时具有电子平带和声子平带特性。本论文第五章研究了基于Nb3I8的黑体敏感自适应超宽带光电探测器。</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论文围绕三个核心研究内容展开。工作一：研究拓扑节线半金属ZrAs2在外加磁场下的电输运性质，发现了低温下极大的不饱和磁阻效应。工作二：在手性反铁磁CoNb3S6中发现了拓扑三阶非线性霍尔效应，其物理起源为贝里曲率四极矩。工作三：对CoNb3S6进行了系统的拉曼光谱研究，发现了6支声子模式。三个工作分别覆盖了线性磁输运、非线性输运效应和声子物理三个方向。</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130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0000" y="210000"/>
            <a:ext cx="4000000" cy="600000"/>
          </a:xfrm>
          <a:prstGeom prst="rect">
            <a:avLst/>
          </a:prstGeom>
          <a:noFill/>
        </p:spPr>
        <p:txBody>
          <a:bodyPr wrap="square">
            <a:spAutoFit/>
          </a:bodyPr>
          <a:lstStyle/>
          <a:p>
            <a:pPr algn="l">
              <a:spcBef>
                <a:spcPts val="0"/>
              </a:spcBef>
              <a:defRPr sz="1800" b="1">
                <a:solidFill>
                  <a:srgbClr val="E0E0E0"/>
                </a:solidFill>
              </a:defRPr>
            </a:pPr>
            <a:r>
              <a:t>浙江大学物理学院</a:t>
            </a:r>
          </a:p>
        </p:txBody>
      </p:sp>
      <p:sp>
        <p:nvSpPr>
          <p:cNvPr id="6" name="TextBox 5"/>
          <p:cNvSpPr txBox="1"/>
          <p:nvPr/>
        </p:nvSpPr>
        <p:spPr>
          <a:xfrm>
            <a:off x="800000" y="300000"/>
            <a:ext cx="4000000" cy="600000"/>
          </a:xfrm>
          <a:prstGeom prst="rect">
            <a:avLst/>
          </a:prstGeom>
          <a:noFill/>
        </p:spPr>
        <p:txBody>
          <a:bodyPr wrap="square">
            <a:spAutoFit/>
          </a:bodyPr>
          <a:lstStyle/>
          <a:p>
            <a:pPr algn="l">
              <a:spcBef>
                <a:spcPts val="0"/>
              </a:spcBef>
              <a:defRPr sz="2200" b="1">
                <a:solidFill>
                  <a:srgbClr val="FFD700"/>
                </a:solidFill>
              </a:defRPr>
            </a:pPr>
            <a:r>
              <a:t>求是创新</a:t>
            </a:r>
          </a:p>
        </p:txBody>
      </p:sp>
      <p:sp>
        <p:nvSpPr>
          <p:cNvPr id="7" name="TextBox 6"/>
          <p:cNvSpPr txBox="1"/>
          <p:nvPr/>
        </p:nvSpPr>
        <p:spPr>
          <a:xfrm>
            <a:off x="800000" y="1200000"/>
            <a:ext cx="10500000" cy="1800000"/>
          </a:xfrm>
          <a:prstGeom prst="rect">
            <a:avLst/>
          </a:prstGeom>
          <a:noFill/>
        </p:spPr>
        <p:txBody>
          <a:bodyPr wrap="square">
            <a:spAutoFit/>
          </a:bodyPr>
          <a:lstStyle/>
          <a:p>
            <a:pPr algn="ctr">
              <a:spcBef>
                <a:spcPts val="0"/>
              </a:spcBef>
              <a:defRPr sz="3800" b="1">
                <a:solidFill>
                  <a:srgbClr val="FFFFFF"/>
                </a:solidFill>
              </a:defRPr>
            </a:pPr>
            <a:r>
              <a:t>拓扑量子材料中的输运与光电特性的研究</a:t>
            </a:r>
          </a:p>
        </p:txBody>
      </p:sp>
      <p:sp>
        <p:nvSpPr>
          <p:cNvPr id="8" name="Rectangle 7"/>
          <p:cNvSpPr/>
          <p:nvPr/>
        </p:nvSpPr>
        <p:spPr>
          <a:xfrm>
            <a:off x="4000000" y="3100000"/>
            <a:ext cx="4192000" cy="30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0000" y="3400000"/>
            <a:ext cx="10500000" cy="3000000"/>
          </a:xfrm>
          <a:prstGeom prst="rect">
            <a:avLst/>
          </a:prstGeom>
          <a:noFill/>
        </p:spPr>
        <p:txBody>
          <a:bodyPr wrap="square">
            <a:spAutoFit/>
          </a:bodyPr>
          <a:lstStyle/>
          <a:p>
            <a:pPr algn="ctr">
              <a:spcBef>
                <a:spcPts val="800"/>
              </a:spcBef>
              <a:defRPr sz="2000" b="0">
                <a:solidFill>
                  <a:srgbClr val="E0E0E0"/>
                </a:solidFill>
              </a:defRPr>
            </a:pPr>
            <a:r>
              <a:t>答辩人：杨浩</a:t>
            </a:r>
          </a:p>
          <a:p>
            <a:pPr algn="ctr">
              <a:spcBef>
                <a:spcPts val="800"/>
              </a:spcBef>
              <a:defRPr sz="2000" b="0">
                <a:solidFill>
                  <a:srgbClr val="E0E0E0"/>
                </a:solidFill>
              </a:defRPr>
            </a:pPr>
            <a:r>
              <a:t>学号：12136014</a:t>
            </a:r>
          </a:p>
          <a:p>
            <a:pPr algn="ctr">
              <a:spcBef>
                <a:spcPts val="800"/>
              </a:spcBef>
              <a:defRPr sz="2000" b="0">
                <a:solidFill>
                  <a:srgbClr val="E0E0E0"/>
                </a:solidFill>
              </a:defRPr>
            </a:pPr>
            <a:r>
              <a:t>指导教师：许祝安 教授</a:t>
            </a:r>
          </a:p>
          <a:p>
            <a:pPr algn="ctr">
              <a:spcBef>
                <a:spcPts val="800"/>
              </a:spcBef>
              <a:defRPr sz="2000" b="0">
                <a:solidFill>
                  <a:srgbClr val="E0E0E0"/>
                </a:solidFill>
              </a:defRPr>
            </a:pPr>
            <a:r>
              <a:t>          李林军 副教授</a:t>
            </a:r>
          </a:p>
          <a:p>
            <a:pPr algn="ctr">
              <a:spcBef>
                <a:spcPts val="800"/>
              </a:spcBef>
              <a:defRPr sz="2000" b="0">
                <a:solidFill>
                  <a:srgbClr val="E0E0E0"/>
                </a:solidFill>
              </a:defRPr>
            </a:pPr>
            <a:r>
              <a:t>学科专业：凝聚态物理</a:t>
            </a:r>
          </a:p>
          <a:p>
            <a:pPr algn="ctr">
              <a:spcBef>
                <a:spcPts val="800"/>
              </a:spcBef>
              <a:defRPr sz="2000" b="0">
                <a:solidFill>
                  <a:srgbClr val="E0E0E0"/>
                </a:solidFill>
              </a:defRPr>
            </a:pPr>
            <a:r>
              <a:t>研究方向：拓扑量子材料</a:t>
            </a:r>
          </a:p>
          <a:p>
            <a:pPr algn="ctr">
              <a:spcBef>
                <a:spcPts val="800"/>
              </a:spcBef>
              <a:defRPr sz="2000" b="0">
                <a:solidFill>
                  <a:srgbClr val="E0E0E0"/>
                </a:solidFill>
              </a:defRPr>
            </a:pPr>
            <a:r>
              <a:t>答辩日期：2026年4月</a:t>
            </a:r>
          </a:p>
        </p:txBody>
      </p:sp>
      <p:sp>
        <p:nvSpPr>
          <p:cNvPr id="10" name="TextBox 9"/>
          <p:cNvSpPr txBox="1"/>
          <p:nvPr/>
        </p:nvSpPr>
        <p:spPr>
          <a:xfrm>
            <a:off x="11200000" y="6400000"/>
            <a:ext cx="800000" cy="400000"/>
          </a:xfrm>
          <a:prstGeom prst="rect">
            <a:avLst/>
          </a:prstGeom>
          <a:noFill/>
        </p:spPr>
        <p:txBody>
          <a:bodyPr wrap="square">
            <a:spAutoFit/>
          </a:bodyPr>
          <a:lstStyle/>
          <a:p>
            <a:pPr algn="ctr">
              <a:spcBef>
                <a:spcPts val="0"/>
              </a:spcBef>
              <a:defRPr sz="1400" b="0">
                <a:solidFill>
                  <a:srgbClr val="E0E0E0"/>
                </a:solidFill>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1000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00000" y="100000"/>
            <a:ext cx="11500000" cy="800000"/>
          </a:xfrm>
          <a:prstGeom prst="rect">
            <a:avLst/>
          </a:prstGeom>
          <a:noFill/>
        </p:spPr>
        <p:txBody>
          <a:bodyPr wrap="square">
            <a:spAutoFit/>
          </a:bodyPr>
          <a:lstStyle/>
          <a:p>
            <a:pPr algn="ctr">
              <a:spcBef>
                <a:spcPts val="0"/>
              </a:spcBef>
              <a:defRPr sz="3600" b="1">
                <a:solidFill>
                  <a:srgbClr val="FFFFFF"/>
                </a:solidFill>
              </a:defRPr>
            </a:pPr>
            <a:r>
              <a:t>目录</a:t>
            </a:r>
          </a:p>
        </p:txBody>
      </p:sp>
      <p:sp>
        <p:nvSpPr>
          <p:cNvPr id="6" name="Oval 5"/>
          <p:cNvSpPr/>
          <p:nvPr/>
        </p:nvSpPr>
        <p:spPr>
          <a:xfrm>
            <a:off x="600000" y="1200000"/>
            <a:ext cx="600000" cy="600000"/>
          </a:xfrm>
          <a:prstGeom prst="ellipse">
            <a:avLst/>
          </a:prstGeom>
          <a:solidFill>
            <a:srgbClr val="1870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FFFFFF"/>
                </a:solidFill>
              </a:defRPr>
            </a:pPr>
            <a:r>
              <a:t>01</a:t>
            </a:r>
          </a:p>
        </p:txBody>
      </p:sp>
      <p:sp>
        <p:nvSpPr>
          <p:cNvPr id="7" name="TextBox 6"/>
          <p:cNvSpPr txBox="1"/>
          <p:nvPr/>
        </p:nvSpPr>
        <p:spPr>
          <a:xfrm>
            <a:off x="1400000" y="1250000"/>
            <a:ext cx="10000000" cy="600000"/>
          </a:xfrm>
          <a:prstGeom prst="rect">
            <a:avLst/>
          </a:prstGeom>
          <a:noFill/>
        </p:spPr>
        <p:txBody>
          <a:bodyPr wrap="square">
            <a:spAutoFit/>
          </a:bodyPr>
          <a:lstStyle/>
          <a:p>
            <a:pPr algn="l">
              <a:spcBef>
                <a:spcPts val="0"/>
              </a:spcBef>
              <a:defRPr sz="3000" b="1">
                <a:solidFill>
                  <a:srgbClr val="003366"/>
                </a:solidFill>
              </a:defRPr>
            </a:pPr>
            <a:r>
              <a:t>选题背景</a:t>
            </a:r>
          </a:p>
        </p:txBody>
      </p:sp>
      <p:sp>
        <p:nvSpPr>
          <p:cNvPr id="8" name="TextBox 7"/>
          <p:cNvSpPr txBox="1"/>
          <p:nvPr/>
        </p:nvSpPr>
        <p:spPr>
          <a:xfrm>
            <a:off x="1400000" y="1700000"/>
            <a:ext cx="10200000" cy="1200000"/>
          </a:xfrm>
          <a:prstGeom prst="rect">
            <a:avLst/>
          </a:prstGeom>
          <a:noFill/>
        </p:spPr>
        <p:txBody>
          <a:bodyPr wrap="square">
            <a:spAutoFit/>
          </a:bodyPr>
          <a:lstStyle/>
          <a:p>
            <a:pPr algn="l">
              <a:spcBef>
                <a:spcPts val="400"/>
              </a:spcBef>
              <a:defRPr sz="1600" b="0">
                <a:solidFill>
                  <a:srgbClr val="666666"/>
                </a:solidFill>
              </a:defRPr>
            </a:pPr>
            <a:r>
              <a:t>拓扑量子材料分类、霍尔效应、手性声子、红外光电探测器</a:t>
            </a:r>
          </a:p>
        </p:txBody>
      </p:sp>
      <p:sp>
        <p:nvSpPr>
          <p:cNvPr id="9" name="Oval 8"/>
          <p:cNvSpPr/>
          <p:nvPr/>
        </p:nvSpPr>
        <p:spPr>
          <a:xfrm>
            <a:off x="600000" y="2900000"/>
            <a:ext cx="600000" cy="600000"/>
          </a:xfrm>
          <a:prstGeom prst="ellipse">
            <a:avLst/>
          </a:prstGeom>
          <a:solidFill>
            <a:srgbClr val="1870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FFFFFF"/>
                </a:solidFill>
              </a:defRPr>
            </a:pPr>
            <a:r>
              <a:t>02</a:t>
            </a:r>
          </a:p>
        </p:txBody>
      </p:sp>
      <p:sp>
        <p:nvSpPr>
          <p:cNvPr id="10" name="TextBox 9"/>
          <p:cNvSpPr txBox="1"/>
          <p:nvPr/>
        </p:nvSpPr>
        <p:spPr>
          <a:xfrm>
            <a:off x="1400000" y="2950000"/>
            <a:ext cx="10000000" cy="600000"/>
          </a:xfrm>
          <a:prstGeom prst="rect">
            <a:avLst/>
          </a:prstGeom>
          <a:noFill/>
        </p:spPr>
        <p:txBody>
          <a:bodyPr wrap="square">
            <a:spAutoFit/>
          </a:bodyPr>
          <a:lstStyle/>
          <a:p>
            <a:pPr algn="l">
              <a:spcBef>
                <a:spcPts val="0"/>
              </a:spcBef>
              <a:defRPr sz="3000" b="1">
                <a:solidFill>
                  <a:srgbClr val="003366"/>
                </a:solidFill>
              </a:defRPr>
            </a:pPr>
            <a:r>
              <a:t>研究内容</a:t>
            </a:r>
          </a:p>
        </p:txBody>
      </p:sp>
      <p:sp>
        <p:nvSpPr>
          <p:cNvPr id="11" name="TextBox 10"/>
          <p:cNvSpPr txBox="1"/>
          <p:nvPr/>
        </p:nvSpPr>
        <p:spPr>
          <a:xfrm>
            <a:off x="1400000" y="3400000"/>
            <a:ext cx="10200000" cy="1200000"/>
          </a:xfrm>
          <a:prstGeom prst="rect">
            <a:avLst/>
          </a:prstGeom>
          <a:noFill/>
        </p:spPr>
        <p:txBody>
          <a:bodyPr wrap="square">
            <a:spAutoFit/>
          </a:bodyPr>
          <a:lstStyle/>
          <a:p>
            <a:pPr algn="l">
              <a:spcBef>
                <a:spcPts val="400"/>
              </a:spcBef>
              <a:defRPr sz="1600" b="0">
                <a:solidFill>
                  <a:srgbClr val="666666"/>
                </a:solidFill>
              </a:defRPr>
            </a:pPr>
            <a:r>
              <a:t>ZrAs2 中的极大不饱和磁阻与手性反常现象</a:t>
            </a:r>
          </a:p>
          <a:p>
            <a:pPr algn="l">
              <a:spcBef>
                <a:spcPts val="400"/>
              </a:spcBef>
              <a:defRPr sz="1600" b="0">
                <a:solidFill>
                  <a:srgbClr val="666666"/>
                </a:solidFill>
              </a:defRPr>
            </a:pPr>
            <a:r>
              <a:t>CoNb3S6 中的拓扑三阶非线性霍尔效应</a:t>
            </a:r>
          </a:p>
          <a:p>
            <a:pPr algn="l">
              <a:spcBef>
                <a:spcPts val="400"/>
              </a:spcBef>
              <a:defRPr sz="1600" b="0">
                <a:solidFill>
                  <a:srgbClr val="666666"/>
                </a:solidFill>
              </a:defRPr>
            </a:pPr>
            <a:r>
              <a:t>CoNb3S6 中的手性声子与巨大的磁光拉曼效应</a:t>
            </a:r>
          </a:p>
          <a:p>
            <a:pPr algn="l">
              <a:spcBef>
                <a:spcPts val="400"/>
              </a:spcBef>
              <a:defRPr sz="1600" b="0">
                <a:solidFill>
                  <a:srgbClr val="666666"/>
                </a:solidFill>
              </a:defRPr>
            </a:pPr>
            <a:r>
              <a:t>基于Nb3I8的自适应黑体敏感的宽带红外探测器</a:t>
            </a:r>
          </a:p>
        </p:txBody>
      </p:sp>
      <p:sp>
        <p:nvSpPr>
          <p:cNvPr id="12" name="Oval 11"/>
          <p:cNvSpPr/>
          <p:nvPr/>
        </p:nvSpPr>
        <p:spPr>
          <a:xfrm>
            <a:off x="600000" y="4600000"/>
            <a:ext cx="600000" cy="600000"/>
          </a:xfrm>
          <a:prstGeom prst="ellipse">
            <a:avLst/>
          </a:prstGeom>
          <a:solidFill>
            <a:srgbClr val="1870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FFFFFF"/>
                </a:solidFill>
              </a:defRPr>
            </a:pPr>
            <a:r>
              <a:t>03</a:t>
            </a:r>
          </a:p>
        </p:txBody>
      </p:sp>
      <p:sp>
        <p:nvSpPr>
          <p:cNvPr id="13" name="TextBox 12"/>
          <p:cNvSpPr txBox="1"/>
          <p:nvPr/>
        </p:nvSpPr>
        <p:spPr>
          <a:xfrm>
            <a:off x="1400000" y="4650000"/>
            <a:ext cx="10000000" cy="600000"/>
          </a:xfrm>
          <a:prstGeom prst="rect">
            <a:avLst/>
          </a:prstGeom>
          <a:noFill/>
        </p:spPr>
        <p:txBody>
          <a:bodyPr wrap="square">
            <a:spAutoFit/>
          </a:bodyPr>
          <a:lstStyle/>
          <a:p>
            <a:pPr algn="l">
              <a:spcBef>
                <a:spcPts val="0"/>
              </a:spcBef>
              <a:defRPr sz="3000" b="1">
                <a:solidFill>
                  <a:srgbClr val="003366"/>
                </a:solidFill>
              </a:defRPr>
            </a:pPr>
            <a:r>
              <a:t>研究总结</a:t>
            </a:r>
          </a:p>
        </p:txBody>
      </p:sp>
      <p:sp>
        <p:nvSpPr>
          <p:cNvPr id="14" name="TextBox 13"/>
          <p:cNvSpPr txBox="1"/>
          <p:nvPr/>
        </p:nvSpPr>
        <p:spPr>
          <a:xfrm>
            <a:off x="1400000" y="5100000"/>
            <a:ext cx="10200000" cy="1200000"/>
          </a:xfrm>
          <a:prstGeom prst="rect">
            <a:avLst/>
          </a:prstGeom>
          <a:noFill/>
        </p:spPr>
        <p:txBody>
          <a:bodyPr wrap="square">
            <a:spAutoFit/>
          </a:bodyPr>
          <a:lstStyle/>
          <a:p>
            <a:pPr algn="l">
              <a:spcBef>
                <a:spcPts val="400"/>
              </a:spcBef>
              <a:defRPr sz="1600" b="0">
                <a:solidFill>
                  <a:srgbClr val="666666"/>
                </a:solidFill>
              </a:defRPr>
            </a:pPr>
            <a:r>
              <a:t>核心发现与创新点总结</a:t>
            </a:r>
          </a:p>
        </p:txBody>
      </p:sp>
      <p:sp>
        <p:nvSpPr>
          <p:cNvPr id="15" name="TextBox 14"/>
          <p:cNvSpPr txBox="1"/>
          <p:nvPr/>
        </p:nvSpPr>
        <p:spPr>
          <a:xfrm>
            <a:off x="11200000" y="6400000"/>
            <a:ext cx="800000" cy="400000"/>
          </a:xfrm>
          <a:prstGeom prst="rect">
            <a:avLst/>
          </a:prstGeom>
          <a:noFill/>
        </p:spPr>
        <p:txBody>
          <a:bodyPr wrap="square">
            <a:spAutoFit/>
          </a:bodyPr>
          <a:lstStyle/>
          <a:p>
            <a:pPr algn="ctr">
              <a:spcBef>
                <a:spcPts val="0"/>
              </a:spcBef>
              <a:defRPr sz="1400" b="0">
                <a:solidFill>
                  <a:srgbClr val="E0E0E0"/>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0000" y="1800000"/>
            <a:ext cx="3000000" cy="2000000"/>
          </a:xfrm>
          <a:prstGeom prst="rect">
            <a:avLst/>
          </a:prstGeom>
          <a:noFill/>
        </p:spPr>
        <p:txBody>
          <a:bodyPr wrap="square">
            <a:spAutoFit/>
          </a:bodyPr>
          <a:lstStyle/>
          <a:p>
            <a:pPr algn="l">
              <a:spcBef>
                <a:spcPts val="0"/>
              </a:spcBef>
              <a:defRPr sz="8000" b="1">
                <a:solidFill>
                  <a:srgbClr val="1870B6"/>
                </a:solidFill>
              </a:defRPr>
            </a:pPr>
            <a:r>
              <a:t>01</a:t>
            </a:r>
          </a:p>
        </p:txBody>
      </p:sp>
      <p:sp>
        <p:nvSpPr>
          <p:cNvPr id="6" name="TextBox 5"/>
          <p:cNvSpPr txBox="1"/>
          <p:nvPr/>
        </p:nvSpPr>
        <p:spPr>
          <a:xfrm>
            <a:off x="800000" y="2800000"/>
            <a:ext cx="10000000" cy="1000000"/>
          </a:xfrm>
          <a:prstGeom prst="rect">
            <a:avLst/>
          </a:prstGeom>
          <a:noFill/>
        </p:spPr>
        <p:txBody>
          <a:bodyPr wrap="square">
            <a:spAutoFit/>
          </a:bodyPr>
          <a:lstStyle/>
          <a:p>
            <a:pPr algn="l">
              <a:spcBef>
                <a:spcPts val="0"/>
              </a:spcBef>
              <a:defRPr sz="5200" b="1">
                <a:solidFill>
                  <a:srgbClr val="FFFFFF"/>
                </a:solidFill>
              </a:defRPr>
            </a:pPr>
            <a:r>
              <a:t>选题背景</a:t>
            </a:r>
          </a:p>
        </p:txBody>
      </p:sp>
      <p:sp>
        <p:nvSpPr>
          <p:cNvPr id="7" name="Rectangle 6"/>
          <p:cNvSpPr/>
          <p:nvPr/>
        </p:nvSpPr>
        <p:spPr>
          <a:xfrm>
            <a:off x="800000" y="3900000"/>
            <a:ext cx="3000000" cy="30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4100000"/>
            <a:ext cx="10000000" cy="800000"/>
          </a:xfrm>
          <a:prstGeom prst="rect">
            <a:avLst/>
          </a:prstGeom>
          <a:noFill/>
        </p:spPr>
        <p:txBody>
          <a:bodyPr wrap="square">
            <a:spAutoFit/>
          </a:bodyPr>
          <a:lstStyle/>
          <a:p>
            <a:pPr algn="l">
              <a:spcBef>
                <a:spcPts val="0"/>
              </a:spcBef>
              <a:defRPr sz="2400" b="0">
                <a:solidFill>
                  <a:srgbClr val="E0E0E0"/>
                </a:solidFill>
              </a:defRPr>
            </a:pPr>
            <a:r>
              <a:t>拓扑量子材料的分类与前沿输运/光电现象</a:t>
            </a:r>
          </a:p>
        </p:txBody>
      </p:sp>
      <p:sp>
        <p:nvSpPr>
          <p:cNvPr id="9" name="TextBox 8"/>
          <p:cNvSpPr txBox="1"/>
          <p:nvPr/>
        </p:nvSpPr>
        <p:spPr>
          <a:xfrm>
            <a:off x="11200000" y="6400000"/>
            <a:ext cx="800000" cy="400000"/>
          </a:xfrm>
          <a:prstGeom prst="rect">
            <a:avLst/>
          </a:prstGeom>
          <a:noFill/>
        </p:spPr>
        <p:txBody>
          <a:bodyPr wrap="square">
            <a:spAutoFit/>
          </a:bodyPr>
          <a:lstStyle/>
          <a:p>
            <a:pPr algn="ctr">
              <a:spcBef>
                <a:spcPts val="0"/>
              </a:spcBef>
              <a:defRPr sz="1400" b="0">
                <a:solidFill>
                  <a:srgbClr val="E0E0E0"/>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50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50000"/>
            <a:ext cx="11000000" cy="700000"/>
          </a:xfrm>
          <a:prstGeom prst="rect">
            <a:avLst/>
          </a:prstGeom>
          <a:noFill/>
        </p:spPr>
        <p:txBody>
          <a:bodyPr wrap="square">
            <a:spAutoFit/>
          </a:bodyPr>
          <a:lstStyle/>
          <a:p>
            <a:pPr algn="l">
              <a:spcBef>
                <a:spcPts val="0"/>
              </a:spcBef>
              <a:defRPr sz="3200" b="1">
                <a:solidFill>
                  <a:srgbClr val="003366"/>
                </a:solidFill>
              </a:defRPr>
            </a:pPr>
            <a:r>
              <a:t>1.1 拓扑量子材料分类</a:t>
            </a:r>
          </a:p>
        </p:txBody>
      </p:sp>
      <p:sp>
        <p:nvSpPr>
          <p:cNvPr id="6" name="Rectangle 5"/>
          <p:cNvSpPr/>
          <p:nvPr/>
        </p:nvSpPr>
        <p:spPr>
          <a:xfrm>
            <a:off x="500000" y="800000"/>
            <a:ext cx="1500000" cy="4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850000"/>
            <a:ext cx="11000000" cy="500000"/>
          </a:xfrm>
          <a:prstGeom prst="rect">
            <a:avLst/>
          </a:prstGeom>
          <a:noFill/>
        </p:spPr>
        <p:txBody>
          <a:bodyPr wrap="square">
            <a:spAutoFit/>
          </a:bodyPr>
          <a:lstStyle/>
          <a:p>
            <a:pPr algn="l">
              <a:spcBef>
                <a:spcPts val="0"/>
              </a:spcBef>
              <a:defRPr sz="2200" b="1">
                <a:solidFill>
                  <a:srgbClr val="1A4B8C"/>
                </a:solidFill>
              </a:defRPr>
            </a:pPr>
            <a:r>
              <a:t>拓扑绝缘体 —— 体态绝缘，表面导电</a:t>
            </a:r>
          </a:p>
        </p:txBody>
      </p:sp>
      <p:sp>
        <p:nvSpPr>
          <p:cNvPr id="8" name="Rounded Rectangle 7"/>
          <p:cNvSpPr/>
          <p:nvPr/>
        </p:nvSpPr>
        <p:spPr>
          <a:xfrm>
            <a:off x="400000" y="1400000"/>
            <a:ext cx="11200000" cy="1500000"/>
          </a:xfrm>
          <a:prstGeom prst="roundRect">
            <a:avLst/>
          </a:prstGeom>
          <a:solidFill>
            <a:srgbClr val="F5F7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0000" y="1550000"/>
            <a:ext cx="400000" cy="350000"/>
          </a:xfrm>
          <a:prstGeom prst="roundRect">
            <a:avLst/>
          </a:prstGeom>
          <a:solidFill>
            <a:srgbClr val="187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TI</a:t>
            </a:r>
          </a:p>
        </p:txBody>
      </p:sp>
      <p:sp>
        <p:nvSpPr>
          <p:cNvPr id="10" name="TextBox 9"/>
          <p:cNvSpPr txBox="1"/>
          <p:nvPr/>
        </p:nvSpPr>
        <p:spPr>
          <a:xfrm>
            <a:off x="950000" y="1550000"/>
            <a:ext cx="10000000" cy="400000"/>
          </a:xfrm>
          <a:prstGeom prst="rect">
            <a:avLst/>
          </a:prstGeom>
          <a:noFill/>
        </p:spPr>
        <p:txBody>
          <a:bodyPr wrap="square">
            <a:spAutoFit/>
          </a:bodyPr>
          <a:lstStyle/>
          <a:p>
            <a:pPr algn="l">
              <a:spcBef>
                <a:spcPts val="0"/>
              </a:spcBef>
              <a:defRPr sz="2400" b="1">
                <a:solidFill>
                  <a:srgbClr val="003366"/>
                </a:solidFill>
              </a:defRPr>
            </a:pPr>
            <a:r>
              <a:t>量子霍尔效应 (1980)</a:t>
            </a:r>
          </a:p>
        </p:txBody>
      </p:sp>
      <p:sp>
        <p:nvSpPr>
          <p:cNvPr id="11" name="TextBox 10"/>
          <p:cNvSpPr txBox="1"/>
          <p:nvPr/>
        </p:nvSpPr>
        <p:spPr>
          <a:xfrm>
            <a:off x="950000" y="2000000"/>
            <a:ext cx="10200000" cy="900000"/>
          </a:xfrm>
          <a:prstGeom prst="rect">
            <a:avLst/>
          </a:prstGeom>
          <a:noFill/>
        </p:spPr>
        <p:txBody>
          <a:bodyPr wrap="square">
            <a:spAutoFit/>
          </a:bodyPr>
          <a:lstStyle/>
          <a:p>
            <a:pPr algn="l">
              <a:spcBef>
                <a:spcPts val="600"/>
              </a:spcBef>
              <a:defRPr sz="1800" b="0">
                <a:solidFill>
                  <a:srgbClr val="555555"/>
                </a:solidFill>
              </a:defRPr>
            </a:pPr>
            <a:r>
              <a:t>外加磁场下二维电子气产生量子化霍尔平台</a:t>
            </a:r>
          </a:p>
          <a:p>
            <a:pPr algn="l">
              <a:spcBef>
                <a:spcPts val="600"/>
              </a:spcBef>
              <a:defRPr sz="1800" b="0">
                <a:solidFill>
                  <a:srgbClr val="555555"/>
                </a:solidFill>
              </a:defRPr>
            </a:pPr>
            <a:r>
              <a:t>无耗散边缘态，手性输运，无背散射</a:t>
            </a:r>
          </a:p>
          <a:p>
            <a:pPr algn="l">
              <a:spcBef>
                <a:spcPts val="600"/>
              </a:spcBef>
              <a:defRPr sz="1800" b="0">
                <a:solidFill>
                  <a:srgbClr val="555555"/>
                </a:solidFill>
              </a:defRPr>
            </a:pPr>
            <a:r>
              <a:t>打破传统对称性破缺框架</a:t>
            </a:r>
          </a:p>
        </p:txBody>
      </p:sp>
      <p:sp>
        <p:nvSpPr>
          <p:cNvPr id="12" name="Rounded Rectangle 11"/>
          <p:cNvSpPr/>
          <p:nvPr/>
        </p:nvSpPr>
        <p:spPr>
          <a:xfrm>
            <a:off x="400000" y="3150000"/>
            <a:ext cx="11200000" cy="1500000"/>
          </a:xfrm>
          <a:prstGeom prst="roundRect">
            <a:avLst/>
          </a:prstGeom>
          <a:solidFill>
            <a:srgbClr val="F5F7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0000" y="3300000"/>
            <a:ext cx="400000" cy="350000"/>
          </a:xfrm>
          <a:prstGeom prst="roundRect">
            <a:avLst/>
          </a:prstGeom>
          <a:solidFill>
            <a:srgbClr val="187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TI</a:t>
            </a:r>
          </a:p>
        </p:txBody>
      </p:sp>
      <p:sp>
        <p:nvSpPr>
          <p:cNvPr id="14" name="TextBox 13"/>
          <p:cNvSpPr txBox="1"/>
          <p:nvPr/>
        </p:nvSpPr>
        <p:spPr>
          <a:xfrm>
            <a:off x="950000" y="3300000"/>
            <a:ext cx="10000000" cy="400000"/>
          </a:xfrm>
          <a:prstGeom prst="rect">
            <a:avLst/>
          </a:prstGeom>
          <a:noFill/>
        </p:spPr>
        <p:txBody>
          <a:bodyPr wrap="square">
            <a:spAutoFit/>
          </a:bodyPr>
          <a:lstStyle/>
          <a:p>
            <a:pPr algn="l">
              <a:spcBef>
                <a:spcPts val="0"/>
              </a:spcBef>
              <a:defRPr sz="2400" b="1">
                <a:solidFill>
                  <a:srgbClr val="003366"/>
                </a:solidFill>
              </a:defRPr>
            </a:pPr>
            <a:r>
              <a:t>量子自旋霍尔效应 (2005)</a:t>
            </a:r>
          </a:p>
        </p:txBody>
      </p:sp>
      <p:sp>
        <p:nvSpPr>
          <p:cNvPr id="15" name="TextBox 14"/>
          <p:cNvSpPr txBox="1"/>
          <p:nvPr/>
        </p:nvSpPr>
        <p:spPr>
          <a:xfrm>
            <a:off x="950000" y="3750000"/>
            <a:ext cx="10200000" cy="900000"/>
          </a:xfrm>
          <a:prstGeom prst="rect">
            <a:avLst/>
          </a:prstGeom>
          <a:noFill/>
        </p:spPr>
        <p:txBody>
          <a:bodyPr wrap="square">
            <a:spAutoFit/>
          </a:bodyPr>
          <a:lstStyle/>
          <a:p>
            <a:pPr algn="l">
              <a:spcBef>
                <a:spcPts val="600"/>
              </a:spcBef>
              <a:defRPr sz="1800" b="0">
                <a:solidFill>
                  <a:srgbClr val="555555"/>
                </a:solidFill>
              </a:defRPr>
            </a:pPr>
            <a:r>
              <a:t>无需外加磁场，时间反演对称性保护</a:t>
            </a:r>
          </a:p>
          <a:p>
            <a:pPr algn="l">
              <a:spcBef>
                <a:spcPts val="600"/>
              </a:spcBef>
              <a:defRPr sz="1800" b="0">
                <a:solidFill>
                  <a:srgbClr val="555555"/>
                </a:solidFill>
              </a:defRPr>
            </a:pPr>
            <a:r>
              <a:t>边缘态自旋动量锁定</a:t>
            </a:r>
          </a:p>
          <a:p>
            <a:pPr algn="l">
              <a:spcBef>
                <a:spcPts val="600"/>
              </a:spcBef>
              <a:defRPr sz="1800" b="0">
                <a:solidFill>
                  <a:srgbClr val="555555"/>
                </a:solidFill>
              </a:defRPr>
            </a:pPr>
            <a:r>
              <a:t>Z2拓扑不变量 - HgTe/CdTe量子阱实现</a:t>
            </a:r>
          </a:p>
        </p:txBody>
      </p:sp>
      <p:sp>
        <p:nvSpPr>
          <p:cNvPr id="16" name="Rounded Rectangle 15"/>
          <p:cNvSpPr/>
          <p:nvPr/>
        </p:nvSpPr>
        <p:spPr>
          <a:xfrm>
            <a:off x="400000" y="4900000"/>
            <a:ext cx="11200000" cy="1500000"/>
          </a:xfrm>
          <a:prstGeom prst="roundRect">
            <a:avLst/>
          </a:prstGeom>
          <a:solidFill>
            <a:srgbClr val="F5F7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50000" y="5050000"/>
            <a:ext cx="400000" cy="350000"/>
          </a:xfrm>
          <a:prstGeom prst="roundRect">
            <a:avLst/>
          </a:prstGeom>
          <a:solidFill>
            <a:srgbClr val="187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TI</a:t>
            </a:r>
          </a:p>
        </p:txBody>
      </p:sp>
      <p:sp>
        <p:nvSpPr>
          <p:cNvPr id="18" name="TextBox 17"/>
          <p:cNvSpPr txBox="1"/>
          <p:nvPr/>
        </p:nvSpPr>
        <p:spPr>
          <a:xfrm>
            <a:off x="950000" y="5050000"/>
            <a:ext cx="10000000" cy="400000"/>
          </a:xfrm>
          <a:prstGeom prst="rect">
            <a:avLst/>
          </a:prstGeom>
          <a:noFill/>
        </p:spPr>
        <p:txBody>
          <a:bodyPr wrap="square">
            <a:spAutoFit/>
          </a:bodyPr>
          <a:lstStyle/>
          <a:p>
            <a:pPr algn="l">
              <a:spcBef>
                <a:spcPts val="0"/>
              </a:spcBef>
              <a:defRPr sz="2400" b="1">
                <a:solidFill>
                  <a:srgbClr val="003366"/>
                </a:solidFill>
              </a:defRPr>
            </a:pPr>
            <a:r>
              <a:t>三维拓扑绝缘体 (2007)</a:t>
            </a:r>
          </a:p>
        </p:txBody>
      </p:sp>
      <p:sp>
        <p:nvSpPr>
          <p:cNvPr id="19" name="TextBox 18"/>
          <p:cNvSpPr txBox="1"/>
          <p:nvPr/>
        </p:nvSpPr>
        <p:spPr>
          <a:xfrm>
            <a:off x="950000" y="5500000"/>
            <a:ext cx="10200000" cy="900000"/>
          </a:xfrm>
          <a:prstGeom prst="rect">
            <a:avLst/>
          </a:prstGeom>
          <a:noFill/>
        </p:spPr>
        <p:txBody>
          <a:bodyPr wrap="square">
            <a:spAutoFit/>
          </a:bodyPr>
          <a:lstStyle/>
          <a:p>
            <a:pPr algn="l">
              <a:spcBef>
                <a:spcPts val="600"/>
              </a:spcBef>
              <a:defRPr sz="1800" b="0">
                <a:solidFill>
                  <a:srgbClr val="555555"/>
                </a:solidFill>
              </a:defRPr>
            </a:pPr>
            <a:r>
              <a:t>Bi1-xSbx、Bi2Se3、Bi2Te3等</a:t>
            </a:r>
          </a:p>
          <a:p>
            <a:pPr algn="l">
              <a:spcBef>
                <a:spcPts val="600"/>
              </a:spcBef>
              <a:defRPr sz="1800" b="0">
                <a:solidFill>
                  <a:srgbClr val="555555"/>
                </a:solidFill>
              </a:defRPr>
            </a:pPr>
            <a:r>
              <a:t>奇数个受拓扑保护的狄拉克表面态</a:t>
            </a:r>
          </a:p>
          <a:p>
            <a:pPr algn="l">
              <a:spcBef>
                <a:spcPts val="600"/>
              </a:spcBef>
              <a:defRPr sz="1800" b="0">
                <a:solidFill>
                  <a:srgbClr val="555555"/>
                </a:solidFill>
              </a:defRPr>
            </a:pPr>
            <a:r>
              <a:t>无能隙表面态 + 有能隙体态</a:t>
            </a:r>
          </a:p>
        </p:txBody>
      </p:sp>
      <p:sp>
        <p:nvSpPr>
          <p:cNvPr id="20" name="TextBox 19"/>
          <p:cNvSpPr txBox="1"/>
          <p:nvPr/>
        </p:nvSpPr>
        <p:spPr>
          <a:xfrm>
            <a:off x="11600000" y="6450000"/>
            <a:ext cx="500000" cy="350000"/>
          </a:xfrm>
          <a:prstGeom prst="rect">
            <a:avLst/>
          </a:prstGeom>
          <a:noFill/>
        </p:spPr>
        <p:txBody>
          <a:bodyPr wrap="square">
            <a:spAutoFit/>
          </a:bodyPr>
          <a:lstStyle/>
          <a:p>
            <a:pPr algn="ctr">
              <a:spcBef>
                <a:spcPts val="0"/>
              </a:spcBef>
              <a:defRPr sz="1400" b="0">
                <a:solidFill>
                  <a:srgbClr val="E0E0E0"/>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50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50000"/>
            <a:ext cx="11000000" cy="700000"/>
          </a:xfrm>
          <a:prstGeom prst="rect">
            <a:avLst/>
          </a:prstGeom>
          <a:noFill/>
        </p:spPr>
        <p:txBody>
          <a:bodyPr wrap="square">
            <a:spAutoFit/>
          </a:bodyPr>
          <a:lstStyle/>
          <a:p>
            <a:pPr algn="l">
              <a:spcBef>
                <a:spcPts val="0"/>
              </a:spcBef>
              <a:defRPr sz="3200" b="1">
                <a:solidFill>
                  <a:srgbClr val="003366"/>
                </a:solidFill>
              </a:defRPr>
            </a:pPr>
            <a:r>
              <a:t>1.1 拓扑半金属分类</a:t>
            </a:r>
          </a:p>
        </p:txBody>
      </p:sp>
      <p:sp>
        <p:nvSpPr>
          <p:cNvPr id="6" name="Rectangle 5"/>
          <p:cNvSpPr/>
          <p:nvPr/>
        </p:nvSpPr>
        <p:spPr>
          <a:xfrm>
            <a:off x="500000" y="800000"/>
            <a:ext cx="1500000" cy="4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850000"/>
            <a:ext cx="11000000" cy="500000"/>
          </a:xfrm>
          <a:prstGeom prst="rect">
            <a:avLst/>
          </a:prstGeom>
          <a:noFill/>
        </p:spPr>
        <p:txBody>
          <a:bodyPr wrap="square">
            <a:spAutoFit/>
          </a:bodyPr>
          <a:lstStyle/>
          <a:p>
            <a:pPr algn="l">
              <a:spcBef>
                <a:spcPts val="0"/>
              </a:spcBef>
              <a:defRPr sz="2200" b="1">
                <a:solidFill>
                  <a:srgbClr val="1A4B8C"/>
                </a:solidFill>
              </a:defRPr>
            </a:pPr>
            <a:r>
              <a:t>狄拉克半金属 · 外尔半金属 · 节线半金属</a:t>
            </a:r>
          </a:p>
        </p:txBody>
      </p:sp>
      <p:sp>
        <p:nvSpPr>
          <p:cNvPr id="8" name="Rectangle 7"/>
          <p:cNvSpPr/>
          <p:nvPr/>
        </p:nvSpPr>
        <p:spPr>
          <a:xfrm>
            <a:off x="400000" y="1200000"/>
            <a:ext cx="3600000" cy="80000"/>
          </a:xfrm>
          <a:prstGeom prst="rect">
            <a:avLst/>
          </a:prstGeom>
          <a:solidFill>
            <a:srgbClr val="187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800000" y="1350000"/>
            <a:ext cx="600000" cy="600000"/>
          </a:xfrm>
          <a:prstGeom prst="ellipse">
            <a:avLst/>
          </a:prstGeom>
          <a:solidFill>
            <a:srgbClr val="187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600" b="1">
                <a:solidFill>
                  <a:srgbClr val="FFFFFF"/>
                </a:solidFill>
              </a:defRPr>
            </a:pPr>
            <a:r>
              <a:t>DSM</a:t>
            </a:r>
          </a:p>
        </p:txBody>
      </p:sp>
      <p:sp>
        <p:nvSpPr>
          <p:cNvPr id="10" name="TextBox 9"/>
          <p:cNvSpPr txBox="1"/>
          <p:nvPr/>
        </p:nvSpPr>
        <p:spPr>
          <a:xfrm>
            <a:off x="550000" y="2100000"/>
            <a:ext cx="3300000" cy="500000"/>
          </a:xfrm>
          <a:prstGeom prst="rect">
            <a:avLst/>
          </a:prstGeom>
          <a:noFill/>
        </p:spPr>
        <p:txBody>
          <a:bodyPr wrap="square">
            <a:spAutoFit/>
          </a:bodyPr>
          <a:lstStyle/>
          <a:p>
            <a:pPr algn="ctr">
              <a:spcBef>
                <a:spcPts val="0"/>
              </a:spcBef>
              <a:defRPr sz="2200" b="1">
                <a:solidFill>
                  <a:srgbClr val="003366"/>
                </a:solidFill>
              </a:defRPr>
            </a:pPr>
            <a:r>
              <a:t>狄拉克半金属 (DSM)</a:t>
            </a:r>
          </a:p>
        </p:txBody>
      </p:sp>
      <p:sp>
        <p:nvSpPr>
          <p:cNvPr id="11" name="TextBox 10"/>
          <p:cNvSpPr txBox="1"/>
          <p:nvPr/>
        </p:nvSpPr>
        <p:spPr>
          <a:xfrm>
            <a:off x="600000" y="2700000"/>
            <a:ext cx="3200000" cy="3500000"/>
          </a:xfrm>
          <a:prstGeom prst="rect">
            <a:avLst/>
          </a:prstGeom>
          <a:noFill/>
        </p:spPr>
        <p:txBody>
          <a:bodyPr wrap="square">
            <a:spAutoFit/>
          </a:bodyPr>
          <a:lstStyle/>
          <a:p>
            <a:pPr algn="l">
              <a:spcBef>
                <a:spcPts val="1200"/>
              </a:spcBef>
              <a:defRPr sz="1800" b="0">
                <a:solidFill>
                  <a:srgbClr val="555555"/>
                </a:solidFill>
              </a:defRPr>
            </a:pPr>
            <a:r>
              <a:t>Na3Bi, Cd3As2</a:t>
            </a:r>
          </a:p>
          <a:p>
            <a:pPr algn="l">
              <a:spcBef>
                <a:spcPts val="1200"/>
              </a:spcBef>
              <a:defRPr sz="1800" b="0">
                <a:solidFill>
                  <a:srgbClr val="555555"/>
                </a:solidFill>
              </a:defRPr>
            </a:pPr>
            <a:r>
              <a:t>四重简并狄拉克点</a:t>
            </a:r>
          </a:p>
          <a:p>
            <a:pPr algn="l">
              <a:spcBef>
                <a:spcPts val="1200"/>
              </a:spcBef>
              <a:defRPr sz="1800" b="0">
                <a:solidFill>
                  <a:srgbClr val="555555"/>
                </a:solidFill>
              </a:defRPr>
            </a:pPr>
            <a:r>
              <a:t>巨大不饱和磁阻</a:t>
            </a:r>
          </a:p>
          <a:p>
            <a:pPr algn="l">
              <a:spcBef>
                <a:spcPts val="1200"/>
              </a:spcBef>
              <a:defRPr sz="1800" b="0">
                <a:solidFill>
                  <a:srgbClr val="555555"/>
                </a:solidFill>
              </a:defRPr>
            </a:pPr>
            <a:r>
              <a:t>费米弧表面态</a:t>
            </a:r>
          </a:p>
        </p:txBody>
      </p:sp>
      <p:sp>
        <p:nvSpPr>
          <p:cNvPr id="12" name="Rectangle 11"/>
          <p:cNvSpPr/>
          <p:nvPr/>
        </p:nvSpPr>
        <p:spPr>
          <a:xfrm>
            <a:off x="4300000" y="1200000"/>
            <a:ext cx="3600000" cy="800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700000" y="1350000"/>
            <a:ext cx="600000" cy="600000"/>
          </a:xfrm>
          <a:prstGeom prst="ellips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600" b="1">
                <a:solidFill>
                  <a:srgbClr val="FFFFFF"/>
                </a:solidFill>
              </a:defRPr>
            </a:pPr>
            <a:r>
              <a:t>WSM</a:t>
            </a:r>
          </a:p>
        </p:txBody>
      </p:sp>
      <p:sp>
        <p:nvSpPr>
          <p:cNvPr id="14" name="TextBox 13"/>
          <p:cNvSpPr txBox="1"/>
          <p:nvPr/>
        </p:nvSpPr>
        <p:spPr>
          <a:xfrm>
            <a:off x="4450000" y="2100000"/>
            <a:ext cx="3300000" cy="500000"/>
          </a:xfrm>
          <a:prstGeom prst="rect">
            <a:avLst/>
          </a:prstGeom>
          <a:noFill/>
        </p:spPr>
        <p:txBody>
          <a:bodyPr wrap="square">
            <a:spAutoFit/>
          </a:bodyPr>
          <a:lstStyle/>
          <a:p>
            <a:pPr algn="ctr">
              <a:spcBef>
                <a:spcPts val="0"/>
              </a:spcBef>
              <a:defRPr sz="2200" b="1">
                <a:solidFill>
                  <a:srgbClr val="003366"/>
                </a:solidFill>
              </a:defRPr>
            </a:pPr>
            <a:r>
              <a:t>外尔半金属 (WSM)</a:t>
            </a:r>
          </a:p>
        </p:txBody>
      </p:sp>
      <p:sp>
        <p:nvSpPr>
          <p:cNvPr id="15" name="TextBox 14"/>
          <p:cNvSpPr txBox="1"/>
          <p:nvPr/>
        </p:nvSpPr>
        <p:spPr>
          <a:xfrm>
            <a:off x="4500000" y="2700000"/>
            <a:ext cx="3200000" cy="3500000"/>
          </a:xfrm>
          <a:prstGeom prst="rect">
            <a:avLst/>
          </a:prstGeom>
          <a:noFill/>
        </p:spPr>
        <p:txBody>
          <a:bodyPr wrap="square">
            <a:spAutoFit/>
          </a:bodyPr>
          <a:lstStyle/>
          <a:p>
            <a:pPr algn="l">
              <a:spcBef>
                <a:spcPts val="1200"/>
              </a:spcBef>
              <a:defRPr sz="1800" b="0">
                <a:solidFill>
                  <a:srgbClr val="555555"/>
                </a:solidFill>
              </a:defRPr>
            </a:pPr>
            <a:r>
              <a:t>TaAs, Co3Sn2S2</a:t>
            </a:r>
          </a:p>
          <a:p>
            <a:pPr algn="l">
              <a:spcBef>
                <a:spcPts val="1200"/>
              </a:spcBef>
              <a:defRPr sz="1800" b="0">
                <a:solidFill>
                  <a:srgbClr val="555555"/>
                </a:solidFill>
              </a:defRPr>
            </a:pPr>
            <a:r>
              <a:t>手性外尔点成对出现</a:t>
            </a:r>
          </a:p>
          <a:p>
            <a:pPr algn="l">
              <a:spcBef>
                <a:spcPts val="1200"/>
              </a:spcBef>
              <a:defRPr sz="1800" b="0">
                <a:solidFill>
                  <a:srgbClr val="555555"/>
                </a:solidFill>
              </a:defRPr>
            </a:pPr>
            <a:r>
              <a:t>费米弧 + 手性反常负磁阻</a:t>
            </a:r>
          </a:p>
          <a:p>
            <a:pPr algn="l">
              <a:spcBef>
                <a:spcPts val="1200"/>
              </a:spcBef>
              <a:defRPr sz="1800" b="0">
                <a:solidFill>
                  <a:srgbClr val="555555"/>
                </a:solidFill>
              </a:defRPr>
            </a:pPr>
            <a:r>
              <a:t>强贝里曲率 -&gt; 非线性光学</a:t>
            </a:r>
          </a:p>
        </p:txBody>
      </p:sp>
      <p:sp>
        <p:nvSpPr>
          <p:cNvPr id="16" name="Rectangle 15"/>
          <p:cNvSpPr/>
          <p:nvPr/>
        </p:nvSpPr>
        <p:spPr>
          <a:xfrm>
            <a:off x="8200000" y="1200000"/>
            <a:ext cx="3600000" cy="800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600000" y="1350000"/>
            <a:ext cx="600000" cy="60000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600" b="1">
                <a:solidFill>
                  <a:srgbClr val="FFFFFF"/>
                </a:solidFill>
              </a:defRPr>
            </a:pPr>
            <a:r>
              <a:t>NLSM</a:t>
            </a:r>
          </a:p>
        </p:txBody>
      </p:sp>
      <p:sp>
        <p:nvSpPr>
          <p:cNvPr id="18" name="TextBox 17"/>
          <p:cNvSpPr txBox="1"/>
          <p:nvPr/>
        </p:nvSpPr>
        <p:spPr>
          <a:xfrm>
            <a:off x="8350000" y="2100000"/>
            <a:ext cx="3300000" cy="500000"/>
          </a:xfrm>
          <a:prstGeom prst="rect">
            <a:avLst/>
          </a:prstGeom>
          <a:noFill/>
        </p:spPr>
        <p:txBody>
          <a:bodyPr wrap="square">
            <a:spAutoFit/>
          </a:bodyPr>
          <a:lstStyle/>
          <a:p>
            <a:pPr algn="ctr">
              <a:spcBef>
                <a:spcPts val="0"/>
              </a:spcBef>
              <a:defRPr sz="2200" b="1">
                <a:solidFill>
                  <a:srgbClr val="003366"/>
                </a:solidFill>
              </a:defRPr>
            </a:pPr>
            <a:r>
              <a:t>节线半金属 (NLSM)</a:t>
            </a:r>
          </a:p>
        </p:txBody>
      </p:sp>
      <p:sp>
        <p:nvSpPr>
          <p:cNvPr id="19" name="TextBox 18"/>
          <p:cNvSpPr txBox="1"/>
          <p:nvPr/>
        </p:nvSpPr>
        <p:spPr>
          <a:xfrm>
            <a:off x="8400000" y="2700000"/>
            <a:ext cx="3200000" cy="3500000"/>
          </a:xfrm>
          <a:prstGeom prst="rect">
            <a:avLst/>
          </a:prstGeom>
          <a:noFill/>
        </p:spPr>
        <p:txBody>
          <a:bodyPr wrap="square">
            <a:spAutoFit/>
          </a:bodyPr>
          <a:lstStyle/>
          <a:p>
            <a:pPr algn="l">
              <a:spcBef>
                <a:spcPts val="1200"/>
              </a:spcBef>
              <a:defRPr sz="1800" b="0">
                <a:solidFill>
                  <a:srgbClr val="555555"/>
                </a:solidFill>
              </a:defRPr>
            </a:pPr>
            <a:r>
              <a:t>ZrSiS, ZrAs2, Ca3P2</a:t>
            </a:r>
          </a:p>
          <a:p>
            <a:pPr algn="l">
              <a:spcBef>
                <a:spcPts val="1200"/>
              </a:spcBef>
              <a:defRPr sz="1800" b="0">
                <a:solidFill>
                  <a:srgbClr val="555555"/>
                </a:solidFill>
              </a:defRPr>
            </a:pPr>
            <a:r>
              <a:t>导带价带交叉形成节线</a:t>
            </a:r>
          </a:p>
          <a:p>
            <a:pPr algn="l">
              <a:spcBef>
                <a:spcPts val="1200"/>
              </a:spcBef>
              <a:defRPr sz="1800" b="0">
                <a:solidFill>
                  <a:srgbClr val="555555"/>
                </a:solidFill>
              </a:defRPr>
            </a:pPr>
            <a:r>
              <a:t>鼓状表面态</a:t>
            </a:r>
          </a:p>
          <a:p>
            <a:pPr algn="l">
              <a:spcBef>
                <a:spcPts val="1200"/>
              </a:spcBef>
              <a:defRPr sz="1800" b="0">
                <a:solidFill>
                  <a:srgbClr val="555555"/>
                </a:solidFill>
              </a:defRPr>
            </a:pPr>
            <a:r>
              <a:t>蝴蝶状各向异性磁阻</a:t>
            </a:r>
          </a:p>
        </p:txBody>
      </p:sp>
      <p:sp>
        <p:nvSpPr>
          <p:cNvPr id="20" name="TextBox 19"/>
          <p:cNvSpPr txBox="1"/>
          <p:nvPr/>
        </p:nvSpPr>
        <p:spPr>
          <a:xfrm>
            <a:off x="11600000" y="6450000"/>
            <a:ext cx="500000" cy="350000"/>
          </a:xfrm>
          <a:prstGeom prst="rect">
            <a:avLst/>
          </a:prstGeom>
          <a:noFill/>
        </p:spPr>
        <p:txBody>
          <a:bodyPr wrap="square">
            <a:spAutoFit/>
          </a:bodyPr>
          <a:lstStyle/>
          <a:p>
            <a:pPr algn="ctr">
              <a:spcBef>
                <a:spcPts val="0"/>
              </a:spcBef>
              <a:defRPr sz="1400" b="0">
                <a:solidFill>
                  <a:srgbClr val="E0E0E0"/>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50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50000"/>
            <a:ext cx="11000000" cy="700000"/>
          </a:xfrm>
          <a:prstGeom prst="rect">
            <a:avLst/>
          </a:prstGeom>
          <a:noFill/>
        </p:spPr>
        <p:txBody>
          <a:bodyPr wrap="square">
            <a:spAutoFit/>
          </a:bodyPr>
          <a:lstStyle/>
          <a:p>
            <a:pPr algn="l">
              <a:spcBef>
                <a:spcPts val="0"/>
              </a:spcBef>
              <a:defRPr sz="3200" b="1">
                <a:solidFill>
                  <a:srgbClr val="003366"/>
                </a:solidFill>
              </a:defRPr>
            </a:pPr>
            <a:r>
              <a:t>1.2 霍尔效应</a:t>
            </a:r>
          </a:p>
        </p:txBody>
      </p:sp>
      <p:sp>
        <p:nvSpPr>
          <p:cNvPr id="6" name="Rectangle 5"/>
          <p:cNvSpPr/>
          <p:nvPr/>
        </p:nvSpPr>
        <p:spPr>
          <a:xfrm>
            <a:off x="500000" y="800000"/>
            <a:ext cx="1500000" cy="4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850000"/>
            <a:ext cx="11000000" cy="500000"/>
          </a:xfrm>
          <a:prstGeom prst="rect">
            <a:avLst/>
          </a:prstGeom>
          <a:noFill/>
        </p:spPr>
        <p:txBody>
          <a:bodyPr wrap="square">
            <a:spAutoFit/>
          </a:bodyPr>
          <a:lstStyle/>
          <a:p>
            <a:pPr algn="l">
              <a:spcBef>
                <a:spcPts val="0"/>
              </a:spcBef>
              <a:defRPr sz="2200" b="1">
                <a:solidFill>
                  <a:srgbClr val="1A4B8C"/>
                </a:solidFill>
              </a:defRPr>
            </a:pPr>
            <a:r>
              <a:t>反常霍尔效应与拓扑霍尔效应</a:t>
            </a:r>
          </a:p>
        </p:txBody>
      </p:sp>
      <p:sp>
        <p:nvSpPr>
          <p:cNvPr id="8" name="Rounded Rectangle 7"/>
          <p:cNvSpPr/>
          <p:nvPr/>
        </p:nvSpPr>
        <p:spPr>
          <a:xfrm>
            <a:off x="400000" y="1300000"/>
            <a:ext cx="5500000" cy="2500000"/>
          </a:xfrm>
          <a:prstGeom prst="roundRect">
            <a:avLst/>
          </a:prstGeom>
          <a:solidFill>
            <a:srgbClr val="F0F7FF"/>
          </a:solidFill>
          <a:ln w="25400">
            <a:solidFill>
              <a:srgbClr val="1870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0000" y="1400000"/>
            <a:ext cx="5000000" cy="500000"/>
          </a:xfrm>
          <a:prstGeom prst="rect">
            <a:avLst/>
          </a:prstGeom>
          <a:noFill/>
        </p:spPr>
        <p:txBody>
          <a:bodyPr wrap="square">
            <a:spAutoFit/>
          </a:bodyPr>
          <a:lstStyle/>
          <a:p>
            <a:pPr algn="l">
              <a:spcBef>
                <a:spcPts val="0"/>
              </a:spcBef>
              <a:defRPr sz="2600" b="1">
                <a:solidFill>
                  <a:srgbClr val="003366"/>
                </a:solidFill>
              </a:defRPr>
            </a:pPr>
            <a:r>
              <a:t>反常霍尔效应 (AHE)</a:t>
            </a:r>
          </a:p>
        </p:txBody>
      </p:sp>
      <p:sp>
        <p:nvSpPr>
          <p:cNvPr id="10" name="TextBox 9"/>
          <p:cNvSpPr txBox="1"/>
          <p:nvPr/>
        </p:nvSpPr>
        <p:spPr>
          <a:xfrm>
            <a:off x="550000" y="2000000"/>
            <a:ext cx="5000000" cy="1600000"/>
          </a:xfrm>
          <a:prstGeom prst="rect">
            <a:avLst/>
          </a:prstGeom>
          <a:noFill/>
        </p:spPr>
        <p:txBody>
          <a:bodyPr wrap="square">
            <a:spAutoFit/>
          </a:bodyPr>
          <a:lstStyle/>
          <a:p>
            <a:pPr algn="l">
              <a:spcBef>
                <a:spcPts val="1000"/>
              </a:spcBef>
              <a:defRPr sz="2000" b="0">
                <a:solidFill>
                  <a:srgbClr val="444444"/>
                </a:solidFill>
              </a:defRPr>
            </a:pPr>
            <a:r>
              <a:t>无需外磁场即可产生横向电压</a:t>
            </a:r>
          </a:p>
          <a:p>
            <a:pPr algn="l">
              <a:spcBef>
                <a:spcPts val="1000"/>
              </a:spcBef>
              <a:defRPr sz="2000" b="0">
                <a:solidFill>
                  <a:srgbClr val="444444"/>
                </a:solidFill>
              </a:defRPr>
            </a:pPr>
            <a:r>
              <a:t>外禀机制：斜散射 + 边跳</a:t>
            </a:r>
          </a:p>
          <a:p>
            <a:pPr algn="l">
              <a:spcBef>
                <a:spcPts val="1000"/>
              </a:spcBef>
              <a:defRPr sz="2000" b="0">
                <a:solidFill>
                  <a:srgbClr val="444444"/>
                </a:solidFill>
              </a:defRPr>
            </a:pPr>
            <a:r>
              <a:t>内禀机制：贝里曲率分布（Karplus-Luttinger）</a:t>
            </a:r>
          </a:p>
          <a:p>
            <a:pPr algn="l">
              <a:spcBef>
                <a:spcPts val="1000"/>
              </a:spcBef>
              <a:defRPr sz="2000" b="0">
                <a:solidFill>
                  <a:srgbClr val="444444"/>
                </a:solidFill>
              </a:defRPr>
            </a:pPr>
            <a:r>
              <a:t>拓扑半金属中AHE显著增强</a:t>
            </a:r>
          </a:p>
          <a:p>
            <a:pPr algn="l">
              <a:spcBef>
                <a:spcPts val="1000"/>
              </a:spcBef>
              <a:defRPr sz="2000" b="0">
                <a:solidFill>
                  <a:srgbClr val="444444"/>
                </a:solidFill>
              </a:defRPr>
            </a:pPr>
            <a:r>
              <a:t>实验体系：Co3Sn2S2, Mn3Sn, Co2MnGa</a:t>
            </a:r>
          </a:p>
        </p:txBody>
      </p:sp>
      <p:sp>
        <p:nvSpPr>
          <p:cNvPr id="11" name="Rounded Rectangle 10"/>
          <p:cNvSpPr/>
          <p:nvPr/>
        </p:nvSpPr>
        <p:spPr>
          <a:xfrm>
            <a:off x="6200000" y="1300000"/>
            <a:ext cx="5500000" cy="2500000"/>
          </a:xfrm>
          <a:prstGeom prst="roundRect">
            <a:avLst/>
          </a:prstGeom>
          <a:solidFill>
            <a:srgbClr val="FFF8F0"/>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0000" y="1400000"/>
            <a:ext cx="5000000" cy="500000"/>
          </a:xfrm>
          <a:prstGeom prst="rect">
            <a:avLst/>
          </a:prstGeom>
          <a:noFill/>
        </p:spPr>
        <p:txBody>
          <a:bodyPr wrap="square">
            <a:spAutoFit/>
          </a:bodyPr>
          <a:lstStyle/>
          <a:p>
            <a:pPr algn="l">
              <a:spcBef>
                <a:spcPts val="0"/>
              </a:spcBef>
              <a:defRPr sz="2600" b="1">
                <a:solidFill>
                  <a:srgbClr val="003366"/>
                </a:solidFill>
              </a:defRPr>
            </a:pPr>
            <a:r>
              <a:t>拓扑霍尔效应 (THE)</a:t>
            </a:r>
          </a:p>
        </p:txBody>
      </p:sp>
      <p:sp>
        <p:nvSpPr>
          <p:cNvPr id="13" name="TextBox 12"/>
          <p:cNvSpPr txBox="1"/>
          <p:nvPr/>
        </p:nvSpPr>
        <p:spPr>
          <a:xfrm>
            <a:off x="6350000" y="2000000"/>
            <a:ext cx="5000000" cy="1600000"/>
          </a:xfrm>
          <a:prstGeom prst="rect">
            <a:avLst/>
          </a:prstGeom>
          <a:noFill/>
        </p:spPr>
        <p:txBody>
          <a:bodyPr wrap="square">
            <a:spAutoFit/>
          </a:bodyPr>
          <a:lstStyle/>
          <a:p>
            <a:pPr algn="l">
              <a:spcBef>
                <a:spcPts val="1000"/>
              </a:spcBef>
              <a:defRPr sz="2000" b="0">
                <a:solidFill>
                  <a:srgbClr val="444444"/>
                </a:solidFill>
              </a:defRPr>
            </a:pPr>
            <a:r>
              <a:t>由磁结构拓扑性质引起</a:t>
            </a:r>
          </a:p>
          <a:p>
            <a:pPr algn="l">
              <a:spcBef>
                <a:spcPts val="1000"/>
              </a:spcBef>
              <a:defRPr sz="2000" b="0">
                <a:solidFill>
                  <a:srgbClr val="444444"/>
                </a:solidFill>
              </a:defRPr>
            </a:pPr>
            <a:r>
              <a:t>标量自旋手性：chi = Si*(Sj*Sk)</a:t>
            </a:r>
          </a:p>
          <a:p>
            <a:pPr algn="l">
              <a:spcBef>
                <a:spcPts val="1000"/>
              </a:spcBef>
              <a:defRPr sz="2000" b="0">
                <a:solidFill>
                  <a:srgbClr val="444444"/>
                </a:solidFill>
              </a:defRPr>
            </a:pPr>
            <a:r>
              <a:t>非共面自旋结构 -&gt; 有效磁场</a:t>
            </a:r>
          </a:p>
          <a:p>
            <a:pPr algn="l">
              <a:spcBef>
                <a:spcPts val="1000"/>
              </a:spcBef>
              <a:defRPr sz="2000" b="0">
                <a:solidFill>
                  <a:srgbClr val="444444"/>
                </a:solidFill>
              </a:defRPr>
            </a:pPr>
            <a:r>
              <a:t>与拓扑能斯特效应、拓扑磁光效应关联</a:t>
            </a:r>
          </a:p>
          <a:p>
            <a:pPr algn="l">
              <a:spcBef>
                <a:spcPts val="1000"/>
              </a:spcBef>
              <a:defRPr sz="2000" b="0">
                <a:solidFill>
                  <a:srgbClr val="444444"/>
                </a:solidFill>
              </a:defRPr>
            </a:pPr>
            <a:r>
              <a:t>实验体系：MnBi2Te4, Eu(Ga,Al)4</a:t>
            </a:r>
          </a:p>
        </p:txBody>
      </p:sp>
      <p:sp>
        <p:nvSpPr>
          <p:cNvPr id="14" name="TextBox 13"/>
          <p:cNvSpPr txBox="1"/>
          <p:nvPr/>
        </p:nvSpPr>
        <p:spPr>
          <a:xfrm>
            <a:off x="400000" y="4000000"/>
            <a:ext cx="11200000" cy="600000"/>
          </a:xfrm>
          <a:prstGeom prst="rect">
            <a:avLst/>
          </a:prstGeom>
          <a:noFill/>
        </p:spPr>
        <p:txBody>
          <a:bodyPr wrap="square">
            <a:spAutoFit/>
          </a:bodyPr>
          <a:lstStyle/>
          <a:p>
            <a:pPr algn="ctr">
              <a:spcBef>
                <a:spcPts val="0"/>
              </a:spcBef>
              <a:defRPr sz="2200" b="1">
                <a:solidFill>
                  <a:srgbClr val="1A4B8C"/>
                </a:solidFill>
              </a:defRPr>
            </a:pPr>
            <a:r>
              <a:t>霍尔电阻率：rho_xy = R0*B + Rs*M  （R0: 普通霍尔，Rs: 反常霍尔）</a:t>
            </a:r>
          </a:p>
        </p:txBody>
      </p:sp>
      <p:sp>
        <p:nvSpPr>
          <p:cNvPr id="15" name="TextBox 14"/>
          <p:cNvSpPr txBox="1"/>
          <p:nvPr/>
        </p:nvSpPr>
        <p:spPr>
          <a:xfrm>
            <a:off x="400000" y="4700000"/>
            <a:ext cx="11200000" cy="1800000"/>
          </a:xfrm>
          <a:prstGeom prst="rect">
            <a:avLst/>
          </a:prstGeom>
          <a:noFill/>
        </p:spPr>
        <p:txBody>
          <a:bodyPr wrap="square">
            <a:spAutoFit/>
          </a:bodyPr>
          <a:lstStyle/>
          <a:p>
            <a:pPr algn="l">
              <a:spcBef>
                <a:spcPts val="1000"/>
              </a:spcBef>
              <a:defRPr sz="2000" b="1">
                <a:solidFill>
                  <a:srgbClr val="B2610B"/>
                </a:solidFill>
              </a:defRPr>
            </a:pPr>
            <a:r>
              <a:t>【本论文关注点】</a:t>
            </a:r>
          </a:p>
          <a:p>
            <a:pPr algn="l">
              <a:spcBef>
                <a:spcPts val="1000"/>
              </a:spcBef>
              <a:defRPr sz="2000" b="1">
                <a:solidFill>
                  <a:srgbClr val="B2610B"/>
                </a:solidFill>
              </a:defRPr>
            </a:pPr>
            <a:r>
              <a:t>ZrAs2 中手性反常引起的负磁阻与阶梯效应</a:t>
            </a:r>
          </a:p>
          <a:p>
            <a:pPr algn="l">
              <a:spcBef>
                <a:spcPts val="1000"/>
              </a:spcBef>
              <a:defRPr sz="2000" b="1">
                <a:solidFill>
                  <a:srgbClr val="B2610B"/>
                </a:solidFill>
              </a:defRPr>
            </a:pPr>
            <a:r>
              <a:t>CoNb3S6 中手性反铁磁结构诱导的拓扑非线性霍尔效应</a:t>
            </a:r>
          </a:p>
        </p:txBody>
      </p:sp>
      <p:sp>
        <p:nvSpPr>
          <p:cNvPr id="16" name="TextBox 15"/>
          <p:cNvSpPr txBox="1"/>
          <p:nvPr/>
        </p:nvSpPr>
        <p:spPr>
          <a:xfrm>
            <a:off x="11600000" y="6450000"/>
            <a:ext cx="500000" cy="350000"/>
          </a:xfrm>
          <a:prstGeom prst="rect">
            <a:avLst/>
          </a:prstGeom>
          <a:noFill/>
        </p:spPr>
        <p:txBody>
          <a:bodyPr wrap="square">
            <a:spAutoFit/>
          </a:bodyPr>
          <a:lstStyle/>
          <a:p>
            <a:pPr algn="ctr">
              <a:spcBef>
                <a:spcPts val="0"/>
              </a:spcBef>
              <a:defRPr sz="1400" b="0">
                <a:solidFill>
                  <a:srgbClr val="E0E0E0"/>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50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50000"/>
            <a:ext cx="11000000" cy="700000"/>
          </a:xfrm>
          <a:prstGeom prst="rect">
            <a:avLst/>
          </a:prstGeom>
          <a:noFill/>
        </p:spPr>
        <p:txBody>
          <a:bodyPr wrap="square">
            <a:spAutoFit/>
          </a:bodyPr>
          <a:lstStyle/>
          <a:p>
            <a:pPr algn="l">
              <a:spcBef>
                <a:spcPts val="0"/>
              </a:spcBef>
              <a:defRPr sz="3200" b="1">
                <a:solidFill>
                  <a:srgbClr val="003366"/>
                </a:solidFill>
              </a:defRPr>
            </a:pPr>
            <a:r>
              <a:t>1.2 非线性霍尔效应</a:t>
            </a:r>
          </a:p>
        </p:txBody>
      </p:sp>
      <p:sp>
        <p:nvSpPr>
          <p:cNvPr id="6" name="Rectangle 5"/>
          <p:cNvSpPr/>
          <p:nvPr/>
        </p:nvSpPr>
        <p:spPr>
          <a:xfrm>
            <a:off x="500000" y="800000"/>
            <a:ext cx="1500000" cy="4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850000"/>
            <a:ext cx="11000000" cy="500000"/>
          </a:xfrm>
          <a:prstGeom prst="rect">
            <a:avLst/>
          </a:prstGeom>
          <a:noFill/>
        </p:spPr>
        <p:txBody>
          <a:bodyPr wrap="square">
            <a:spAutoFit/>
          </a:bodyPr>
          <a:lstStyle/>
          <a:p>
            <a:pPr algn="l">
              <a:spcBef>
                <a:spcPts val="0"/>
              </a:spcBef>
              <a:defRPr sz="2200" b="1">
                <a:solidFill>
                  <a:srgbClr val="1A4B8C"/>
                </a:solidFill>
              </a:defRPr>
            </a:pPr>
            <a:r>
              <a:t>从线性响应到非线性输运 - 电场高阶响应</a:t>
            </a:r>
          </a:p>
        </p:txBody>
      </p:sp>
      <p:sp>
        <p:nvSpPr>
          <p:cNvPr id="8" name="TextBox 7"/>
          <p:cNvSpPr txBox="1"/>
          <p:nvPr/>
        </p:nvSpPr>
        <p:spPr>
          <a:xfrm>
            <a:off x="400000" y="1200000"/>
            <a:ext cx="11000000" cy="600000"/>
          </a:xfrm>
          <a:prstGeom prst="rect">
            <a:avLst/>
          </a:prstGeom>
          <a:noFill/>
        </p:spPr>
        <p:txBody>
          <a:bodyPr wrap="square">
            <a:spAutoFit/>
          </a:bodyPr>
          <a:lstStyle/>
          <a:p>
            <a:pPr algn="ctr">
              <a:spcBef>
                <a:spcPts val="0"/>
              </a:spcBef>
              <a:defRPr sz="2600" b="1">
                <a:solidFill>
                  <a:srgbClr val="1A4B8C"/>
                </a:solidFill>
              </a:defRPr>
            </a:pPr>
            <a:r>
              <a:t>ja = sigma_ab * E_b + sigma_abc * E_b E_c + sigma_abcd * E_b E_c E_d + ...</a:t>
            </a:r>
          </a:p>
        </p:txBody>
      </p:sp>
      <p:sp>
        <p:nvSpPr>
          <p:cNvPr id="9" name="TextBox 8"/>
          <p:cNvSpPr txBox="1"/>
          <p:nvPr/>
        </p:nvSpPr>
        <p:spPr>
          <a:xfrm>
            <a:off x="550000" y="1850000"/>
            <a:ext cx="5000000" cy="300000"/>
          </a:xfrm>
          <a:prstGeom prst="rect">
            <a:avLst/>
          </a:prstGeom>
          <a:noFill/>
        </p:spPr>
        <p:txBody>
          <a:bodyPr wrap="square">
            <a:spAutoFit/>
          </a:bodyPr>
          <a:lstStyle/>
          <a:p>
            <a:pPr algn="l">
              <a:spcBef>
                <a:spcPts val="0"/>
              </a:spcBef>
              <a:defRPr sz="2400" b="1">
                <a:solidFill>
                  <a:srgbClr val="003366"/>
                </a:solidFill>
              </a:defRPr>
            </a:pPr>
            <a:r>
              <a:t>线性响应 vs 非线性响应</a:t>
            </a:r>
          </a:p>
        </p:txBody>
      </p:sp>
      <p:sp>
        <p:nvSpPr>
          <p:cNvPr id="10" name="TextBox 9"/>
          <p:cNvSpPr txBox="1"/>
          <p:nvPr/>
        </p:nvSpPr>
        <p:spPr>
          <a:xfrm>
            <a:off x="550000" y="2300000"/>
            <a:ext cx="5000000" cy="3000000"/>
          </a:xfrm>
          <a:prstGeom prst="rect">
            <a:avLst/>
          </a:prstGeom>
          <a:noFill/>
        </p:spPr>
        <p:txBody>
          <a:bodyPr wrap="square">
            <a:spAutoFit/>
          </a:bodyPr>
          <a:lstStyle/>
          <a:p>
            <a:pPr algn="l">
              <a:spcBef>
                <a:spcPts val="600"/>
              </a:spcBef>
              <a:defRPr sz="1800" b="0">
                <a:solidFill>
                  <a:srgbClr val="444444"/>
                </a:solidFill>
              </a:defRPr>
            </a:pPr>
            <a:r>
              <a:t>二阶非线性霍尔效应 (sigma_abc * E^2):</a:t>
            </a:r>
          </a:p>
          <a:p>
            <a:pPr algn="l">
              <a:spcBef>
                <a:spcPts val="600"/>
              </a:spcBef>
              <a:defRPr sz="1800" b="0">
                <a:solidFill>
                  <a:srgbClr val="444444"/>
                </a:solidFill>
              </a:defRPr>
            </a:pPr>
            <a:r>
              <a:t>  - 时间反演偶对称 + 空间反演破缺</a:t>
            </a:r>
          </a:p>
          <a:p>
            <a:pPr algn="l">
              <a:spcBef>
                <a:spcPts val="600"/>
              </a:spcBef>
              <a:defRPr sz="1800" b="0">
                <a:solidFill>
                  <a:srgbClr val="444444"/>
                </a:solidFill>
              </a:defRPr>
            </a:pPr>
            <a:r>
              <a:t>  - 贝里曲率偶极子 (BCD) 内禀贡献</a:t>
            </a:r>
          </a:p>
          <a:p>
            <a:pPr algn="l">
              <a:spcBef>
                <a:spcPts val="600"/>
              </a:spcBef>
              <a:defRPr sz="1800" b="0">
                <a:solidFill>
                  <a:srgbClr val="444444"/>
                </a:solidFill>
              </a:defRPr>
            </a:pPr>
            <a:r>
              <a:t>  - 实验体系：WTe2, hBN/石墨烯</a:t>
            </a:r>
          </a:p>
          <a:p>
            <a:pPr algn="l">
              <a:spcBef>
                <a:spcPts val="600"/>
              </a:spcBef>
              <a:defRPr sz="1800" b="0">
                <a:solidFill>
                  <a:srgbClr val="444444"/>
                </a:solidFill>
              </a:defRPr>
            </a:pPr>
          </a:p>
          <a:p>
            <a:pPr algn="l">
              <a:spcBef>
                <a:spcPts val="600"/>
              </a:spcBef>
              <a:defRPr sz="1800" b="0">
                <a:solidFill>
                  <a:srgbClr val="444444"/>
                </a:solidFill>
              </a:defRPr>
            </a:pPr>
            <a:r>
              <a:t>三阶非线性霍尔效应 (sigma_abcd * E^3):</a:t>
            </a:r>
          </a:p>
          <a:p>
            <a:pPr algn="l">
              <a:spcBef>
                <a:spcPts val="600"/>
              </a:spcBef>
              <a:defRPr sz="1800" b="0">
                <a:solidFill>
                  <a:srgbClr val="444444"/>
                </a:solidFill>
              </a:defRPr>
            </a:pPr>
            <a:r>
              <a:t>  - 时间反演奇对称</a:t>
            </a:r>
          </a:p>
          <a:p>
            <a:pPr algn="l">
              <a:spcBef>
                <a:spcPts val="600"/>
              </a:spcBef>
              <a:defRPr sz="1800" b="0">
                <a:solidFill>
                  <a:srgbClr val="444444"/>
                </a:solidFill>
              </a:defRPr>
            </a:pPr>
            <a:r>
              <a:t>  - 贝里联络极化率 (BCP) 主导</a:t>
            </a:r>
          </a:p>
          <a:p>
            <a:pPr algn="l">
              <a:spcBef>
                <a:spcPts val="600"/>
              </a:spcBef>
              <a:defRPr sz="1800" b="0">
                <a:solidFill>
                  <a:srgbClr val="444444"/>
                </a:solidFill>
              </a:defRPr>
            </a:pPr>
            <a:r>
              <a:t>  - 贝里曲率四极矩 (BCQ)</a:t>
            </a:r>
          </a:p>
          <a:p>
            <a:pPr algn="l">
              <a:spcBef>
                <a:spcPts val="600"/>
              </a:spcBef>
              <a:defRPr sz="1800" b="0">
                <a:solidFill>
                  <a:srgbClr val="444444"/>
                </a:solidFill>
              </a:defRPr>
            </a:pPr>
            <a:r>
              <a:t>  - 量子度规四极矩</a:t>
            </a:r>
          </a:p>
          <a:p>
            <a:pPr algn="l">
              <a:spcBef>
                <a:spcPts val="600"/>
              </a:spcBef>
              <a:defRPr sz="1800" b="0">
                <a:solidFill>
                  <a:srgbClr val="444444"/>
                </a:solidFill>
              </a:defRPr>
            </a:pPr>
            <a:r>
              <a:t>  - 实验体系：FeSn, MnBi2Te4</a:t>
            </a:r>
          </a:p>
        </p:txBody>
      </p:sp>
      <p:sp>
        <p:nvSpPr>
          <p:cNvPr id="11" name="Rounded Rectangle 10"/>
          <p:cNvSpPr/>
          <p:nvPr/>
        </p:nvSpPr>
        <p:spPr>
          <a:xfrm>
            <a:off x="6200000" y="1850000"/>
            <a:ext cx="5500000" cy="2500000"/>
          </a:xfrm>
          <a:prstGeom prst="roundRect">
            <a:avLst/>
          </a:prstGeom>
          <a:solidFill>
            <a:srgbClr val="FDF2E9"/>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0000" y="1900000"/>
            <a:ext cx="5000000" cy="500000"/>
          </a:xfrm>
          <a:prstGeom prst="rect">
            <a:avLst/>
          </a:prstGeom>
          <a:noFill/>
        </p:spPr>
        <p:txBody>
          <a:bodyPr wrap="square">
            <a:spAutoFit/>
          </a:bodyPr>
          <a:lstStyle/>
          <a:p>
            <a:pPr algn="l">
              <a:spcBef>
                <a:spcPts val="0"/>
              </a:spcBef>
              <a:defRPr sz="2600" b="1">
                <a:solidFill>
                  <a:srgbClr val="B2610B"/>
                </a:solidFill>
              </a:defRPr>
            </a:pPr>
            <a:r>
              <a:t>【本论文核心工作】</a:t>
            </a:r>
          </a:p>
        </p:txBody>
      </p:sp>
      <p:sp>
        <p:nvSpPr>
          <p:cNvPr id="13" name="TextBox 12"/>
          <p:cNvSpPr txBox="1"/>
          <p:nvPr/>
        </p:nvSpPr>
        <p:spPr>
          <a:xfrm>
            <a:off x="6350000" y="2500000"/>
            <a:ext cx="5000000" cy="1600000"/>
          </a:xfrm>
          <a:prstGeom prst="rect">
            <a:avLst/>
          </a:prstGeom>
          <a:noFill/>
        </p:spPr>
        <p:txBody>
          <a:bodyPr wrap="square">
            <a:spAutoFit/>
          </a:bodyPr>
          <a:lstStyle/>
          <a:p>
            <a:pPr algn="l">
              <a:spcBef>
                <a:spcPts val="600"/>
              </a:spcBef>
              <a:defRPr sz="1800" b="0">
                <a:solidFill>
                  <a:srgbClr val="444444"/>
                </a:solidFill>
              </a:defRPr>
            </a:pPr>
            <a:r>
              <a:t>手性反铁磁 CoNb3S6 中的</a:t>
            </a:r>
          </a:p>
          <a:p>
            <a:pPr algn="l">
              <a:spcBef>
                <a:spcPts val="600"/>
              </a:spcBef>
              <a:defRPr sz="1800" b="0">
                <a:solidFill>
                  <a:srgbClr val="444444"/>
                </a:solidFill>
              </a:defRPr>
            </a:pPr>
            <a:r>
              <a:t>拓扑三阶非线性霍尔效应</a:t>
            </a:r>
          </a:p>
          <a:p>
            <a:pPr algn="l">
              <a:spcBef>
                <a:spcPts val="600"/>
              </a:spcBef>
              <a:defRPr sz="1800" b="0">
                <a:solidFill>
                  <a:srgbClr val="444444"/>
                </a:solidFill>
              </a:defRPr>
            </a:pPr>
          </a:p>
          <a:p>
            <a:pPr algn="l">
              <a:spcBef>
                <a:spcPts val="600"/>
              </a:spcBef>
              <a:defRPr sz="1800" b="0">
                <a:solidFill>
                  <a:srgbClr val="444444"/>
                </a:solidFill>
              </a:defRPr>
            </a:pPr>
            <a:r>
              <a:t>物理起源：贝里曲率四极矩</a:t>
            </a:r>
          </a:p>
          <a:p>
            <a:pPr algn="l">
              <a:spcBef>
                <a:spcPts val="600"/>
              </a:spcBef>
              <a:defRPr sz="1800" b="0">
                <a:solidFill>
                  <a:srgbClr val="444444"/>
                </a:solidFill>
              </a:defRPr>
            </a:pPr>
          </a:p>
          <a:p>
            <a:pPr algn="l">
              <a:spcBef>
                <a:spcPts val="600"/>
              </a:spcBef>
              <a:defRPr sz="1800" b="0">
                <a:solidFill>
                  <a:srgbClr val="444444"/>
                </a:solidFill>
              </a:defRPr>
            </a:pPr>
            <a:r>
              <a:t>关键发现：</a:t>
            </a:r>
          </a:p>
          <a:p>
            <a:pPr algn="l">
              <a:spcBef>
                <a:spcPts val="600"/>
              </a:spcBef>
              <a:defRPr sz="1800" b="0">
                <a:solidFill>
                  <a:srgbClr val="444444"/>
                </a:solidFill>
              </a:defRPr>
            </a:pPr>
            <a:r>
              <a:t>  - 信号仅在 TN 以下出现</a:t>
            </a:r>
          </a:p>
          <a:p>
            <a:pPr algn="l">
              <a:spcBef>
                <a:spcPts val="600"/>
              </a:spcBef>
              <a:defRPr sz="1800" b="0">
                <a:solidFill>
                  <a:srgbClr val="444444"/>
                </a:solidFill>
              </a:defRPr>
            </a:pPr>
            <a:r>
              <a:t>  - 温度降低出现符号翻转</a:t>
            </a:r>
          </a:p>
          <a:p>
            <a:pPr algn="l">
              <a:spcBef>
                <a:spcPts val="600"/>
              </a:spcBef>
              <a:defRPr sz="1800" b="0">
                <a:solidFill>
                  <a:srgbClr val="444444"/>
                </a:solidFill>
              </a:defRPr>
            </a:pPr>
            <a:r>
              <a:t>  - 与磁结构特性密切相关</a:t>
            </a:r>
          </a:p>
        </p:txBody>
      </p:sp>
      <p:sp>
        <p:nvSpPr>
          <p:cNvPr id="14" name="TextBox 13"/>
          <p:cNvSpPr txBox="1"/>
          <p:nvPr/>
        </p:nvSpPr>
        <p:spPr>
          <a:xfrm>
            <a:off x="400000" y="5700000"/>
            <a:ext cx="11200000" cy="800000"/>
          </a:xfrm>
          <a:prstGeom prst="rect">
            <a:avLst/>
          </a:prstGeom>
          <a:noFill/>
        </p:spPr>
        <p:txBody>
          <a:bodyPr wrap="square">
            <a:spAutoFit/>
          </a:bodyPr>
          <a:lstStyle/>
          <a:p>
            <a:pPr algn="ctr">
              <a:spcBef>
                <a:spcPts val="0"/>
              </a:spcBef>
              <a:defRPr sz="2400" b="1">
                <a:solidFill>
                  <a:srgbClr val="1A4B8C"/>
                </a:solidFill>
              </a:defRPr>
            </a:pPr>
            <a:r>
              <a:t>三阶非线性信号对费米面结构及其演化比一阶线性响应更敏感</a:t>
            </a:r>
          </a:p>
        </p:txBody>
      </p:sp>
      <p:sp>
        <p:nvSpPr>
          <p:cNvPr id="15" name="TextBox 14"/>
          <p:cNvSpPr txBox="1"/>
          <p:nvPr/>
        </p:nvSpPr>
        <p:spPr>
          <a:xfrm>
            <a:off x="11600000" y="6450000"/>
            <a:ext cx="500000" cy="350000"/>
          </a:xfrm>
          <a:prstGeom prst="rect">
            <a:avLst/>
          </a:prstGeom>
          <a:noFill/>
        </p:spPr>
        <p:txBody>
          <a:bodyPr wrap="square">
            <a:spAutoFit/>
          </a:bodyPr>
          <a:lstStyle/>
          <a:p>
            <a:pPr algn="ctr">
              <a:spcBef>
                <a:spcPts val="0"/>
              </a:spcBef>
              <a:defRPr sz="1400" b="0">
                <a:solidFill>
                  <a:srgbClr val="E0E0E0"/>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50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50000"/>
            <a:ext cx="11000000" cy="700000"/>
          </a:xfrm>
          <a:prstGeom prst="rect">
            <a:avLst/>
          </a:prstGeom>
          <a:noFill/>
        </p:spPr>
        <p:txBody>
          <a:bodyPr wrap="square">
            <a:spAutoFit/>
          </a:bodyPr>
          <a:lstStyle/>
          <a:p>
            <a:pPr algn="l">
              <a:spcBef>
                <a:spcPts val="0"/>
              </a:spcBef>
              <a:defRPr sz="3200" b="1">
                <a:solidFill>
                  <a:srgbClr val="003366"/>
                </a:solidFill>
              </a:defRPr>
            </a:pPr>
            <a:r>
              <a:t>1.3 声子的手性与磁光拉曼效应</a:t>
            </a:r>
          </a:p>
        </p:txBody>
      </p:sp>
      <p:sp>
        <p:nvSpPr>
          <p:cNvPr id="6" name="Rectangle 5"/>
          <p:cNvSpPr/>
          <p:nvPr/>
        </p:nvSpPr>
        <p:spPr>
          <a:xfrm>
            <a:off x="500000" y="800000"/>
            <a:ext cx="1500000" cy="4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850000"/>
            <a:ext cx="11000000" cy="500000"/>
          </a:xfrm>
          <a:prstGeom prst="rect">
            <a:avLst/>
          </a:prstGeom>
          <a:noFill/>
        </p:spPr>
        <p:txBody>
          <a:bodyPr wrap="square">
            <a:spAutoFit/>
          </a:bodyPr>
          <a:lstStyle/>
          <a:p>
            <a:pPr algn="l">
              <a:spcBef>
                <a:spcPts val="0"/>
              </a:spcBef>
              <a:defRPr sz="2200" b="1">
                <a:solidFill>
                  <a:srgbClr val="1A4B8C"/>
                </a:solidFill>
              </a:defRPr>
            </a:pPr>
            <a:r>
              <a:t>声子角动量自由度：超越能量和动量的新维度</a:t>
            </a:r>
          </a:p>
        </p:txBody>
      </p:sp>
      <p:sp>
        <p:nvSpPr>
          <p:cNvPr id="8" name="Rounded Rectangle 7"/>
          <p:cNvSpPr/>
          <p:nvPr/>
        </p:nvSpPr>
        <p:spPr>
          <a:xfrm>
            <a:off x="400000" y="1300000"/>
            <a:ext cx="5500000" cy="2500000"/>
          </a:xfrm>
          <a:prstGeom prst="roundRect">
            <a:avLst/>
          </a:prstGeom>
          <a:solidFill>
            <a:srgbClr val="F0F7FF"/>
          </a:solidFill>
          <a:ln w="25400">
            <a:solidFill>
              <a:srgbClr val="1870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0000" y="1350000"/>
            <a:ext cx="5000000" cy="400000"/>
          </a:xfrm>
          <a:prstGeom prst="rect">
            <a:avLst/>
          </a:prstGeom>
          <a:noFill/>
        </p:spPr>
        <p:txBody>
          <a:bodyPr wrap="square">
            <a:spAutoFit/>
          </a:bodyPr>
          <a:lstStyle/>
          <a:p>
            <a:pPr algn="l">
              <a:spcBef>
                <a:spcPts val="0"/>
              </a:spcBef>
              <a:defRPr sz="2600" b="1">
                <a:solidFill>
                  <a:srgbClr val="003366"/>
                </a:solidFill>
              </a:defRPr>
            </a:pPr>
            <a:r>
              <a:t>手性声子</a:t>
            </a:r>
          </a:p>
        </p:txBody>
      </p:sp>
      <p:sp>
        <p:nvSpPr>
          <p:cNvPr id="10" name="TextBox 9"/>
          <p:cNvSpPr txBox="1"/>
          <p:nvPr/>
        </p:nvSpPr>
        <p:spPr>
          <a:xfrm>
            <a:off x="550000" y="1900000"/>
            <a:ext cx="5000000" cy="1800000"/>
          </a:xfrm>
          <a:prstGeom prst="rect">
            <a:avLst/>
          </a:prstGeom>
          <a:noFill/>
        </p:spPr>
        <p:txBody>
          <a:bodyPr wrap="square">
            <a:spAutoFit/>
          </a:bodyPr>
          <a:lstStyle/>
          <a:p>
            <a:pPr algn="l">
              <a:spcBef>
                <a:spcPts val="800"/>
              </a:spcBef>
              <a:defRPr sz="1800" b="0">
                <a:solidFill>
                  <a:srgbClr val="444444"/>
                </a:solidFill>
              </a:defRPr>
            </a:pPr>
            <a:r>
              <a:t>传统观点：声子不携带角动量</a:t>
            </a:r>
          </a:p>
          <a:p>
            <a:pPr algn="l">
              <a:spcBef>
                <a:spcPts val="800"/>
              </a:spcBef>
              <a:defRPr sz="1800" b="0">
                <a:solidFill>
                  <a:srgbClr val="444444"/>
                </a:solidFill>
              </a:defRPr>
            </a:pPr>
            <a:r>
              <a:t>2014年 张力发&amp;牛谦 -&gt; 声子可获得非零平均角动量</a:t>
            </a:r>
          </a:p>
          <a:p>
            <a:pPr algn="l">
              <a:spcBef>
                <a:spcPts val="800"/>
              </a:spcBef>
              <a:defRPr sz="1800" b="0">
                <a:solidFill>
                  <a:srgbClr val="444444"/>
                </a:solidFill>
              </a:defRPr>
            </a:pPr>
            <a:r>
              <a:t>2018年 Zhang&amp;Niu -&gt; 手性声子概念</a:t>
            </a:r>
          </a:p>
          <a:p>
            <a:pPr algn="l">
              <a:spcBef>
                <a:spcPts val="800"/>
              </a:spcBef>
              <a:defRPr sz="1800" b="0">
                <a:solidFill>
                  <a:srgbClr val="444444"/>
                </a:solidFill>
              </a:defRPr>
            </a:pPr>
            <a:r>
              <a:t>声子赝角动量：蜂窝晶格 / 单层WSe2</a:t>
            </a:r>
          </a:p>
          <a:p>
            <a:pPr algn="l">
              <a:spcBef>
                <a:spcPts val="800"/>
              </a:spcBef>
              <a:defRPr sz="1800" b="0">
                <a:solidFill>
                  <a:srgbClr val="444444"/>
                </a:solidFill>
              </a:defRPr>
            </a:pPr>
            <a:r>
              <a:t>外磁场下塞曼分裂 -&gt; 手性声子磁矩</a:t>
            </a:r>
          </a:p>
          <a:p>
            <a:pPr algn="l">
              <a:spcBef>
                <a:spcPts val="800"/>
              </a:spcBef>
              <a:defRPr sz="1800" b="0">
                <a:solidFill>
                  <a:srgbClr val="444444"/>
                </a:solidFill>
              </a:defRPr>
            </a:pPr>
            <a:r>
              <a:t>手性声子可旋转偏振光的旋度</a:t>
            </a:r>
          </a:p>
          <a:p>
            <a:pPr algn="l">
              <a:spcBef>
                <a:spcPts val="800"/>
              </a:spcBef>
              <a:defRPr sz="1800" b="0">
                <a:solidFill>
                  <a:srgbClr val="444444"/>
                </a:solidFill>
              </a:defRPr>
            </a:pPr>
            <a:r>
              <a:t>反映材料内部磁性关联</a:t>
            </a:r>
          </a:p>
        </p:txBody>
      </p:sp>
      <p:sp>
        <p:nvSpPr>
          <p:cNvPr id="11" name="Rounded Rectangle 10"/>
          <p:cNvSpPr/>
          <p:nvPr/>
        </p:nvSpPr>
        <p:spPr>
          <a:xfrm>
            <a:off x="6200000" y="1300000"/>
            <a:ext cx="5500000" cy="2500000"/>
          </a:xfrm>
          <a:prstGeom prst="roundRect">
            <a:avLst/>
          </a:prstGeom>
          <a:solidFill>
            <a:srgbClr val="FFF0F5"/>
          </a:solidFill>
          <a:ln w="25400">
            <a:solidFill>
              <a:srgbClr val="E91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0000" y="1350000"/>
            <a:ext cx="5000000" cy="400000"/>
          </a:xfrm>
          <a:prstGeom prst="rect">
            <a:avLst/>
          </a:prstGeom>
          <a:noFill/>
        </p:spPr>
        <p:txBody>
          <a:bodyPr wrap="square">
            <a:spAutoFit/>
          </a:bodyPr>
          <a:lstStyle/>
          <a:p>
            <a:pPr algn="l">
              <a:spcBef>
                <a:spcPts val="0"/>
              </a:spcBef>
              <a:defRPr sz="2600" b="1">
                <a:solidFill>
                  <a:srgbClr val="003366"/>
                </a:solidFill>
              </a:defRPr>
            </a:pPr>
            <a:r>
              <a:t>磁光拉曼效应</a:t>
            </a:r>
          </a:p>
        </p:txBody>
      </p:sp>
      <p:sp>
        <p:nvSpPr>
          <p:cNvPr id="13" name="TextBox 12"/>
          <p:cNvSpPr txBox="1"/>
          <p:nvPr/>
        </p:nvSpPr>
        <p:spPr>
          <a:xfrm>
            <a:off x="6350000" y="1900000"/>
            <a:ext cx="5000000" cy="1800000"/>
          </a:xfrm>
          <a:prstGeom prst="rect">
            <a:avLst/>
          </a:prstGeom>
          <a:noFill/>
        </p:spPr>
        <p:txBody>
          <a:bodyPr wrap="square">
            <a:spAutoFit/>
          </a:bodyPr>
          <a:lstStyle/>
          <a:p>
            <a:pPr algn="l">
              <a:spcBef>
                <a:spcPts val="800"/>
              </a:spcBef>
              <a:defRPr sz="1800" b="0">
                <a:solidFill>
                  <a:srgbClr val="444444"/>
                </a:solidFill>
              </a:defRPr>
            </a:pPr>
            <a:r>
              <a:t>外加磁场调制拉曼散射张量</a:t>
            </a:r>
          </a:p>
          <a:p>
            <a:pPr algn="l">
              <a:spcBef>
                <a:spcPts val="800"/>
              </a:spcBef>
              <a:defRPr sz="1800" b="0">
                <a:solidFill>
                  <a:srgbClr val="444444"/>
                </a:solidFill>
              </a:defRPr>
            </a:pPr>
            <a:r>
              <a:t>洛伦兹力 -&gt; 振荡偶极子旋转</a:t>
            </a:r>
          </a:p>
          <a:p>
            <a:pPr algn="l">
              <a:spcBef>
                <a:spcPts val="800"/>
              </a:spcBef>
              <a:defRPr sz="1800" b="0">
                <a:solidFill>
                  <a:srgbClr val="444444"/>
                </a:solidFill>
              </a:defRPr>
            </a:pPr>
            <a:r>
              <a:t>散射光偏振方向发生旋转</a:t>
            </a:r>
          </a:p>
          <a:p>
            <a:pPr algn="l">
              <a:spcBef>
                <a:spcPts val="800"/>
              </a:spcBef>
              <a:defRPr sz="1800" b="0">
                <a:solidFill>
                  <a:srgbClr val="444444"/>
                </a:solidFill>
              </a:defRPr>
            </a:pPr>
            <a:r>
              <a:t>典型结果：</a:t>
            </a:r>
          </a:p>
          <a:p>
            <a:pPr algn="l">
              <a:spcBef>
                <a:spcPts val="800"/>
              </a:spcBef>
              <a:defRPr sz="1800" b="0">
                <a:solidFill>
                  <a:srgbClr val="444444"/>
                </a:solidFill>
              </a:defRPr>
            </a:pPr>
            <a:r>
              <a:t>  Co3Sn2S2：Eg模式分裂1.27 cm-1</a:t>
            </a:r>
          </a:p>
          <a:p>
            <a:pPr algn="l">
              <a:spcBef>
                <a:spcPts val="800"/>
              </a:spcBef>
              <a:defRPr sz="1800" b="0">
                <a:solidFill>
                  <a:srgbClr val="444444"/>
                </a:solidFill>
              </a:defRPr>
            </a:pPr>
            <a:r>
              <a:t>  CoNb3S6：12T下偏振旋转80度</a:t>
            </a:r>
          </a:p>
          <a:p>
            <a:pPr algn="l">
              <a:spcBef>
                <a:spcPts val="800"/>
              </a:spcBef>
              <a:defRPr sz="1800" b="0">
                <a:solidFill>
                  <a:srgbClr val="444444"/>
                </a:solidFill>
              </a:defRPr>
            </a:pPr>
            <a:r>
              <a:t>线性声子也能产生巨大磁光响应</a:t>
            </a:r>
          </a:p>
        </p:txBody>
      </p:sp>
      <p:sp>
        <p:nvSpPr>
          <p:cNvPr id="14" name="Rounded Rectangle 13"/>
          <p:cNvSpPr/>
          <p:nvPr/>
        </p:nvSpPr>
        <p:spPr>
          <a:xfrm>
            <a:off x="400000" y="4000000"/>
            <a:ext cx="11200000" cy="2200000"/>
          </a:xfrm>
          <a:prstGeom prst="roundRect">
            <a:avLst/>
          </a:prstGeom>
          <a:solidFill>
            <a:srgbClr val="F0F7FF"/>
          </a:solidFill>
          <a:ln w="25400">
            <a:solidFill>
              <a:srgbClr val="1870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0000" y="4100000"/>
            <a:ext cx="10500000" cy="400000"/>
          </a:xfrm>
          <a:prstGeom prst="rect">
            <a:avLst/>
          </a:prstGeom>
          <a:noFill/>
        </p:spPr>
        <p:txBody>
          <a:bodyPr wrap="square">
            <a:spAutoFit/>
          </a:bodyPr>
          <a:lstStyle/>
          <a:p>
            <a:pPr algn="l">
              <a:spcBef>
                <a:spcPts val="0"/>
              </a:spcBef>
              <a:defRPr sz="2400" b="1">
                <a:solidFill>
                  <a:srgbClr val="1A4B8C"/>
                </a:solidFill>
              </a:defRPr>
            </a:pPr>
            <a:r>
              <a:t>【本论文核心工作 - CoNb3S6 声子特性】</a:t>
            </a:r>
          </a:p>
        </p:txBody>
      </p:sp>
      <p:sp>
        <p:nvSpPr>
          <p:cNvPr id="16" name="TextBox 15"/>
          <p:cNvSpPr txBox="1"/>
          <p:nvPr/>
        </p:nvSpPr>
        <p:spPr>
          <a:xfrm>
            <a:off x="550000" y="4600000"/>
            <a:ext cx="10500000" cy="1400000"/>
          </a:xfrm>
          <a:prstGeom prst="rect">
            <a:avLst/>
          </a:prstGeom>
          <a:noFill/>
        </p:spPr>
        <p:txBody>
          <a:bodyPr wrap="square">
            <a:spAutoFit/>
          </a:bodyPr>
          <a:lstStyle/>
          <a:p>
            <a:pPr algn="l">
              <a:spcBef>
                <a:spcPts val="1000"/>
              </a:spcBef>
              <a:defRPr sz="2000" b="0">
                <a:solidFill>
                  <a:srgbClr val="333333"/>
                </a:solidFill>
              </a:defRPr>
            </a:pPr>
            <a:r>
              <a:t>发现6支声子模式：4支线性声子 + 2支手性声子</a:t>
            </a:r>
          </a:p>
          <a:p>
            <a:pPr algn="l">
              <a:spcBef>
                <a:spcPts val="1000"/>
              </a:spcBef>
              <a:defRPr sz="2000" b="0">
                <a:solidFill>
                  <a:srgbClr val="333333"/>
                </a:solidFill>
              </a:defRPr>
            </a:pPr>
            <a:r>
              <a:t>线性声子 -&gt; 巨大磁光拉曼效应（12T下偏振旋转80度）</a:t>
            </a:r>
          </a:p>
          <a:p>
            <a:pPr algn="l">
              <a:spcBef>
                <a:spcPts val="1000"/>
              </a:spcBef>
              <a:defRPr sz="2000" b="0">
                <a:solidFill>
                  <a:srgbClr val="333333"/>
                </a:solidFill>
              </a:defRPr>
            </a:pPr>
            <a:r>
              <a:t>手性声子 -&gt; 未观察到随外磁场的旋转和能量劈裂</a:t>
            </a:r>
          </a:p>
          <a:p>
            <a:pPr algn="l">
              <a:spcBef>
                <a:spcPts val="1000"/>
              </a:spcBef>
              <a:defRPr sz="2000" b="0">
                <a:solidFill>
                  <a:srgbClr val="333333"/>
                </a:solidFill>
              </a:defRPr>
            </a:pPr>
            <a:r>
              <a:t>为手性声子体系及磁光调控提供了新的实验依据</a:t>
            </a:r>
          </a:p>
        </p:txBody>
      </p:sp>
      <p:sp>
        <p:nvSpPr>
          <p:cNvPr id="17" name="TextBox 16"/>
          <p:cNvSpPr txBox="1"/>
          <p:nvPr/>
        </p:nvSpPr>
        <p:spPr>
          <a:xfrm>
            <a:off x="11600000" y="6450000"/>
            <a:ext cx="500000" cy="350000"/>
          </a:xfrm>
          <a:prstGeom prst="rect">
            <a:avLst/>
          </a:prstGeom>
          <a:noFill/>
        </p:spPr>
        <p:txBody>
          <a:bodyPr wrap="square">
            <a:spAutoFit/>
          </a:bodyPr>
          <a:lstStyle/>
          <a:p>
            <a:pPr algn="ctr">
              <a:spcBef>
                <a:spcPts val="0"/>
              </a:spcBef>
              <a:defRPr sz="1400" b="0">
                <a:solidFill>
                  <a:srgbClr val="E0E0E0"/>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50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50000"/>
            <a:ext cx="11000000" cy="700000"/>
          </a:xfrm>
          <a:prstGeom prst="rect">
            <a:avLst/>
          </a:prstGeom>
          <a:noFill/>
        </p:spPr>
        <p:txBody>
          <a:bodyPr wrap="square">
            <a:spAutoFit/>
          </a:bodyPr>
          <a:lstStyle/>
          <a:p>
            <a:pPr algn="l">
              <a:spcBef>
                <a:spcPts val="0"/>
              </a:spcBef>
              <a:defRPr sz="3200" b="1">
                <a:solidFill>
                  <a:srgbClr val="003366"/>
                </a:solidFill>
              </a:defRPr>
            </a:pPr>
            <a:r>
              <a:t>1.4 红外光电探测器</a:t>
            </a:r>
          </a:p>
        </p:txBody>
      </p:sp>
      <p:sp>
        <p:nvSpPr>
          <p:cNvPr id="6" name="Rectangle 5"/>
          <p:cNvSpPr/>
          <p:nvPr/>
        </p:nvSpPr>
        <p:spPr>
          <a:xfrm>
            <a:off x="500000" y="800000"/>
            <a:ext cx="1500000" cy="4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850000"/>
            <a:ext cx="11000000" cy="500000"/>
          </a:xfrm>
          <a:prstGeom prst="rect">
            <a:avLst/>
          </a:prstGeom>
          <a:noFill/>
        </p:spPr>
        <p:txBody>
          <a:bodyPr wrap="square">
            <a:spAutoFit/>
          </a:bodyPr>
          <a:lstStyle/>
          <a:p>
            <a:pPr algn="l">
              <a:spcBef>
                <a:spcPts val="0"/>
              </a:spcBef>
              <a:defRPr sz="2200" b="1">
                <a:solidFill>
                  <a:srgbClr val="1A4B8C"/>
                </a:solidFill>
              </a:defRPr>
            </a:pPr>
            <a:r>
              <a:t>二维量子材料与拓扑材料 - 红外探测新机制</a:t>
            </a:r>
          </a:p>
        </p:txBody>
      </p:sp>
      <p:sp>
        <p:nvSpPr>
          <p:cNvPr id="8" name="Rounded Rectangle 7"/>
          <p:cNvSpPr/>
          <p:nvPr/>
        </p:nvSpPr>
        <p:spPr>
          <a:xfrm>
            <a:off x="400000" y="1300000"/>
            <a:ext cx="5500000" cy="5000000"/>
          </a:xfrm>
          <a:prstGeom prst="roundRect">
            <a:avLst/>
          </a:prstGeom>
          <a:solidFill>
            <a:srgbClr val="F0F7FF"/>
          </a:solidFill>
          <a:ln w="25400">
            <a:solidFill>
              <a:srgbClr val="1870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0000" y="1350000"/>
            <a:ext cx="5000000" cy="400000"/>
          </a:xfrm>
          <a:prstGeom prst="rect">
            <a:avLst/>
          </a:prstGeom>
          <a:noFill/>
        </p:spPr>
        <p:txBody>
          <a:bodyPr wrap="square">
            <a:spAutoFit/>
          </a:bodyPr>
          <a:lstStyle/>
          <a:p>
            <a:pPr algn="l">
              <a:spcBef>
                <a:spcPts val="0"/>
              </a:spcBef>
              <a:defRPr sz="2400" b="1">
                <a:solidFill>
                  <a:srgbClr val="003366"/>
                </a:solidFill>
              </a:defRPr>
            </a:pPr>
            <a:r>
              <a:t>材料体系</a:t>
            </a:r>
          </a:p>
        </p:txBody>
      </p:sp>
      <p:sp>
        <p:nvSpPr>
          <p:cNvPr id="10" name="TextBox 9"/>
          <p:cNvSpPr txBox="1"/>
          <p:nvPr/>
        </p:nvSpPr>
        <p:spPr>
          <a:xfrm>
            <a:off x="550000" y="1900000"/>
            <a:ext cx="5000000" cy="4000000"/>
          </a:xfrm>
          <a:prstGeom prst="rect">
            <a:avLst/>
          </a:prstGeom>
          <a:noFill/>
        </p:spPr>
        <p:txBody>
          <a:bodyPr wrap="square">
            <a:spAutoFit/>
          </a:bodyPr>
          <a:lstStyle/>
          <a:p>
            <a:pPr algn="l">
              <a:spcBef>
                <a:spcPts val="300"/>
              </a:spcBef>
              <a:defRPr sz="1700" b="0">
                <a:solidFill>
                  <a:srgbClr val="555555"/>
                </a:solidFill>
              </a:defRPr>
            </a:pPr>
            <a:r>
              <a:t>拓扑绝缘体：</a:t>
            </a:r>
          </a:p>
          <a:p>
            <a:pPr algn="l">
              <a:spcBef>
                <a:spcPts val="300"/>
              </a:spcBef>
              <a:defRPr sz="1700" b="0">
                <a:solidFill>
                  <a:srgbClr val="555555"/>
                </a:solidFill>
              </a:defRPr>
            </a:pPr>
            <a:r>
              <a:t>  Bi2Se3, Bi2Te3, Sb2Te3</a:t>
            </a:r>
          </a:p>
          <a:p>
            <a:pPr algn="l">
              <a:spcBef>
                <a:spcPts val="300"/>
              </a:spcBef>
              <a:defRPr sz="1700" b="0">
                <a:solidFill>
                  <a:srgbClr val="555555"/>
                </a:solidFill>
              </a:defRPr>
            </a:pPr>
            <a:r>
              <a:t>  窄带隙 + 高迁移率表面态</a:t>
            </a:r>
          </a:p>
          <a:p>
            <a:pPr algn="l">
              <a:spcBef>
                <a:spcPts val="300"/>
              </a:spcBef>
              <a:defRPr sz="1700" b="0">
                <a:solidFill>
                  <a:srgbClr val="555555"/>
                </a:solidFill>
              </a:defRPr>
            </a:pPr>
            <a:r>
              <a:t>  可见光-近红外响应度10^2-10^3 A/W</a:t>
            </a:r>
          </a:p>
          <a:p>
            <a:pPr algn="l">
              <a:spcBef>
                <a:spcPts val="300"/>
              </a:spcBef>
              <a:defRPr sz="1700" b="0">
                <a:solidFill>
                  <a:srgbClr val="555555"/>
                </a:solidFill>
              </a:defRPr>
            </a:pPr>
          </a:p>
          <a:p>
            <a:pPr algn="l">
              <a:spcBef>
                <a:spcPts val="300"/>
              </a:spcBef>
              <a:defRPr sz="1700" b="0">
                <a:solidFill>
                  <a:srgbClr val="555555"/>
                </a:solidFill>
              </a:defRPr>
            </a:pPr>
            <a:r>
              <a:t>二维材料：</a:t>
            </a:r>
          </a:p>
          <a:p>
            <a:pPr algn="l">
              <a:spcBef>
                <a:spcPts val="300"/>
              </a:spcBef>
              <a:defRPr sz="1700" b="0">
                <a:solidFill>
                  <a:srgbClr val="555555"/>
                </a:solidFill>
              </a:defRPr>
            </a:pPr>
            <a:r>
              <a:t>  石墨烯, 黑磷(BP), TMDs</a:t>
            </a:r>
          </a:p>
          <a:p>
            <a:pPr algn="l">
              <a:spcBef>
                <a:spcPts val="300"/>
              </a:spcBef>
              <a:defRPr sz="1700" b="0">
                <a:solidFill>
                  <a:srgbClr val="555555"/>
                </a:solidFill>
              </a:defRPr>
            </a:pPr>
            <a:r>
              <a:t>  层数可调带隙：0.3-1.5 eV</a:t>
            </a:r>
          </a:p>
          <a:p>
            <a:pPr algn="l">
              <a:spcBef>
                <a:spcPts val="300"/>
              </a:spcBef>
              <a:defRPr sz="1700" b="0">
                <a:solidFill>
                  <a:srgbClr val="555555"/>
                </a:solidFill>
              </a:defRPr>
            </a:pPr>
          </a:p>
          <a:p>
            <a:pPr algn="l">
              <a:spcBef>
                <a:spcPts val="300"/>
              </a:spcBef>
              <a:defRPr sz="1700" b="0">
                <a:solidFill>
                  <a:srgbClr val="555555"/>
                </a:solidFill>
              </a:defRPr>
            </a:pPr>
            <a:r>
              <a:t>拓扑半金属：</a:t>
            </a:r>
          </a:p>
          <a:p>
            <a:pPr algn="l">
              <a:spcBef>
                <a:spcPts val="300"/>
              </a:spcBef>
              <a:defRPr sz="1700" b="0">
                <a:solidFill>
                  <a:srgbClr val="555555"/>
                </a:solidFill>
              </a:defRPr>
            </a:pPr>
            <a:r>
              <a:t>  TaAs (Type-I WSM), TaIrTe4 (Type-II WSM)</a:t>
            </a:r>
          </a:p>
          <a:p>
            <a:pPr algn="l">
              <a:spcBef>
                <a:spcPts val="300"/>
              </a:spcBef>
              <a:defRPr sz="1700" b="0">
                <a:solidFill>
                  <a:srgbClr val="555555"/>
                </a:solidFill>
              </a:defRPr>
            </a:pPr>
            <a:r>
              <a:t>  贝里曲率增强位移电流</a:t>
            </a:r>
          </a:p>
          <a:p>
            <a:pPr algn="l">
              <a:spcBef>
                <a:spcPts val="300"/>
              </a:spcBef>
              <a:defRPr sz="1700" b="0">
                <a:solidFill>
                  <a:srgbClr val="555555"/>
                </a:solidFill>
              </a:defRPr>
            </a:pPr>
            <a:r>
              <a:t>  中红外-太赫兹非线性光电响应</a:t>
            </a:r>
          </a:p>
          <a:p>
            <a:pPr algn="l">
              <a:spcBef>
                <a:spcPts val="300"/>
              </a:spcBef>
              <a:defRPr sz="1700" b="0">
                <a:solidFill>
                  <a:srgbClr val="555555"/>
                </a:solidFill>
              </a:defRPr>
            </a:pPr>
          </a:p>
          <a:p>
            <a:pPr algn="l">
              <a:spcBef>
                <a:spcPts val="300"/>
              </a:spcBef>
              <a:defRPr sz="1700" b="0">
                <a:solidFill>
                  <a:srgbClr val="555555"/>
                </a:solidFill>
              </a:defRPr>
            </a:pPr>
            <a:r>
              <a:t>呼吸笼目晶格 Nb3X8：</a:t>
            </a:r>
          </a:p>
          <a:p>
            <a:pPr algn="l">
              <a:spcBef>
                <a:spcPts val="300"/>
              </a:spcBef>
              <a:defRPr sz="1700" b="0">
                <a:solidFill>
                  <a:srgbClr val="555555"/>
                </a:solidFill>
              </a:defRPr>
            </a:pPr>
            <a:r>
              <a:t>  电子平带 + 声子平带特性</a:t>
            </a:r>
          </a:p>
          <a:p>
            <a:pPr algn="l">
              <a:spcBef>
                <a:spcPts val="300"/>
              </a:spcBef>
              <a:defRPr sz="1700" b="0">
                <a:solidFill>
                  <a:srgbClr val="555555"/>
                </a:solidFill>
              </a:defRPr>
            </a:pPr>
            <a:r>
              <a:t>  关联绝缘态 -&gt; 宽光谱探测</a:t>
            </a:r>
          </a:p>
        </p:txBody>
      </p:sp>
      <p:sp>
        <p:nvSpPr>
          <p:cNvPr id="11" name="Rounded Rectangle 10"/>
          <p:cNvSpPr/>
          <p:nvPr/>
        </p:nvSpPr>
        <p:spPr>
          <a:xfrm>
            <a:off x="6200000" y="1300000"/>
            <a:ext cx="5500000" cy="2800000"/>
          </a:xfrm>
          <a:prstGeom prst="roundRect">
            <a:avLst/>
          </a:prstGeom>
          <a:solidFill>
            <a:srgbClr val="FFF8F0"/>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0000" y="1350000"/>
            <a:ext cx="5000000" cy="400000"/>
          </a:xfrm>
          <a:prstGeom prst="rect">
            <a:avLst/>
          </a:prstGeom>
          <a:noFill/>
        </p:spPr>
        <p:txBody>
          <a:bodyPr wrap="square">
            <a:spAutoFit/>
          </a:bodyPr>
          <a:lstStyle/>
          <a:p>
            <a:pPr algn="l">
              <a:spcBef>
                <a:spcPts val="0"/>
              </a:spcBef>
              <a:defRPr sz="2400" b="1">
                <a:solidFill>
                  <a:srgbClr val="003366"/>
                </a:solidFill>
              </a:defRPr>
            </a:pPr>
            <a:r>
              <a:t>主要工作机制</a:t>
            </a:r>
          </a:p>
        </p:txBody>
      </p:sp>
      <p:sp>
        <p:nvSpPr>
          <p:cNvPr id="13" name="TextBox 12"/>
          <p:cNvSpPr txBox="1"/>
          <p:nvPr/>
        </p:nvSpPr>
        <p:spPr>
          <a:xfrm>
            <a:off x="6350000" y="1900000"/>
            <a:ext cx="5000000" cy="2000000"/>
          </a:xfrm>
          <a:prstGeom prst="rect">
            <a:avLst/>
          </a:prstGeom>
          <a:noFill/>
        </p:spPr>
        <p:txBody>
          <a:bodyPr wrap="square">
            <a:spAutoFit/>
          </a:bodyPr>
          <a:lstStyle/>
          <a:p>
            <a:pPr algn="l">
              <a:spcBef>
                <a:spcPts val="400"/>
              </a:spcBef>
              <a:defRPr sz="1700" b="0">
                <a:solidFill>
                  <a:srgbClr val="555555"/>
                </a:solidFill>
              </a:defRPr>
            </a:pPr>
            <a:r>
              <a:t>1. 光电导效应 (PCE)</a:t>
            </a:r>
          </a:p>
          <a:p>
            <a:pPr algn="l">
              <a:spcBef>
                <a:spcPts val="400"/>
              </a:spcBef>
              <a:defRPr sz="1700" b="0">
                <a:solidFill>
                  <a:srgbClr val="555555"/>
                </a:solidFill>
              </a:defRPr>
            </a:pPr>
            <a:r>
              <a:t>   光子能量 &gt; 带隙 -&gt; 电子空穴对</a:t>
            </a:r>
          </a:p>
          <a:p>
            <a:pPr algn="l">
              <a:spcBef>
                <a:spcPts val="400"/>
              </a:spcBef>
              <a:defRPr sz="1700" b="0">
                <a:solidFill>
                  <a:srgbClr val="555555"/>
                </a:solidFill>
              </a:defRPr>
            </a:pPr>
            <a:r>
              <a:t>2. 光栅压效应 (PE)</a:t>
            </a:r>
          </a:p>
          <a:p>
            <a:pPr algn="l">
              <a:spcBef>
                <a:spcPts val="400"/>
              </a:spcBef>
              <a:defRPr sz="1700" b="0">
                <a:solidFill>
                  <a:srgbClr val="555555"/>
                </a:solidFill>
              </a:defRPr>
            </a:pPr>
            <a:r>
              <a:t>   陷阱态调制阈值电压</a:t>
            </a:r>
          </a:p>
          <a:p>
            <a:pPr algn="l">
              <a:spcBef>
                <a:spcPts val="400"/>
              </a:spcBef>
              <a:defRPr sz="1700" b="0">
                <a:solidFill>
                  <a:srgbClr val="555555"/>
                </a:solidFill>
              </a:defRPr>
            </a:pPr>
            <a:r>
              <a:t>3. 体光伏效应 (BPVE)</a:t>
            </a:r>
          </a:p>
          <a:p>
            <a:pPr algn="l">
              <a:spcBef>
                <a:spcPts val="400"/>
              </a:spcBef>
              <a:defRPr sz="1700" b="0">
                <a:solidFill>
                  <a:srgbClr val="555555"/>
                </a:solidFill>
              </a:defRPr>
            </a:pPr>
            <a:r>
              <a:t>   非对称势场 -&gt; 净光电流</a:t>
            </a:r>
          </a:p>
          <a:p>
            <a:pPr algn="l">
              <a:spcBef>
                <a:spcPts val="400"/>
              </a:spcBef>
              <a:defRPr sz="1700" b="0">
                <a:solidFill>
                  <a:srgbClr val="555555"/>
                </a:solidFill>
              </a:defRPr>
            </a:pPr>
            <a:r>
              <a:t>4. 光热电效应 (PTE)</a:t>
            </a:r>
          </a:p>
          <a:p>
            <a:pPr algn="l">
              <a:spcBef>
                <a:spcPts val="400"/>
              </a:spcBef>
              <a:defRPr sz="1700" b="0">
                <a:solidFill>
                  <a:srgbClr val="555555"/>
                </a:solidFill>
              </a:defRPr>
            </a:pPr>
            <a:r>
              <a:t>   温差 -&gt; 塞贝克电压</a:t>
            </a:r>
          </a:p>
          <a:p>
            <a:pPr algn="l">
              <a:spcBef>
                <a:spcPts val="400"/>
              </a:spcBef>
              <a:defRPr sz="1700" b="0">
                <a:solidFill>
                  <a:srgbClr val="555555"/>
                </a:solidFill>
              </a:defRPr>
            </a:pPr>
            <a:r>
              <a:t>5. 辐射热效应 (Bolometer)</a:t>
            </a:r>
          </a:p>
          <a:p>
            <a:pPr algn="l">
              <a:spcBef>
                <a:spcPts val="400"/>
              </a:spcBef>
              <a:defRPr sz="1700" b="0">
                <a:solidFill>
                  <a:srgbClr val="555555"/>
                </a:solidFill>
              </a:defRPr>
            </a:pPr>
            <a:r>
              <a:t>   温度变化 -&gt; 电阻变化</a:t>
            </a:r>
          </a:p>
        </p:txBody>
      </p:sp>
      <p:sp>
        <p:nvSpPr>
          <p:cNvPr id="14" name="Rounded Rectangle 13"/>
          <p:cNvSpPr/>
          <p:nvPr/>
        </p:nvSpPr>
        <p:spPr>
          <a:xfrm>
            <a:off x="6200000" y="4300000"/>
            <a:ext cx="5500000" cy="2000000"/>
          </a:xfrm>
          <a:prstGeom prst="roundRect">
            <a:avLst/>
          </a:prstGeom>
          <a:solidFill>
            <a:srgbClr val="F0F7FF"/>
          </a:solidFill>
          <a:ln w="25400">
            <a:solidFill>
              <a:srgbClr val="1870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0000" y="4350000"/>
            <a:ext cx="5000000" cy="400000"/>
          </a:xfrm>
          <a:prstGeom prst="rect">
            <a:avLst/>
          </a:prstGeom>
          <a:noFill/>
        </p:spPr>
        <p:txBody>
          <a:bodyPr wrap="square">
            <a:spAutoFit/>
          </a:bodyPr>
          <a:lstStyle/>
          <a:p>
            <a:pPr algn="l">
              <a:spcBef>
                <a:spcPts val="0"/>
              </a:spcBef>
              <a:defRPr sz="2400" b="1">
                <a:solidFill>
                  <a:srgbClr val="003366"/>
                </a:solidFill>
              </a:defRPr>
            </a:pPr>
            <a:r>
              <a:t>关键性能参数</a:t>
            </a:r>
          </a:p>
        </p:txBody>
      </p:sp>
      <p:sp>
        <p:nvSpPr>
          <p:cNvPr id="16" name="TextBox 15"/>
          <p:cNvSpPr txBox="1"/>
          <p:nvPr/>
        </p:nvSpPr>
        <p:spPr>
          <a:xfrm>
            <a:off x="6350000" y="4850000"/>
            <a:ext cx="5000000" cy="1200000"/>
          </a:xfrm>
          <a:prstGeom prst="rect">
            <a:avLst/>
          </a:prstGeom>
          <a:noFill/>
        </p:spPr>
        <p:txBody>
          <a:bodyPr wrap="square">
            <a:spAutoFit/>
          </a:bodyPr>
          <a:lstStyle/>
          <a:p>
            <a:pPr algn="l">
              <a:spcBef>
                <a:spcPts val="600"/>
              </a:spcBef>
              <a:defRPr sz="1700" b="0">
                <a:solidFill>
                  <a:srgbClr val="444444"/>
                </a:solidFill>
              </a:defRPr>
            </a:pPr>
            <a:r>
              <a:t>R = I_photo / P_light      (响应度 A/W)</a:t>
            </a:r>
          </a:p>
          <a:p>
            <a:pPr algn="l">
              <a:spcBef>
                <a:spcPts val="600"/>
              </a:spcBef>
              <a:defRPr sz="1700" b="0">
                <a:solidFill>
                  <a:srgbClr val="444444"/>
                </a:solidFill>
              </a:defRPr>
            </a:pPr>
            <a:r>
              <a:t>NEP = i_n / R               (噪声等效功率)</a:t>
            </a:r>
          </a:p>
          <a:p>
            <a:pPr algn="l">
              <a:spcBef>
                <a:spcPts val="600"/>
              </a:spcBef>
              <a:defRPr sz="1700" b="0">
                <a:solidFill>
                  <a:srgbClr val="444444"/>
                </a:solidFill>
              </a:defRPr>
            </a:pPr>
            <a:r>
              <a:t>D* = R * sqrt(A*B) / i_n   (比探测率 Jones)</a:t>
            </a:r>
          </a:p>
          <a:p>
            <a:pPr algn="l">
              <a:spcBef>
                <a:spcPts val="600"/>
              </a:spcBef>
              <a:defRPr sz="1700" b="0">
                <a:solidFill>
                  <a:srgbClr val="444444"/>
                </a:solidFill>
              </a:defRPr>
            </a:pPr>
            <a:r>
              <a:t>响应时间 tau (上升/衰减)</a:t>
            </a:r>
          </a:p>
        </p:txBody>
      </p:sp>
      <p:sp>
        <p:nvSpPr>
          <p:cNvPr id="17" name="TextBox 16"/>
          <p:cNvSpPr txBox="1"/>
          <p:nvPr/>
        </p:nvSpPr>
        <p:spPr>
          <a:xfrm>
            <a:off x="11600000" y="6450000"/>
            <a:ext cx="500000" cy="350000"/>
          </a:xfrm>
          <a:prstGeom prst="rect">
            <a:avLst/>
          </a:prstGeom>
          <a:noFill/>
        </p:spPr>
        <p:txBody>
          <a:bodyPr wrap="square">
            <a:spAutoFit/>
          </a:bodyPr>
          <a:lstStyle/>
          <a:p>
            <a:pPr algn="ctr">
              <a:spcBef>
                <a:spcPts val="0"/>
              </a:spcBef>
              <a:defRPr sz="1400" b="0">
                <a:solidFill>
                  <a:srgbClr val="E0E0E0"/>
                </a:solidFill>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50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50000"/>
            <a:ext cx="11000000" cy="700000"/>
          </a:xfrm>
          <a:prstGeom prst="rect">
            <a:avLst/>
          </a:prstGeom>
          <a:noFill/>
        </p:spPr>
        <p:txBody>
          <a:bodyPr wrap="square">
            <a:spAutoFit/>
          </a:bodyPr>
          <a:lstStyle/>
          <a:p>
            <a:pPr algn="l">
              <a:spcBef>
                <a:spcPts val="0"/>
              </a:spcBef>
              <a:defRPr sz="3200" b="1">
                <a:solidFill>
                  <a:srgbClr val="003366"/>
                </a:solidFill>
              </a:defRPr>
            </a:pPr>
            <a:r>
              <a:t>1.5 论文组织结构及创新点</a:t>
            </a:r>
          </a:p>
        </p:txBody>
      </p:sp>
      <p:sp>
        <p:nvSpPr>
          <p:cNvPr id="6" name="Rectangle 5"/>
          <p:cNvSpPr/>
          <p:nvPr/>
        </p:nvSpPr>
        <p:spPr>
          <a:xfrm>
            <a:off x="500000" y="800000"/>
            <a:ext cx="1500000" cy="4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850000"/>
            <a:ext cx="11000000" cy="500000"/>
          </a:xfrm>
          <a:prstGeom prst="rect">
            <a:avLst/>
          </a:prstGeom>
          <a:noFill/>
        </p:spPr>
        <p:txBody>
          <a:bodyPr wrap="square">
            <a:spAutoFit/>
          </a:bodyPr>
          <a:lstStyle/>
          <a:p>
            <a:pPr algn="l">
              <a:spcBef>
                <a:spcPts val="0"/>
              </a:spcBef>
              <a:defRPr sz="2200" b="1">
                <a:solidFill>
                  <a:srgbClr val="1A4B8C"/>
                </a:solidFill>
              </a:defRPr>
            </a:pPr>
            <a:r>
              <a:t>三个核心研究内容 - 电子 + 声子 + 光电</a:t>
            </a:r>
          </a:p>
        </p:txBody>
      </p:sp>
      <p:sp>
        <p:nvSpPr>
          <p:cNvPr id="8" name="Rounded Rectangle 7"/>
          <p:cNvSpPr/>
          <p:nvPr/>
        </p:nvSpPr>
        <p:spPr>
          <a:xfrm>
            <a:off x="400000" y="1400000"/>
            <a:ext cx="11200000" cy="1500000"/>
          </a:xfrm>
          <a:prstGeom prst="roundRect">
            <a:avLst/>
          </a:prstGeom>
          <a:solidFill>
            <a:srgbClr val="F8F9FA"/>
          </a:solidFill>
          <a:ln w="38100">
            <a:solidFill>
              <a:srgbClr val="1870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00000" y="1400000"/>
            <a:ext cx="150000" cy="1500000"/>
          </a:xfrm>
          <a:prstGeom prst="rect">
            <a:avLst/>
          </a:prstGeom>
          <a:solidFill>
            <a:srgbClr val="187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0000" y="1900000"/>
            <a:ext cx="500000" cy="500000"/>
          </a:xfrm>
          <a:prstGeom prst="ellipse">
            <a:avLst/>
          </a:prstGeom>
          <a:solidFill>
            <a:srgbClr val="187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defRPr>
            </a:pPr>
            <a:r>
              <a:t>1</a:t>
            </a:r>
          </a:p>
        </p:txBody>
      </p:sp>
      <p:sp>
        <p:nvSpPr>
          <p:cNvPr id="11" name="TextBox 10"/>
          <p:cNvSpPr txBox="1"/>
          <p:nvPr/>
        </p:nvSpPr>
        <p:spPr>
          <a:xfrm>
            <a:off x="1300000" y="1500000"/>
            <a:ext cx="9800000" cy="400000"/>
          </a:xfrm>
          <a:prstGeom prst="rect">
            <a:avLst/>
          </a:prstGeom>
          <a:noFill/>
        </p:spPr>
        <p:txBody>
          <a:bodyPr wrap="square">
            <a:spAutoFit/>
          </a:bodyPr>
          <a:lstStyle/>
          <a:p>
            <a:pPr algn="l">
              <a:spcBef>
                <a:spcPts val="0"/>
              </a:spcBef>
              <a:defRPr sz="2400" b="1">
                <a:solidFill>
                  <a:srgbClr val="003366"/>
                </a:solidFill>
              </a:defRPr>
            </a:pPr>
            <a:r>
              <a:t>工作一：ZrAs2 中的极大不饱和磁阻与手性反常</a:t>
            </a:r>
          </a:p>
        </p:txBody>
      </p:sp>
      <p:sp>
        <p:nvSpPr>
          <p:cNvPr id="12" name="TextBox 11"/>
          <p:cNvSpPr txBox="1"/>
          <p:nvPr/>
        </p:nvSpPr>
        <p:spPr>
          <a:xfrm>
            <a:off x="1300000" y="1950000"/>
            <a:ext cx="9800000" cy="900000"/>
          </a:xfrm>
          <a:prstGeom prst="rect">
            <a:avLst/>
          </a:prstGeom>
          <a:noFill/>
        </p:spPr>
        <p:txBody>
          <a:bodyPr wrap="square">
            <a:spAutoFit/>
          </a:bodyPr>
          <a:lstStyle/>
          <a:p>
            <a:pPr algn="l">
              <a:spcBef>
                <a:spcPts val="500"/>
              </a:spcBef>
              <a:defRPr sz="1800" b="0">
                <a:solidFill>
                  <a:srgbClr val="666666"/>
                </a:solidFill>
              </a:defRPr>
            </a:pPr>
            <a:r>
              <a:t>材料：拓扑节线半金属 ZrAs2</a:t>
            </a:r>
          </a:p>
          <a:p>
            <a:pPr algn="l">
              <a:spcBef>
                <a:spcPts val="500"/>
              </a:spcBef>
              <a:defRPr sz="1800" b="0">
                <a:solidFill>
                  <a:srgbClr val="666666"/>
                </a:solidFill>
              </a:defRPr>
            </a:pPr>
            <a:r>
              <a:t>方法：低温电输运测量 + 理论计算</a:t>
            </a:r>
          </a:p>
          <a:p>
            <a:pPr algn="l">
              <a:spcBef>
                <a:spcPts val="500"/>
              </a:spcBef>
              <a:defRPr sz="1800" b="0">
                <a:solidFill>
                  <a:srgbClr val="666666"/>
                </a:solidFill>
              </a:defRPr>
            </a:pPr>
            <a:r>
              <a:t>发现：极大不饱和磁阻，电子-空穴补偿与SdH振荡解析费米面</a:t>
            </a:r>
          </a:p>
        </p:txBody>
      </p:sp>
      <p:sp>
        <p:nvSpPr>
          <p:cNvPr id="13" name="Rounded Rectangle 12"/>
          <p:cNvSpPr/>
          <p:nvPr/>
        </p:nvSpPr>
        <p:spPr>
          <a:xfrm>
            <a:off x="400000" y="3100000"/>
            <a:ext cx="11200000" cy="1500000"/>
          </a:xfrm>
          <a:prstGeom prst="roundRect">
            <a:avLst/>
          </a:prstGeom>
          <a:solidFill>
            <a:srgbClr val="F8F9FA"/>
          </a:solidFill>
          <a:ln w="381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00000" y="3100000"/>
            <a:ext cx="150000" cy="15000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0000" y="3600000"/>
            <a:ext cx="500000" cy="500000"/>
          </a:xfrm>
          <a:prstGeom prst="ellips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defRPr>
            </a:pPr>
            <a:r>
              <a:t>2</a:t>
            </a:r>
          </a:p>
        </p:txBody>
      </p:sp>
      <p:sp>
        <p:nvSpPr>
          <p:cNvPr id="16" name="TextBox 15"/>
          <p:cNvSpPr txBox="1"/>
          <p:nvPr/>
        </p:nvSpPr>
        <p:spPr>
          <a:xfrm>
            <a:off x="1300000" y="3200000"/>
            <a:ext cx="9800000" cy="400000"/>
          </a:xfrm>
          <a:prstGeom prst="rect">
            <a:avLst/>
          </a:prstGeom>
          <a:noFill/>
        </p:spPr>
        <p:txBody>
          <a:bodyPr wrap="square">
            <a:spAutoFit/>
          </a:bodyPr>
          <a:lstStyle/>
          <a:p>
            <a:pPr algn="l">
              <a:spcBef>
                <a:spcPts val="0"/>
              </a:spcBef>
              <a:defRPr sz="2400" b="1">
                <a:solidFill>
                  <a:srgbClr val="003366"/>
                </a:solidFill>
              </a:defRPr>
            </a:pPr>
            <a:r>
              <a:t>工作二：CoNb3S6 中的拓扑三阶非线性霍尔效应</a:t>
            </a:r>
          </a:p>
        </p:txBody>
      </p:sp>
      <p:sp>
        <p:nvSpPr>
          <p:cNvPr id="17" name="TextBox 16"/>
          <p:cNvSpPr txBox="1"/>
          <p:nvPr/>
        </p:nvSpPr>
        <p:spPr>
          <a:xfrm>
            <a:off x="1300000" y="3650000"/>
            <a:ext cx="9800000" cy="900000"/>
          </a:xfrm>
          <a:prstGeom prst="rect">
            <a:avLst/>
          </a:prstGeom>
          <a:noFill/>
        </p:spPr>
        <p:txBody>
          <a:bodyPr wrap="square">
            <a:spAutoFit/>
          </a:bodyPr>
          <a:lstStyle/>
          <a:p>
            <a:pPr algn="l">
              <a:spcBef>
                <a:spcPts val="500"/>
              </a:spcBef>
              <a:defRPr sz="1800" b="0">
                <a:solidFill>
                  <a:srgbClr val="666666"/>
                </a:solidFill>
              </a:defRPr>
            </a:pPr>
            <a:r>
              <a:t>材料：手性反铁磁体 CoNb3S6</a:t>
            </a:r>
          </a:p>
          <a:p>
            <a:pPr algn="l">
              <a:spcBef>
                <a:spcPts val="500"/>
              </a:spcBef>
              <a:defRPr sz="1800" b="0">
                <a:solidFill>
                  <a:srgbClr val="666666"/>
                </a:solidFill>
              </a:defRPr>
            </a:pPr>
            <a:r>
              <a:t>方法：非线性电输运 + 对称性分析 + 第一性原理</a:t>
            </a:r>
          </a:p>
          <a:p>
            <a:pPr algn="l">
              <a:spcBef>
                <a:spcPts val="500"/>
              </a:spcBef>
              <a:defRPr sz="1800" b="0">
                <a:solidFill>
                  <a:srgbClr val="666666"/>
                </a:solidFill>
              </a:defRPr>
            </a:pPr>
            <a:r>
              <a:t>发现：三阶信号仅在TN以下出现，起源为贝里曲率四极矩</a:t>
            </a:r>
          </a:p>
        </p:txBody>
      </p:sp>
      <p:sp>
        <p:nvSpPr>
          <p:cNvPr id="18" name="Rounded Rectangle 17"/>
          <p:cNvSpPr/>
          <p:nvPr/>
        </p:nvSpPr>
        <p:spPr>
          <a:xfrm>
            <a:off x="400000" y="4800000"/>
            <a:ext cx="11200000" cy="1500000"/>
          </a:xfrm>
          <a:prstGeom prst="roundRect">
            <a:avLst/>
          </a:prstGeom>
          <a:solidFill>
            <a:srgbClr val="F8F9FA"/>
          </a:solidFill>
          <a:ln w="381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00000" y="4800000"/>
            <a:ext cx="150000" cy="15000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0000" y="5300000"/>
            <a:ext cx="500000" cy="50000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defRPr>
            </a:pPr>
            <a:r>
              <a:t>3</a:t>
            </a:r>
          </a:p>
        </p:txBody>
      </p:sp>
      <p:sp>
        <p:nvSpPr>
          <p:cNvPr id="21" name="TextBox 20"/>
          <p:cNvSpPr txBox="1"/>
          <p:nvPr/>
        </p:nvSpPr>
        <p:spPr>
          <a:xfrm>
            <a:off x="1300000" y="4900000"/>
            <a:ext cx="9800000" cy="400000"/>
          </a:xfrm>
          <a:prstGeom prst="rect">
            <a:avLst/>
          </a:prstGeom>
          <a:noFill/>
        </p:spPr>
        <p:txBody>
          <a:bodyPr wrap="square">
            <a:spAutoFit/>
          </a:bodyPr>
          <a:lstStyle/>
          <a:p>
            <a:pPr algn="l">
              <a:spcBef>
                <a:spcPts val="0"/>
              </a:spcBef>
              <a:defRPr sz="2400" b="1">
                <a:solidFill>
                  <a:srgbClr val="003366"/>
                </a:solidFill>
              </a:defRPr>
            </a:pPr>
            <a:r>
              <a:t>工作三：CoNb3S6 中的手性声子与磁光拉曼效应</a:t>
            </a:r>
          </a:p>
        </p:txBody>
      </p:sp>
      <p:sp>
        <p:nvSpPr>
          <p:cNvPr id="22" name="TextBox 21"/>
          <p:cNvSpPr txBox="1"/>
          <p:nvPr/>
        </p:nvSpPr>
        <p:spPr>
          <a:xfrm>
            <a:off x="1300000" y="5350000"/>
            <a:ext cx="9800000" cy="900000"/>
          </a:xfrm>
          <a:prstGeom prst="rect">
            <a:avLst/>
          </a:prstGeom>
          <a:noFill/>
        </p:spPr>
        <p:txBody>
          <a:bodyPr wrap="square">
            <a:spAutoFit/>
          </a:bodyPr>
          <a:lstStyle/>
          <a:p>
            <a:pPr algn="l">
              <a:spcBef>
                <a:spcPts val="500"/>
              </a:spcBef>
              <a:defRPr sz="1800" b="0">
                <a:solidFill>
                  <a:srgbClr val="666666"/>
                </a:solidFill>
              </a:defRPr>
            </a:pPr>
            <a:r>
              <a:t>材料：手性反铁磁体 CoNb3S6</a:t>
            </a:r>
          </a:p>
          <a:p>
            <a:pPr algn="l">
              <a:spcBef>
                <a:spcPts val="500"/>
              </a:spcBef>
              <a:defRPr sz="1800" b="0">
                <a:solidFill>
                  <a:srgbClr val="666666"/>
                </a:solidFill>
              </a:defRPr>
            </a:pPr>
            <a:r>
              <a:t>方法：偏振/磁场/温度依赖拉曼光谱 + DFT计算</a:t>
            </a:r>
          </a:p>
          <a:p>
            <a:pPr algn="l">
              <a:spcBef>
                <a:spcPts val="500"/>
              </a:spcBef>
              <a:defRPr sz="1800" b="0">
                <a:solidFill>
                  <a:srgbClr val="666666"/>
                </a:solidFill>
              </a:defRPr>
            </a:pPr>
            <a:r>
              <a:t>发现：4支线性声子+2支手性声子，12T下偏振旋转80度</a:t>
            </a:r>
          </a:p>
        </p:txBody>
      </p:sp>
      <p:sp>
        <p:nvSpPr>
          <p:cNvPr id="23" name="TextBox 22"/>
          <p:cNvSpPr txBox="1"/>
          <p:nvPr/>
        </p:nvSpPr>
        <p:spPr>
          <a:xfrm>
            <a:off x="11600000" y="6450000"/>
            <a:ext cx="500000" cy="350000"/>
          </a:xfrm>
          <a:prstGeom prst="rect">
            <a:avLst/>
          </a:prstGeom>
          <a:noFill/>
        </p:spPr>
        <p:txBody>
          <a:bodyPr wrap="square">
            <a:spAutoFit/>
          </a:bodyPr>
          <a:lstStyle/>
          <a:p>
            <a:pPr algn="ctr">
              <a:spcBef>
                <a:spcPts val="0"/>
              </a:spcBef>
              <a:defRPr sz="1400" b="0">
                <a:solidFill>
                  <a:srgbClr val="E0E0E0"/>
                </a:solidFill>
              </a:defRPr>
            </a:pPr>
            <a: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