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是杨浩，来自凝聚态物理专业。今天我汇报的题目是《拓扑量子材料中的输运与光电特性的研究》。本论文围绕新型拓扑量子材料的线性磁输运、非线性输运效应、手性声子以及红外光电探测展开研究。以下是我的选题背景介绍。</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将从以下三个部分进行汇报。第一部分介绍选题背景，包括拓扑量子材料的分类、霍尔效应、手性声子和红外光电探测器等前沿研究方向。第二部分详细介绍本论文的三个主要研究内容。第三部分对全文工作进行总结。</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下面进入第一部分：选题背景。拓扑量子材料是当前凝聚态物理领域最活跃的研究方向之一。我将从材料分类、霍尔效应、声子物理以及光电探测四个方面进行介绍。</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拓扑量子材料的起源可以追溯到整数量子霍尔效应。在强磁场下，二维电子气产生量子化的霍尔平台，纵向电阻趋近于零。2005年，Kane和Mele提出无需外加磁场的量子自旋霍尔效应，引入了Z2拓扑不变量。2007年，Fu、Kane和Mele预言，随后Hasan等人发现三维拓扑绝缘体Bi1-xSbx，开启了三维拓扑物态研究的新篇章。拓扑绝缘体的核心特征是体态绝缘而表面存在受拓扑保护的无能隙狄拉克锥表面态。</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根据能带结构的节点特征，拓扑半金属可以分为三类。第一类是狄拉克半金属，如Na3Bi和Cd3As2，它们在费米面附近形成四重简并的狄拉克点。第二类是外尔半金属，当时间反演或空间反演对称性破缺时，狄拉克点分裂成手性外尔点，如TaAs。2015年首次在TaAs中实验观测到。第三类是节线半金属，导带和价带的交叉形成一条线而非孤立的点，如ZrSiS和本论文研究的ZrAs2体系。</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霍尔效应是研究电子输运性质的重要窗口。普通霍尔效应源于洛伦兹力。反常霍尔效应无需外磁场即可产生横向电压，其微观机制分为外禀的斜散射和边跳机制，以及内禀的贝里曲率贡献。拓扑霍尔效应则来源于磁结构的拓扑性质，特别是非共面自旋结构产生的标量自旋手性。本论文的研究超越了传统的线性霍尔效应框架，重点探讨了三阶非线性霍尔效应。</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当研究范式从线性响应扩展到非线性输运后，霍尔效应受到的对称性限制被打破。二阶非线性霍尔效应由贝里曲率偶极子产生。三阶非线性霍尔效应则由贝里联络极化率和贝里曲率四极矩主导。本论文在手性反铁磁材料CoNb3S6中发现了拓扑三阶非线性霍尔效应，其物理起源被证明是贝里曲率四极矩。三阶非线性信号对费米面结构的演化表现得比一阶线性响应更加敏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声子通常被认为只携带能量和动量。但2014年张力发和牛谦提出在自旋声子耦合体系中，声子可以获得非零平均角动量。手性声子与能谷自由度密切相关。磁光拉曼效应揭示了外加磁场对晶格振动的调控作用。在本论文的工作中，我对手性反铁磁材料CoNb3S6进行了系统的拉曼光谱研究，发现了6支声子模式，其中4支是线性声子，2支是手性声子。线性声子表现出巨大的磁光拉曼效应，在12特斯拉磁场下可产生高达80度的偏振旋转。</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红外光电探测器在夜视成像、热辐射探测、遥感分析等领域有重要应用。拓扑绝缘体如Bi2Se3同时具有窄带隙体态和高迁移率表面态。拓扑半金属如TaAs的强贝里曲率可以显著增强位移电流。呼吸笼目晶格Nb3I8同时具有电子平带和声子平带特性。本论文第五章研究了基于Nb3I8的黑体敏感自适应超宽带光电探测器。</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论文围绕三个核心研究内容展开。工作一：研究拓扑节线半金属ZrAs2在外加磁场下的电输运性质，发现了低温下极大的不饱和磁阻效应。工作二：在手性反铁磁CoNb3S6中发现了拓扑三阶非线性霍尔效应，其物理起源为贝里曲率四极矩。工作三：对CoNb3S6进行了系统的拉曼光谱研究，发现了6支声子模式。三个工作分别覆盖了线性磁输运、非线性输运效应和声子物理三个方向。</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下面进入第二部分：研究内容。我将依次汇报四个主要研究工作。</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第一个工作：研究拓扑节线半金属ZrAs2。我们通过电输运测量和理论计算，系统研究了ZrAs2在外加磁场下的电输运性质，发现了低温下极大的不饱和磁阻效应，并通过SdH量子振荡解析了费米面结构。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rAs2属于AT2系列拓扑节线半金属，具有四方晶系的I4/mmm空间群。虽然同系列的ZrSiS等材料已被广泛研究，但ZrAs2的实验研究仍较少。我们的研究目的是系统测量ZrAs2的磁输运性质，通过SdH量子振荡解析费米面结构，并探索其与手性反常现象的关联。</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们在ZrAs2中发现了几个重要结果。第一，低温下观察到极大的不饱和磁阻效应，在14特斯拉磁场下仍未饱和，主要来源于电子-空穴补偿机制。第二，通过低温强磁场下的量子振荡测量，我们提取了四个SdH振荡频率，对应多个费米面口袋。第三，平行电磁场条件下观察到负磁阻，结合非平庸的pi贝里相位，证明了ZrAs2具有拓扑非平庸电子结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第二个工作：研究手性反铁磁材料CoNb3S6中的拓扑三阶非线性霍尔效应。这是一个全新的物理发现——在手性反铁磁有序相中，除了传统的一阶拓扑霍尔效应外，还存在显著的三阶非线性霍尔响应。</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b3S6具有六方空间群P6322，Co原子插层在2H-NbS2层之间，形成手性晶体结构。其all-in-all-out型非共面反铁磁结构破坏了时间反演对称性。我们通过化学气相输运法生长了高质量单晶，并制备了标准霍尔构型的微纳器件，使用交流锁相技术同时测量一阶线性响应和三阶非线性响应。</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是本论文最重要的发现之一。我们首先通过对称性分析证明了磁点群32'下所有二阶非线性电导张量分量均被严格禁止。然而，三阶非线性霍尔响应在反铁磁有序相下显著出现。理论建模表明，三阶响应的物理起源是all-in-all-out非共面磁结构诱导的贝里曲率四极矩。值得注意的是，这一非平庸拓扑完全不需要自旋轨道耦合，而是由磁结构本身的几何相位产生。在接近反铁磁转变温度时，我们观察到标志性的符号翻转行为。</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第三个工作：同样在CoNb3S6体系中，我们研究了声子动力学。通过偏振依赖、磁场依赖和温度依赖的拉曼光谱，我们发现了6支声子模式，其中4支线性声子和2支手性声子。线性声子表现出巨大的磁光拉曼效应。</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同一个CoNb3S6体系中，我们研究了6支拉曼活性声子模式。其中4支是线性声子，它们表现出巨大的磁光拉曼效应，在12特斯拉磁场下可产生高达80度的偏振旋转。然而，2支手性声子模式却没有观察到随外磁场的旋转或能量分裂。这一对比结果非常有意义——它表明线性声子和手性声子对磁场的响应行为完全不同，为理解声子-磁场耦合提供了新的实验平台。</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第四个工作：研究二维呼吸笼目晶格半导体Nb3I8在红外光电探测中的应用。Nb3I8具有独特的电子平带和声子平带特性，这为高性能红外探测提供了全新的物理机制。</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b3I8是一种具有呼吸笼目晶格的二维半导体。其核心特色是同时具有电子平带和声子平带。电子平带产生高态密度，增强短波红外区域的光吸收。声子平带导致低声子群速度和低热导率，室温热导率低至1.12瓦每米开尔文，产生高热局域化效应。这两种平带特性协同作用，实现了从短波红外到超长波红外的宽谱探测，为基于量子平带材料的新型红外光电器件提供了新的设计思路。</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下面进入第三部分：总结与展望。我将从四个研究工作的核心发现出发，总结本论文的主要创新点和贡献。</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总结四个研究工作。工作一揭示了ZrAs2的拓扑物理特性，发现了极大的不饱和磁阻和手性反常。工作二在手性反铁磁CoNb3S6中发现了拓扑三阶非线性霍尔效应，其物理起源为贝里曲率四极矩，无需SOC。工作三系统研究了CoNb3S6的声子特性，发现巨大的磁光拉曼效应。工作四利用Nb3I8的电子平带和声子平带协同机制，实现了宽谱红外探测。</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博士期间以第一作者身份发表/投稿了4篇论文。其中ZrAs2的工作已发表于Frontiers in Physics。其余三篇工作正在投稿或待发表过程中。</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我的汇报到此结束，感谢各位专家的聆听。恳请各位专家批评指正。谢谢！</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130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0000" y="210000"/>
            <a:ext cx="4000000" cy="600000"/>
          </a:xfrm>
          <a:prstGeom prst="rect">
            <a:avLst/>
          </a:prstGeom>
          <a:noFill/>
        </p:spPr>
        <p:txBody>
          <a:bodyPr wrap="square">
            <a:spAutoFit/>
          </a:bodyPr>
          <a:lstStyle/>
          <a:p>
            <a:pPr algn="l">
              <a:spcBef>
                <a:spcPts val="0"/>
              </a:spcBef>
              <a:defRPr sz="1800" b="1">
                <a:solidFill>
                  <a:srgbClr val="E0E0E0"/>
                </a:solidFill>
              </a:defRPr>
            </a:pPr>
            <a:r>
              <a:t>浙江大学物理学院</a:t>
            </a:r>
          </a:p>
        </p:txBody>
      </p:sp>
      <p:sp>
        <p:nvSpPr>
          <p:cNvPr id="6" name="TextBox 5"/>
          <p:cNvSpPr txBox="1"/>
          <p:nvPr/>
        </p:nvSpPr>
        <p:spPr>
          <a:xfrm>
            <a:off x="800000" y="300000"/>
            <a:ext cx="4000000" cy="600000"/>
          </a:xfrm>
          <a:prstGeom prst="rect">
            <a:avLst/>
          </a:prstGeom>
          <a:noFill/>
        </p:spPr>
        <p:txBody>
          <a:bodyPr wrap="square">
            <a:spAutoFit/>
          </a:bodyPr>
          <a:lstStyle/>
          <a:p>
            <a:pPr algn="l">
              <a:spcBef>
                <a:spcPts val="0"/>
              </a:spcBef>
              <a:defRPr sz="2200" b="1">
                <a:solidFill>
                  <a:srgbClr val="FFD700"/>
                </a:solidFill>
              </a:defRPr>
            </a:pPr>
            <a:r>
              <a:t>求是创新</a:t>
            </a:r>
          </a:p>
        </p:txBody>
      </p:sp>
      <p:sp>
        <p:nvSpPr>
          <p:cNvPr id="7" name="TextBox 6"/>
          <p:cNvSpPr txBox="1"/>
          <p:nvPr/>
        </p:nvSpPr>
        <p:spPr>
          <a:xfrm>
            <a:off x="800000" y="1200000"/>
            <a:ext cx="10500000" cy="1800000"/>
          </a:xfrm>
          <a:prstGeom prst="rect">
            <a:avLst/>
          </a:prstGeom>
          <a:noFill/>
        </p:spPr>
        <p:txBody>
          <a:bodyPr wrap="square">
            <a:spAutoFit/>
          </a:bodyPr>
          <a:lstStyle/>
          <a:p>
            <a:pPr algn="ctr">
              <a:spcBef>
                <a:spcPts val="0"/>
              </a:spcBef>
              <a:defRPr sz="3800" b="1">
                <a:solidFill>
                  <a:srgbClr val="FFFFFF"/>
                </a:solidFill>
              </a:defRPr>
            </a:pPr>
            <a:r>
              <a:t>拓扑量子材料中的输运与光电特性的研究</a:t>
            </a:r>
          </a:p>
        </p:txBody>
      </p:sp>
      <p:sp>
        <p:nvSpPr>
          <p:cNvPr id="8" name="Rectangle 7"/>
          <p:cNvSpPr/>
          <p:nvPr/>
        </p:nvSpPr>
        <p:spPr>
          <a:xfrm>
            <a:off x="4000000" y="3100000"/>
            <a:ext cx="4192000" cy="30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000" y="3400000"/>
            <a:ext cx="10500000" cy="3000000"/>
          </a:xfrm>
          <a:prstGeom prst="rect">
            <a:avLst/>
          </a:prstGeom>
          <a:noFill/>
        </p:spPr>
        <p:txBody>
          <a:bodyPr wrap="square">
            <a:spAutoFit/>
          </a:bodyPr>
          <a:lstStyle/>
          <a:p>
            <a:pPr algn="ctr">
              <a:spcBef>
                <a:spcPts val="800"/>
              </a:spcBef>
              <a:defRPr sz="2000" b="0">
                <a:solidFill>
                  <a:srgbClr val="E0E0E0"/>
                </a:solidFill>
              </a:defRPr>
            </a:pPr>
            <a:r>
              <a:t>答辩人：杨浩</a:t>
            </a:r>
          </a:p>
          <a:p>
            <a:pPr algn="ctr">
              <a:spcBef>
                <a:spcPts val="800"/>
              </a:spcBef>
              <a:defRPr sz="2000" b="0">
                <a:solidFill>
                  <a:srgbClr val="E0E0E0"/>
                </a:solidFill>
              </a:defRPr>
            </a:pPr>
            <a:r>
              <a:t>学号：12136014</a:t>
            </a:r>
          </a:p>
          <a:p>
            <a:pPr algn="ctr">
              <a:spcBef>
                <a:spcPts val="800"/>
              </a:spcBef>
              <a:defRPr sz="2000" b="0">
                <a:solidFill>
                  <a:srgbClr val="E0E0E0"/>
                </a:solidFill>
              </a:defRPr>
            </a:pPr>
            <a:r>
              <a:t>指导教师：许祝安 教授</a:t>
            </a:r>
          </a:p>
          <a:p>
            <a:pPr algn="ctr">
              <a:spcBef>
                <a:spcPts val="800"/>
              </a:spcBef>
              <a:defRPr sz="2000" b="0">
                <a:solidFill>
                  <a:srgbClr val="E0E0E0"/>
                </a:solidFill>
              </a:defRPr>
            </a:pPr>
            <a:r>
              <a:t>          李林军 副教授</a:t>
            </a:r>
          </a:p>
          <a:p>
            <a:pPr algn="ctr">
              <a:spcBef>
                <a:spcPts val="800"/>
              </a:spcBef>
              <a:defRPr sz="2000" b="0">
                <a:solidFill>
                  <a:srgbClr val="E0E0E0"/>
                </a:solidFill>
              </a:defRPr>
            </a:pPr>
            <a:r>
              <a:t>学科专业：凝聚态物理</a:t>
            </a:r>
          </a:p>
          <a:p>
            <a:pPr algn="ctr">
              <a:spcBef>
                <a:spcPts val="800"/>
              </a:spcBef>
              <a:defRPr sz="2000" b="0">
                <a:solidFill>
                  <a:srgbClr val="E0E0E0"/>
                </a:solidFill>
              </a:defRPr>
            </a:pPr>
            <a:r>
              <a:t>研究方向：拓扑量子材料</a:t>
            </a:r>
          </a:p>
          <a:p>
            <a:pPr algn="ctr">
              <a:spcBef>
                <a:spcPts val="800"/>
              </a:spcBef>
              <a:defRPr sz="2000" b="0">
                <a:solidFill>
                  <a:srgbClr val="E0E0E0"/>
                </a:solidFill>
              </a:defRPr>
            </a:pPr>
            <a:r>
              <a:t>答辩日期：2026年4月</a:t>
            </a:r>
          </a:p>
        </p:txBody>
      </p:sp>
      <p:sp>
        <p:nvSpPr>
          <p:cNvPr id="10" name="TextBox 9"/>
          <p:cNvSpPr txBox="1"/>
          <p:nvPr/>
        </p:nvSpPr>
        <p:spPr>
          <a:xfrm>
            <a:off x="11200000" y="6400000"/>
            <a:ext cx="800000" cy="400000"/>
          </a:xfrm>
          <a:prstGeom prst="rect">
            <a:avLst/>
          </a:prstGeom>
          <a:noFill/>
        </p:spPr>
        <p:txBody>
          <a:bodyPr wrap="square">
            <a:spAutoFit/>
          </a:bodyPr>
          <a:lstStyle/>
          <a:p>
            <a:pPr algn="ctr">
              <a:spcBef>
                <a:spcPts val="0"/>
              </a:spcBef>
              <a:defRPr sz="1400" b="0">
                <a:solidFill>
                  <a:srgbClr val="E0E0E0"/>
                </a:solidFil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1000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00000" y="100000"/>
            <a:ext cx="11500000" cy="800000"/>
          </a:xfrm>
          <a:prstGeom prst="rect">
            <a:avLst/>
          </a:prstGeom>
          <a:noFill/>
        </p:spPr>
        <p:txBody>
          <a:bodyPr wrap="square">
            <a:spAutoFit/>
          </a:bodyPr>
          <a:lstStyle/>
          <a:p>
            <a:pPr algn="ctr">
              <a:spcBef>
                <a:spcPts val="0"/>
              </a:spcBef>
              <a:defRPr sz="3600" b="1">
                <a:solidFill>
                  <a:srgbClr val="FFFFFF"/>
                </a:solidFill>
              </a:defRPr>
            </a:pPr>
            <a:r>
              <a:t>目录</a:t>
            </a:r>
          </a:p>
        </p:txBody>
      </p:sp>
      <p:sp>
        <p:nvSpPr>
          <p:cNvPr id="6" name="Oval 5"/>
          <p:cNvSpPr/>
          <p:nvPr/>
        </p:nvSpPr>
        <p:spPr>
          <a:xfrm>
            <a:off x="600000" y="1200000"/>
            <a:ext cx="600000" cy="600000"/>
          </a:xfrm>
          <a:prstGeom prst="ellipse">
            <a:avLst/>
          </a:prstGeom>
          <a:solidFill>
            <a:srgbClr val="1870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FFFFFF"/>
                </a:solidFill>
              </a:defRPr>
            </a:pPr>
            <a:r>
              <a:t>01</a:t>
            </a:r>
          </a:p>
        </p:txBody>
      </p:sp>
      <p:sp>
        <p:nvSpPr>
          <p:cNvPr id="7" name="TextBox 6"/>
          <p:cNvSpPr txBox="1"/>
          <p:nvPr/>
        </p:nvSpPr>
        <p:spPr>
          <a:xfrm>
            <a:off x="1400000" y="1250000"/>
            <a:ext cx="10000000" cy="600000"/>
          </a:xfrm>
          <a:prstGeom prst="rect">
            <a:avLst/>
          </a:prstGeom>
          <a:noFill/>
        </p:spPr>
        <p:txBody>
          <a:bodyPr wrap="square">
            <a:spAutoFit/>
          </a:bodyPr>
          <a:lstStyle/>
          <a:p>
            <a:pPr algn="l">
              <a:spcBef>
                <a:spcPts val="0"/>
              </a:spcBef>
              <a:defRPr sz="3000" b="1">
                <a:solidFill>
                  <a:srgbClr val="003366"/>
                </a:solidFill>
              </a:defRPr>
            </a:pPr>
            <a:r>
              <a:t>选题背景</a:t>
            </a:r>
          </a:p>
        </p:txBody>
      </p:sp>
      <p:sp>
        <p:nvSpPr>
          <p:cNvPr id="8" name="TextBox 7"/>
          <p:cNvSpPr txBox="1"/>
          <p:nvPr/>
        </p:nvSpPr>
        <p:spPr>
          <a:xfrm>
            <a:off x="1400000" y="1700000"/>
            <a:ext cx="10200000" cy="1200000"/>
          </a:xfrm>
          <a:prstGeom prst="rect">
            <a:avLst/>
          </a:prstGeom>
          <a:noFill/>
        </p:spPr>
        <p:txBody>
          <a:bodyPr wrap="square">
            <a:spAutoFit/>
          </a:bodyPr>
          <a:lstStyle/>
          <a:p>
            <a:pPr algn="l">
              <a:spcBef>
                <a:spcPts val="400"/>
              </a:spcBef>
              <a:defRPr sz="1600" b="0">
                <a:solidFill>
                  <a:srgbClr val="666666"/>
                </a:solidFill>
              </a:defRPr>
            </a:pPr>
            <a:r>
              <a:t>拓扑量子材料分类、霍尔效应、手性声子、红外光电探测器</a:t>
            </a:r>
          </a:p>
        </p:txBody>
      </p:sp>
      <p:sp>
        <p:nvSpPr>
          <p:cNvPr id="9" name="Oval 8"/>
          <p:cNvSpPr/>
          <p:nvPr/>
        </p:nvSpPr>
        <p:spPr>
          <a:xfrm>
            <a:off x="600000" y="2900000"/>
            <a:ext cx="600000" cy="600000"/>
          </a:xfrm>
          <a:prstGeom prst="ellipse">
            <a:avLst/>
          </a:prstGeom>
          <a:solidFill>
            <a:srgbClr val="1870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FFFFFF"/>
                </a:solidFill>
              </a:defRPr>
            </a:pPr>
            <a:r>
              <a:t>02</a:t>
            </a:r>
          </a:p>
        </p:txBody>
      </p:sp>
      <p:sp>
        <p:nvSpPr>
          <p:cNvPr id="10" name="TextBox 9"/>
          <p:cNvSpPr txBox="1"/>
          <p:nvPr/>
        </p:nvSpPr>
        <p:spPr>
          <a:xfrm>
            <a:off x="1400000" y="2950000"/>
            <a:ext cx="10000000" cy="600000"/>
          </a:xfrm>
          <a:prstGeom prst="rect">
            <a:avLst/>
          </a:prstGeom>
          <a:noFill/>
        </p:spPr>
        <p:txBody>
          <a:bodyPr wrap="square">
            <a:spAutoFit/>
          </a:bodyPr>
          <a:lstStyle/>
          <a:p>
            <a:pPr algn="l">
              <a:spcBef>
                <a:spcPts val="0"/>
              </a:spcBef>
              <a:defRPr sz="3000" b="1">
                <a:solidFill>
                  <a:srgbClr val="003366"/>
                </a:solidFill>
              </a:defRPr>
            </a:pPr>
            <a:r>
              <a:t>研究内容</a:t>
            </a:r>
          </a:p>
        </p:txBody>
      </p:sp>
      <p:sp>
        <p:nvSpPr>
          <p:cNvPr id="11" name="TextBox 10"/>
          <p:cNvSpPr txBox="1"/>
          <p:nvPr/>
        </p:nvSpPr>
        <p:spPr>
          <a:xfrm>
            <a:off x="1400000" y="3400000"/>
            <a:ext cx="10200000" cy="1200000"/>
          </a:xfrm>
          <a:prstGeom prst="rect">
            <a:avLst/>
          </a:prstGeom>
          <a:noFill/>
        </p:spPr>
        <p:txBody>
          <a:bodyPr wrap="square">
            <a:spAutoFit/>
          </a:bodyPr>
          <a:lstStyle/>
          <a:p>
            <a:pPr algn="l">
              <a:spcBef>
                <a:spcPts val="400"/>
              </a:spcBef>
              <a:defRPr sz="1600" b="0">
                <a:solidFill>
                  <a:srgbClr val="666666"/>
                </a:solidFill>
              </a:defRPr>
            </a:pPr>
            <a:r>
              <a:t>ZrAs2 中的极大不饱和磁阻与手性反常现象</a:t>
            </a:r>
          </a:p>
          <a:p>
            <a:pPr algn="l">
              <a:spcBef>
                <a:spcPts val="400"/>
              </a:spcBef>
              <a:defRPr sz="1600" b="0">
                <a:solidFill>
                  <a:srgbClr val="666666"/>
                </a:solidFill>
              </a:defRPr>
            </a:pPr>
            <a:r>
              <a:t>CoNb3S6 中的拓扑三阶非线性霍尔效应</a:t>
            </a:r>
          </a:p>
          <a:p>
            <a:pPr algn="l">
              <a:spcBef>
                <a:spcPts val="400"/>
              </a:spcBef>
              <a:defRPr sz="1600" b="0">
                <a:solidFill>
                  <a:srgbClr val="666666"/>
                </a:solidFill>
              </a:defRPr>
            </a:pPr>
            <a:r>
              <a:t>CoNb3S6 中的手性声子与巨大的磁光拉曼效应</a:t>
            </a:r>
          </a:p>
          <a:p>
            <a:pPr algn="l">
              <a:spcBef>
                <a:spcPts val="400"/>
              </a:spcBef>
              <a:defRPr sz="1600" b="0">
                <a:solidFill>
                  <a:srgbClr val="666666"/>
                </a:solidFill>
              </a:defRPr>
            </a:pPr>
            <a:r>
              <a:t>基于Nb3I8的自适应黑体敏感的宽带红外探测器</a:t>
            </a:r>
          </a:p>
        </p:txBody>
      </p:sp>
      <p:sp>
        <p:nvSpPr>
          <p:cNvPr id="12" name="Oval 11"/>
          <p:cNvSpPr/>
          <p:nvPr/>
        </p:nvSpPr>
        <p:spPr>
          <a:xfrm>
            <a:off x="600000" y="4600000"/>
            <a:ext cx="600000" cy="600000"/>
          </a:xfrm>
          <a:prstGeom prst="ellipse">
            <a:avLst/>
          </a:prstGeom>
          <a:solidFill>
            <a:srgbClr val="1870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FFFFFF"/>
                </a:solidFill>
              </a:defRPr>
            </a:pPr>
            <a:r>
              <a:t>03</a:t>
            </a:r>
          </a:p>
        </p:txBody>
      </p:sp>
      <p:sp>
        <p:nvSpPr>
          <p:cNvPr id="13" name="TextBox 12"/>
          <p:cNvSpPr txBox="1"/>
          <p:nvPr/>
        </p:nvSpPr>
        <p:spPr>
          <a:xfrm>
            <a:off x="1400000" y="4650000"/>
            <a:ext cx="10000000" cy="600000"/>
          </a:xfrm>
          <a:prstGeom prst="rect">
            <a:avLst/>
          </a:prstGeom>
          <a:noFill/>
        </p:spPr>
        <p:txBody>
          <a:bodyPr wrap="square">
            <a:spAutoFit/>
          </a:bodyPr>
          <a:lstStyle/>
          <a:p>
            <a:pPr algn="l">
              <a:spcBef>
                <a:spcPts val="0"/>
              </a:spcBef>
              <a:defRPr sz="3000" b="1">
                <a:solidFill>
                  <a:srgbClr val="003366"/>
                </a:solidFill>
              </a:defRPr>
            </a:pPr>
            <a:r>
              <a:t>研究总结</a:t>
            </a:r>
          </a:p>
        </p:txBody>
      </p:sp>
      <p:sp>
        <p:nvSpPr>
          <p:cNvPr id="14" name="TextBox 13"/>
          <p:cNvSpPr txBox="1"/>
          <p:nvPr/>
        </p:nvSpPr>
        <p:spPr>
          <a:xfrm>
            <a:off x="1400000" y="5100000"/>
            <a:ext cx="10200000" cy="1200000"/>
          </a:xfrm>
          <a:prstGeom prst="rect">
            <a:avLst/>
          </a:prstGeom>
          <a:noFill/>
        </p:spPr>
        <p:txBody>
          <a:bodyPr wrap="square">
            <a:spAutoFit/>
          </a:bodyPr>
          <a:lstStyle/>
          <a:p>
            <a:pPr algn="l">
              <a:spcBef>
                <a:spcPts val="400"/>
              </a:spcBef>
              <a:defRPr sz="1600" b="0">
                <a:solidFill>
                  <a:srgbClr val="666666"/>
                </a:solidFill>
              </a:defRPr>
            </a:pPr>
            <a:r>
              <a:t>核心发现与创新点总结</a:t>
            </a:r>
          </a:p>
        </p:txBody>
      </p:sp>
      <p:sp>
        <p:nvSpPr>
          <p:cNvPr id="15" name="TextBox 14"/>
          <p:cNvSpPr txBox="1"/>
          <p:nvPr/>
        </p:nvSpPr>
        <p:spPr>
          <a:xfrm>
            <a:off x="11200000" y="6400000"/>
            <a:ext cx="800000" cy="400000"/>
          </a:xfrm>
          <a:prstGeom prst="rect">
            <a:avLst/>
          </a:prstGeom>
          <a:noFill/>
        </p:spPr>
        <p:txBody>
          <a:bodyPr wrap="square">
            <a:spAutoFit/>
          </a:bodyPr>
          <a:lstStyle/>
          <a:p>
            <a:pPr algn="ctr">
              <a:spcBef>
                <a:spcPts val="0"/>
              </a:spcBef>
              <a:defRPr sz="1400" b="0">
                <a:solidFill>
                  <a:srgbClr val="E0E0E0"/>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0000" y="1800000"/>
            <a:ext cx="3000000" cy="2000000"/>
          </a:xfrm>
          <a:prstGeom prst="rect">
            <a:avLst/>
          </a:prstGeom>
          <a:noFill/>
        </p:spPr>
        <p:txBody>
          <a:bodyPr wrap="square">
            <a:spAutoFit/>
          </a:bodyPr>
          <a:lstStyle/>
          <a:p>
            <a:pPr algn="l">
              <a:spcBef>
                <a:spcPts val="0"/>
              </a:spcBef>
              <a:defRPr sz="8000" b="1">
                <a:solidFill>
                  <a:srgbClr val="1870B6"/>
                </a:solidFill>
              </a:defRPr>
            </a:pPr>
            <a:r>
              <a:t>01</a:t>
            </a:r>
          </a:p>
        </p:txBody>
      </p:sp>
      <p:sp>
        <p:nvSpPr>
          <p:cNvPr id="6" name="TextBox 5"/>
          <p:cNvSpPr txBox="1"/>
          <p:nvPr/>
        </p:nvSpPr>
        <p:spPr>
          <a:xfrm>
            <a:off x="800000" y="2800000"/>
            <a:ext cx="10000000" cy="1000000"/>
          </a:xfrm>
          <a:prstGeom prst="rect">
            <a:avLst/>
          </a:prstGeom>
          <a:noFill/>
        </p:spPr>
        <p:txBody>
          <a:bodyPr wrap="square">
            <a:spAutoFit/>
          </a:bodyPr>
          <a:lstStyle/>
          <a:p>
            <a:pPr algn="l">
              <a:spcBef>
                <a:spcPts val="0"/>
              </a:spcBef>
              <a:defRPr sz="5200" b="1">
                <a:solidFill>
                  <a:srgbClr val="FFFFFF"/>
                </a:solidFill>
              </a:defRPr>
            </a:pPr>
            <a:r>
              <a:t>选题背景</a:t>
            </a:r>
          </a:p>
        </p:txBody>
      </p:sp>
      <p:sp>
        <p:nvSpPr>
          <p:cNvPr id="7" name="Rectangle 6"/>
          <p:cNvSpPr/>
          <p:nvPr/>
        </p:nvSpPr>
        <p:spPr>
          <a:xfrm>
            <a:off x="800000" y="3900000"/>
            <a:ext cx="3000000" cy="30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4100000"/>
            <a:ext cx="10000000" cy="800000"/>
          </a:xfrm>
          <a:prstGeom prst="rect">
            <a:avLst/>
          </a:prstGeom>
          <a:noFill/>
        </p:spPr>
        <p:txBody>
          <a:bodyPr wrap="square">
            <a:spAutoFit/>
          </a:bodyPr>
          <a:lstStyle/>
          <a:p>
            <a:pPr algn="l">
              <a:spcBef>
                <a:spcPts val="0"/>
              </a:spcBef>
              <a:defRPr sz="2400" b="0">
                <a:solidFill>
                  <a:srgbClr val="E0E0E0"/>
                </a:solidFill>
              </a:defRPr>
            </a:pPr>
            <a:r>
              <a:t>拓扑量子材料的分类与前沿输运/光电现象</a:t>
            </a:r>
          </a:p>
        </p:txBody>
      </p:sp>
      <p:sp>
        <p:nvSpPr>
          <p:cNvPr id="9" name="TextBox 8"/>
          <p:cNvSpPr txBox="1"/>
          <p:nvPr/>
        </p:nvSpPr>
        <p:spPr>
          <a:xfrm>
            <a:off x="11200000" y="6400000"/>
            <a:ext cx="800000" cy="400000"/>
          </a:xfrm>
          <a:prstGeom prst="rect">
            <a:avLst/>
          </a:prstGeom>
          <a:noFill/>
        </p:spPr>
        <p:txBody>
          <a:bodyPr wrap="square">
            <a:spAutoFit/>
          </a:bodyPr>
          <a:lstStyle/>
          <a:p>
            <a:pPr algn="ctr">
              <a:spcBef>
                <a:spcPts val="0"/>
              </a:spcBef>
              <a:defRPr sz="1400" b="0">
                <a:solidFill>
                  <a:srgbClr val="E0E0E0"/>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50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50000"/>
            <a:ext cx="11000000" cy="700000"/>
          </a:xfrm>
          <a:prstGeom prst="rect">
            <a:avLst/>
          </a:prstGeom>
          <a:noFill/>
        </p:spPr>
        <p:txBody>
          <a:bodyPr wrap="square">
            <a:spAutoFit/>
          </a:bodyPr>
          <a:lstStyle/>
          <a:p>
            <a:pPr algn="l">
              <a:spcBef>
                <a:spcPts val="0"/>
              </a:spcBef>
              <a:defRPr sz="3200" b="1">
                <a:solidFill>
                  <a:srgbClr val="003366"/>
                </a:solidFill>
              </a:defRPr>
            </a:pPr>
            <a:r>
              <a:t>1.1 拓扑量子材料分类</a:t>
            </a:r>
          </a:p>
        </p:txBody>
      </p:sp>
      <p:sp>
        <p:nvSpPr>
          <p:cNvPr id="6" name="Rectangle 5"/>
          <p:cNvSpPr/>
          <p:nvPr/>
        </p:nvSpPr>
        <p:spPr>
          <a:xfrm>
            <a:off x="500000" y="800000"/>
            <a:ext cx="1500000" cy="4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850000"/>
            <a:ext cx="11000000" cy="500000"/>
          </a:xfrm>
          <a:prstGeom prst="rect">
            <a:avLst/>
          </a:prstGeom>
          <a:noFill/>
        </p:spPr>
        <p:txBody>
          <a:bodyPr wrap="square">
            <a:spAutoFit/>
          </a:bodyPr>
          <a:lstStyle/>
          <a:p>
            <a:pPr algn="l">
              <a:spcBef>
                <a:spcPts val="0"/>
              </a:spcBef>
              <a:defRPr sz="2200" b="1">
                <a:solidFill>
                  <a:srgbClr val="1A4B8C"/>
                </a:solidFill>
              </a:defRPr>
            </a:pPr>
            <a:r>
              <a:t>拓扑绝缘体 —— 体态绝缘，表面导电</a:t>
            </a:r>
          </a:p>
        </p:txBody>
      </p:sp>
      <p:sp>
        <p:nvSpPr>
          <p:cNvPr id="8" name="Rounded Rectangle 7"/>
          <p:cNvSpPr/>
          <p:nvPr/>
        </p:nvSpPr>
        <p:spPr>
          <a:xfrm>
            <a:off x="400000" y="1400000"/>
            <a:ext cx="11200000" cy="1500000"/>
          </a:xfrm>
          <a:prstGeom prst="roundRect">
            <a:avLst/>
          </a:prstGeom>
          <a:solidFill>
            <a:srgbClr val="F5F7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0000" y="1550000"/>
            <a:ext cx="400000" cy="350000"/>
          </a:xfrm>
          <a:prstGeom prst="roundRect">
            <a:avLst/>
          </a:prstGeom>
          <a:solidFill>
            <a:srgbClr val="187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TI</a:t>
            </a:r>
          </a:p>
        </p:txBody>
      </p:sp>
      <p:sp>
        <p:nvSpPr>
          <p:cNvPr id="10" name="TextBox 9"/>
          <p:cNvSpPr txBox="1"/>
          <p:nvPr/>
        </p:nvSpPr>
        <p:spPr>
          <a:xfrm>
            <a:off x="950000" y="1550000"/>
            <a:ext cx="10000000" cy="400000"/>
          </a:xfrm>
          <a:prstGeom prst="rect">
            <a:avLst/>
          </a:prstGeom>
          <a:noFill/>
        </p:spPr>
        <p:txBody>
          <a:bodyPr wrap="square">
            <a:spAutoFit/>
          </a:bodyPr>
          <a:lstStyle/>
          <a:p>
            <a:pPr algn="l">
              <a:spcBef>
                <a:spcPts val="0"/>
              </a:spcBef>
              <a:defRPr sz="2400" b="1">
                <a:solidFill>
                  <a:srgbClr val="003366"/>
                </a:solidFill>
              </a:defRPr>
            </a:pPr>
            <a:r>
              <a:t>量子霍尔效应 (1980)</a:t>
            </a:r>
          </a:p>
        </p:txBody>
      </p:sp>
      <p:sp>
        <p:nvSpPr>
          <p:cNvPr id="11" name="TextBox 10"/>
          <p:cNvSpPr txBox="1"/>
          <p:nvPr/>
        </p:nvSpPr>
        <p:spPr>
          <a:xfrm>
            <a:off x="950000" y="2000000"/>
            <a:ext cx="10200000" cy="900000"/>
          </a:xfrm>
          <a:prstGeom prst="rect">
            <a:avLst/>
          </a:prstGeom>
          <a:noFill/>
        </p:spPr>
        <p:txBody>
          <a:bodyPr wrap="square">
            <a:spAutoFit/>
          </a:bodyPr>
          <a:lstStyle/>
          <a:p>
            <a:pPr algn="l">
              <a:spcBef>
                <a:spcPts val="600"/>
              </a:spcBef>
              <a:defRPr sz="1800" b="0">
                <a:solidFill>
                  <a:srgbClr val="555555"/>
                </a:solidFill>
              </a:defRPr>
            </a:pPr>
            <a:r>
              <a:t>外加磁场下二维电子气产生量子化霍尔平台</a:t>
            </a:r>
          </a:p>
          <a:p>
            <a:pPr algn="l">
              <a:spcBef>
                <a:spcPts val="600"/>
              </a:spcBef>
              <a:defRPr sz="1800" b="0">
                <a:solidFill>
                  <a:srgbClr val="555555"/>
                </a:solidFill>
              </a:defRPr>
            </a:pPr>
            <a:r>
              <a:t>无耗散边缘态，手性输运，无背散射</a:t>
            </a:r>
          </a:p>
          <a:p>
            <a:pPr algn="l">
              <a:spcBef>
                <a:spcPts val="600"/>
              </a:spcBef>
              <a:defRPr sz="1800" b="0">
                <a:solidFill>
                  <a:srgbClr val="555555"/>
                </a:solidFill>
              </a:defRPr>
            </a:pPr>
            <a:r>
              <a:t>打破传统对称性破缺框架</a:t>
            </a:r>
          </a:p>
        </p:txBody>
      </p:sp>
      <p:sp>
        <p:nvSpPr>
          <p:cNvPr id="12" name="Rounded Rectangle 11"/>
          <p:cNvSpPr/>
          <p:nvPr/>
        </p:nvSpPr>
        <p:spPr>
          <a:xfrm>
            <a:off x="400000" y="3150000"/>
            <a:ext cx="11200000" cy="1500000"/>
          </a:xfrm>
          <a:prstGeom prst="roundRect">
            <a:avLst/>
          </a:prstGeom>
          <a:solidFill>
            <a:srgbClr val="F5F7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0000" y="3300000"/>
            <a:ext cx="400000" cy="350000"/>
          </a:xfrm>
          <a:prstGeom prst="roundRect">
            <a:avLst/>
          </a:prstGeom>
          <a:solidFill>
            <a:srgbClr val="187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TI</a:t>
            </a:r>
          </a:p>
        </p:txBody>
      </p:sp>
      <p:sp>
        <p:nvSpPr>
          <p:cNvPr id="14" name="TextBox 13"/>
          <p:cNvSpPr txBox="1"/>
          <p:nvPr/>
        </p:nvSpPr>
        <p:spPr>
          <a:xfrm>
            <a:off x="950000" y="3300000"/>
            <a:ext cx="10000000" cy="400000"/>
          </a:xfrm>
          <a:prstGeom prst="rect">
            <a:avLst/>
          </a:prstGeom>
          <a:noFill/>
        </p:spPr>
        <p:txBody>
          <a:bodyPr wrap="square">
            <a:spAutoFit/>
          </a:bodyPr>
          <a:lstStyle/>
          <a:p>
            <a:pPr algn="l">
              <a:spcBef>
                <a:spcPts val="0"/>
              </a:spcBef>
              <a:defRPr sz="2400" b="1">
                <a:solidFill>
                  <a:srgbClr val="003366"/>
                </a:solidFill>
              </a:defRPr>
            </a:pPr>
            <a:r>
              <a:t>量子自旋霍尔效应 (2005)</a:t>
            </a:r>
          </a:p>
        </p:txBody>
      </p:sp>
      <p:sp>
        <p:nvSpPr>
          <p:cNvPr id="15" name="TextBox 14"/>
          <p:cNvSpPr txBox="1"/>
          <p:nvPr/>
        </p:nvSpPr>
        <p:spPr>
          <a:xfrm>
            <a:off x="950000" y="3750000"/>
            <a:ext cx="10200000" cy="900000"/>
          </a:xfrm>
          <a:prstGeom prst="rect">
            <a:avLst/>
          </a:prstGeom>
          <a:noFill/>
        </p:spPr>
        <p:txBody>
          <a:bodyPr wrap="square">
            <a:spAutoFit/>
          </a:bodyPr>
          <a:lstStyle/>
          <a:p>
            <a:pPr algn="l">
              <a:spcBef>
                <a:spcPts val="600"/>
              </a:spcBef>
              <a:defRPr sz="1800" b="0">
                <a:solidFill>
                  <a:srgbClr val="555555"/>
                </a:solidFill>
              </a:defRPr>
            </a:pPr>
            <a:r>
              <a:t>无需外加磁场，时间反演对称性保护</a:t>
            </a:r>
          </a:p>
          <a:p>
            <a:pPr algn="l">
              <a:spcBef>
                <a:spcPts val="600"/>
              </a:spcBef>
              <a:defRPr sz="1800" b="0">
                <a:solidFill>
                  <a:srgbClr val="555555"/>
                </a:solidFill>
              </a:defRPr>
            </a:pPr>
            <a:r>
              <a:t>边缘态自旋动量锁定</a:t>
            </a:r>
          </a:p>
          <a:p>
            <a:pPr algn="l">
              <a:spcBef>
                <a:spcPts val="600"/>
              </a:spcBef>
              <a:defRPr sz="1800" b="0">
                <a:solidFill>
                  <a:srgbClr val="555555"/>
                </a:solidFill>
              </a:defRPr>
            </a:pPr>
            <a:r>
              <a:t>Z2拓扑不变量 - HgTe/CdTe量子阱实现</a:t>
            </a:r>
          </a:p>
        </p:txBody>
      </p:sp>
      <p:sp>
        <p:nvSpPr>
          <p:cNvPr id="16" name="Rounded Rectangle 15"/>
          <p:cNvSpPr/>
          <p:nvPr/>
        </p:nvSpPr>
        <p:spPr>
          <a:xfrm>
            <a:off x="400000" y="4900000"/>
            <a:ext cx="11200000" cy="1500000"/>
          </a:xfrm>
          <a:prstGeom prst="roundRect">
            <a:avLst/>
          </a:prstGeom>
          <a:solidFill>
            <a:srgbClr val="F5F7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0000" y="5050000"/>
            <a:ext cx="400000" cy="350000"/>
          </a:xfrm>
          <a:prstGeom prst="roundRect">
            <a:avLst/>
          </a:prstGeom>
          <a:solidFill>
            <a:srgbClr val="187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b="1">
                <a:solidFill>
                  <a:srgbClr val="FFFFFF"/>
                </a:solidFill>
              </a:defRPr>
            </a:pPr>
            <a:r>
              <a:t>TI</a:t>
            </a:r>
          </a:p>
        </p:txBody>
      </p:sp>
      <p:sp>
        <p:nvSpPr>
          <p:cNvPr id="18" name="TextBox 17"/>
          <p:cNvSpPr txBox="1"/>
          <p:nvPr/>
        </p:nvSpPr>
        <p:spPr>
          <a:xfrm>
            <a:off x="950000" y="5050000"/>
            <a:ext cx="10000000" cy="400000"/>
          </a:xfrm>
          <a:prstGeom prst="rect">
            <a:avLst/>
          </a:prstGeom>
          <a:noFill/>
        </p:spPr>
        <p:txBody>
          <a:bodyPr wrap="square">
            <a:spAutoFit/>
          </a:bodyPr>
          <a:lstStyle/>
          <a:p>
            <a:pPr algn="l">
              <a:spcBef>
                <a:spcPts val="0"/>
              </a:spcBef>
              <a:defRPr sz="2400" b="1">
                <a:solidFill>
                  <a:srgbClr val="003366"/>
                </a:solidFill>
              </a:defRPr>
            </a:pPr>
            <a:r>
              <a:t>三维拓扑绝缘体 (2007)</a:t>
            </a:r>
          </a:p>
        </p:txBody>
      </p:sp>
      <p:sp>
        <p:nvSpPr>
          <p:cNvPr id="19" name="TextBox 18"/>
          <p:cNvSpPr txBox="1"/>
          <p:nvPr/>
        </p:nvSpPr>
        <p:spPr>
          <a:xfrm>
            <a:off x="950000" y="5500000"/>
            <a:ext cx="10200000" cy="900000"/>
          </a:xfrm>
          <a:prstGeom prst="rect">
            <a:avLst/>
          </a:prstGeom>
          <a:noFill/>
        </p:spPr>
        <p:txBody>
          <a:bodyPr wrap="square">
            <a:spAutoFit/>
          </a:bodyPr>
          <a:lstStyle/>
          <a:p>
            <a:pPr algn="l">
              <a:spcBef>
                <a:spcPts val="600"/>
              </a:spcBef>
              <a:defRPr sz="1800" b="0">
                <a:solidFill>
                  <a:srgbClr val="555555"/>
                </a:solidFill>
              </a:defRPr>
            </a:pPr>
            <a:r>
              <a:t>Bi1-xSbx、Bi2Se3、Bi2Te3等</a:t>
            </a:r>
          </a:p>
          <a:p>
            <a:pPr algn="l">
              <a:spcBef>
                <a:spcPts val="600"/>
              </a:spcBef>
              <a:defRPr sz="1800" b="0">
                <a:solidFill>
                  <a:srgbClr val="555555"/>
                </a:solidFill>
              </a:defRPr>
            </a:pPr>
            <a:r>
              <a:t>奇数个受拓扑保护的狄拉克表面态</a:t>
            </a:r>
          </a:p>
          <a:p>
            <a:pPr algn="l">
              <a:spcBef>
                <a:spcPts val="600"/>
              </a:spcBef>
              <a:defRPr sz="1800" b="0">
                <a:solidFill>
                  <a:srgbClr val="555555"/>
                </a:solidFill>
              </a:defRPr>
            </a:pPr>
            <a:r>
              <a:t>无能隙表面态 + 有能隙体态</a:t>
            </a:r>
          </a:p>
        </p:txBody>
      </p:sp>
      <p:sp>
        <p:nvSpPr>
          <p:cNvPr id="20" name="TextBox 19"/>
          <p:cNvSpPr txBox="1"/>
          <p:nvPr/>
        </p:nvSpPr>
        <p:spPr>
          <a:xfrm>
            <a:off x="11600000" y="6450000"/>
            <a:ext cx="500000" cy="350000"/>
          </a:xfrm>
          <a:prstGeom prst="rect">
            <a:avLst/>
          </a:prstGeom>
          <a:noFill/>
        </p:spPr>
        <p:txBody>
          <a:bodyPr wrap="square">
            <a:spAutoFit/>
          </a:bodyPr>
          <a:lstStyle/>
          <a:p>
            <a:pPr algn="ctr">
              <a:spcBef>
                <a:spcPts val="0"/>
              </a:spcBef>
              <a:defRPr sz="1400" b="0">
                <a:solidFill>
                  <a:srgbClr val="E0E0E0"/>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50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50000"/>
            <a:ext cx="11000000" cy="700000"/>
          </a:xfrm>
          <a:prstGeom prst="rect">
            <a:avLst/>
          </a:prstGeom>
          <a:noFill/>
        </p:spPr>
        <p:txBody>
          <a:bodyPr wrap="square">
            <a:spAutoFit/>
          </a:bodyPr>
          <a:lstStyle/>
          <a:p>
            <a:pPr algn="l">
              <a:spcBef>
                <a:spcPts val="0"/>
              </a:spcBef>
              <a:defRPr sz="3200" b="1">
                <a:solidFill>
                  <a:srgbClr val="003366"/>
                </a:solidFill>
              </a:defRPr>
            </a:pPr>
            <a:r>
              <a:t>1.1 拓扑半金属分类</a:t>
            </a:r>
          </a:p>
        </p:txBody>
      </p:sp>
      <p:sp>
        <p:nvSpPr>
          <p:cNvPr id="6" name="Rectangle 5"/>
          <p:cNvSpPr/>
          <p:nvPr/>
        </p:nvSpPr>
        <p:spPr>
          <a:xfrm>
            <a:off x="500000" y="800000"/>
            <a:ext cx="1500000" cy="4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850000"/>
            <a:ext cx="11000000" cy="500000"/>
          </a:xfrm>
          <a:prstGeom prst="rect">
            <a:avLst/>
          </a:prstGeom>
          <a:noFill/>
        </p:spPr>
        <p:txBody>
          <a:bodyPr wrap="square">
            <a:spAutoFit/>
          </a:bodyPr>
          <a:lstStyle/>
          <a:p>
            <a:pPr algn="l">
              <a:spcBef>
                <a:spcPts val="0"/>
              </a:spcBef>
              <a:defRPr sz="2200" b="1">
                <a:solidFill>
                  <a:srgbClr val="1A4B8C"/>
                </a:solidFill>
              </a:defRPr>
            </a:pPr>
            <a:r>
              <a:t>狄拉克半金属 · 外尔半金属 · 节线半金属</a:t>
            </a:r>
          </a:p>
        </p:txBody>
      </p:sp>
      <p:sp>
        <p:nvSpPr>
          <p:cNvPr id="8" name="Rectangle 7"/>
          <p:cNvSpPr/>
          <p:nvPr/>
        </p:nvSpPr>
        <p:spPr>
          <a:xfrm>
            <a:off x="400000" y="1200000"/>
            <a:ext cx="3600000" cy="80000"/>
          </a:xfrm>
          <a:prstGeom prst="rect">
            <a:avLst/>
          </a:prstGeom>
          <a:solidFill>
            <a:srgbClr val="187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800000" y="1350000"/>
            <a:ext cx="600000" cy="600000"/>
          </a:xfrm>
          <a:prstGeom prst="ellipse">
            <a:avLst/>
          </a:prstGeom>
          <a:solidFill>
            <a:srgbClr val="187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FFFFFF"/>
                </a:solidFill>
              </a:defRPr>
            </a:pPr>
            <a:r>
              <a:t>DSM</a:t>
            </a:r>
          </a:p>
        </p:txBody>
      </p:sp>
      <p:sp>
        <p:nvSpPr>
          <p:cNvPr id="10" name="TextBox 9"/>
          <p:cNvSpPr txBox="1"/>
          <p:nvPr/>
        </p:nvSpPr>
        <p:spPr>
          <a:xfrm>
            <a:off x="550000" y="2100000"/>
            <a:ext cx="3300000" cy="500000"/>
          </a:xfrm>
          <a:prstGeom prst="rect">
            <a:avLst/>
          </a:prstGeom>
          <a:noFill/>
        </p:spPr>
        <p:txBody>
          <a:bodyPr wrap="square">
            <a:spAutoFit/>
          </a:bodyPr>
          <a:lstStyle/>
          <a:p>
            <a:pPr algn="ctr">
              <a:spcBef>
                <a:spcPts val="0"/>
              </a:spcBef>
              <a:defRPr sz="2200" b="1">
                <a:solidFill>
                  <a:srgbClr val="003366"/>
                </a:solidFill>
              </a:defRPr>
            </a:pPr>
            <a:r>
              <a:t>狄拉克半金属 (DSM)</a:t>
            </a:r>
          </a:p>
        </p:txBody>
      </p:sp>
      <p:sp>
        <p:nvSpPr>
          <p:cNvPr id="11" name="TextBox 10"/>
          <p:cNvSpPr txBox="1"/>
          <p:nvPr/>
        </p:nvSpPr>
        <p:spPr>
          <a:xfrm>
            <a:off x="600000" y="2700000"/>
            <a:ext cx="3200000" cy="3500000"/>
          </a:xfrm>
          <a:prstGeom prst="rect">
            <a:avLst/>
          </a:prstGeom>
          <a:noFill/>
        </p:spPr>
        <p:txBody>
          <a:bodyPr wrap="square">
            <a:spAutoFit/>
          </a:bodyPr>
          <a:lstStyle/>
          <a:p>
            <a:pPr algn="l">
              <a:spcBef>
                <a:spcPts val="1200"/>
              </a:spcBef>
              <a:defRPr sz="1800" b="0">
                <a:solidFill>
                  <a:srgbClr val="555555"/>
                </a:solidFill>
              </a:defRPr>
            </a:pPr>
            <a:r>
              <a:t>Na3Bi, Cd3As2</a:t>
            </a:r>
          </a:p>
          <a:p>
            <a:pPr algn="l">
              <a:spcBef>
                <a:spcPts val="1200"/>
              </a:spcBef>
              <a:defRPr sz="1800" b="0">
                <a:solidFill>
                  <a:srgbClr val="555555"/>
                </a:solidFill>
              </a:defRPr>
            </a:pPr>
            <a:r>
              <a:t>四重简并狄拉克点</a:t>
            </a:r>
          </a:p>
          <a:p>
            <a:pPr algn="l">
              <a:spcBef>
                <a:spcPts val="1200"/>
              </a:spcBef>
              <a:defRPr sz="1800" b="0">
                <a:solidFill>
                  <a:srgbClr val="555555"/>
                </a:solidFill>
              </a:defRPr>
            </a:pPr>
            <a:r>
              <a:t>巨大不饱和磁阻</a:t>
            </a:r>
          </a:p>
          <a:p>
            <a:pPr algn="l">
              <a:spcBef>
                <a:spcPts val="1200"/>
              </a:spcBef>
              <a:defRPr sz="1800" b="0">
                <a:solidFill>
                  <a:srgbClr val="555555"/>
                </a:solidFill>
              </a:defRPr>
            </a:pPr>
            <a:r>
              <a:t>费米弧表面态</a:t>
            </a:r>
          </a:p>
        </p:txBody>
      </p:sp>
      <p:sp>
        <p:nvSpPr>
          <p:cNvPr id="12" name="Rectangle 11"/>
          <p:cNvSpPr/>
          <p:nvPr/>
        </p:nvSpPr>
        <p:spPr>
          <a:xfrm>
            <a:off x="4300000" y="1200000"/>
            <a:ext cx="3600000" cy="800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700000" y="1350000"/>
            <a:ext cx="600000" cy="60000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FFFFFF"/>
                </a:solidFill>
              </a:defRPr>
            </a:pPr>
            <a:r>
              <a:t>WSM</a:t>
            </a:r>
          </a:p>
        </p:txBody>
      </p:sp>
      <p:sp>
        <p:nvSpPr>
          <p:cNvPr id="14" name="TextBox 13"/>
          <p:cNvSpPr txBox="1"/>
          <p:nvPr/>
        </p:nvSpPr>
        <p:spPr>
          <a:xfrm>
            <a:off x="4450000" y="2100000"/>
            <a:ext cx="3300000" cy="500000"/>
          </a:xfrm>
          <a:prstGeom prst="rect">
            <a:avLst/>
          </a:prstGeom>
          <a:noFill/>
        </p:spPr>
        <p:txBody>
          <a:bodyPr wrap="square">
            <a:spAutoFit/>
          </a:bodyPr>
          <a:lstStyle/>
          <a:p>
            <a:pPr algn="ctr">
              <a:spcBef>
                <a:spcPts val="0"/>
              </a:spcBef>
              <a:defRPr sz="2200" b="1">
                <a:solidFill>
                  <a:srgbClr val="003366"/>
                </a:solidFill>
              </a:defRPr>
            </a:pPr>
            <a:r>
              <a:t>外尔半金属 (WSM)</a:t>
            </a:r>
          </a:p>
        </p:txBody>
      </p:sp>
      <p:sp>
        <p:nvSpPr>
          <p:cNvPr id="15" name="TextBox 14"/>
          <p:cNvSpPr txBox="1"/>
          <p:nvPr/>
        </p:nvSpPr>
        <p:spPr>
          <a:xfrm>
            <a:off x="4500000" y="2700000"/>
            <a:ext cx="3200000" cy="3500000"/>
          </a:xfrm>
          <a:prstGeom prst="rect">
            <a:avLst/>
          </a:prstGeom>
          <a:noFill/>
        </p:spPr>
        <p:txBody>
          <a:bodyPr wrap="square">
            <a:spAutoFit/>
          </a:bodyPr>
          <a:lstStyle/>
          <a:p>
            <a:pPr algn="l">
              <a:spcBef>
                <a:spcPts val="1200"/>
              </a:spcBef>
              <a:defRPr sz="1800" b="0">
                <a:solidFill>
                  <a:srgbClr val="555555"/>
                </a:solidFill>
              </a:defRPr>
            </a:pPr>
            <a:r>
              <a:t>TaAs, Co3Sn2S2</a:t>
            </a:r>
          </a:p>
          <a:p>
            <a:pPr algn="l">
              <a:spcBef>
                <a:spcPts val="1200"/>
              </a:spcBef>
              <a:defRPr sz="1800" b="0">
                <a:solidFill>
                  <a:srgbClr val="555555"/>
                </a:solidFill>
              </a:defRPr>
            </a:pPr>
            <a:r>
              <a:t>手性外尔点成对出现</a:t>
            </a:r>
          </a:p>
          <a:p>
            <a:pPr algn="l">
              <a:spcBef>
                <a:spcPts val="1200"/>
              </a:spcBef>
              <a:defRPr sz="1800" b="0">
                <a:solidFill>
                  <a:srgbClr val="555555"/>
                </a:solidFill>
              </a:defRPr>
            </a:pPr>
            <a:r>
              <a:t>费米弧 + 手性反常负磁阻</a:t>
            </a:r>
          </a:p>
          <a:p>
            <a:pPr algn="l">
              <a:spcBef>
                <a:spcPts val="1200"/>
              </a:spcBef>
              <a:defRPr sz="1800" b="0">
                <a:solidFill>
                  <a:srgbClr val="555555"/>
                </a:solidFill>
              </a:defRPr>
            </a:pPr>
            <a:r>
              <a:t>强贝里曲率 -&gt; 非线性光学</a:t>
            </a:r>
          </a:p>
        </p:txBody>
      </p:sp>
      <p:sp>
        <p:nvSpPr>
          <p:cNvPr id="16" name="Rectangle 15"/>
          <p:cNvSpPr/>
          <p:nvPr/>
        </p:nvSpPr>
        <p:spPr>
          <a:xfrm>
            <a:off x="8200000" y="1200000"/>
            <a:ext cx="3600000" cy="800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600000" y="1350000"/>
            <a:ext cx="600000" cy="60000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600" b="1">
                <a:solidFill>
                  <a:srgbClr val="FFFFFF"/>
                </a:solidFill>
              </a:defRPr>
            </a:pPr>
            <a:r>
              <a:t>NLSM</a:t>
            </a:r>
          </a:p>
        </p:txBody>
      </p:sp>
      <p:sp>
        <p:nvSpPr>
          <p:cNvPr id="18" name="TextBox 17"/>
          <p:cNvSpPr txBox="1"/>
          <p:nvPr/>
        </p:nvSpPr>
        <p:spPr>
          <a:xfrm>
            <a:off x="8350000" y="2100000"/>
            <a:ext cx="3300000" cy="500000"/>
          </a:xfrm>
          <a:prstGeom prst="rect">
            <a:avLst/>
          </a:prstGeom>
          <a:noFill/>
        </p:spPr>
        <p:txBody>
          <a:bodyPr wrap="square">
            <a:spAutoFit/>
          </a:bodyPr>
          <a:lstStyle/>
          <a:p>
            <a:pPr algn="ctr">
              <a:spcBef>
                <a:spcPts val="0"/>
              </a:spcBef>
              <a:defRPr sz="2200" b="1">
                <a:solidFill>
                  <a:srgbClr val="003366"/>
                </a:solidFill>
              </a:defRPr>
            </a:pPr>
            <a:r>
              <a:t>节线半金属 (NLSM)</a:t>
            </a:r>
          </a:p>
        </p:txBody>
      </p:sp>
      <p:sp>
        <p:nvSpPr>
          <p:cNvPr id="19" name="TextBox 18"/>
          <p:cNvSpPr txBox="1"/>
          <p:nvPr/>
        </p:nvSpPr>
        <p:spPr>
          <a:xfrm>
            <a:off x="8400000" y="2700000"/>
            <a:ext cx="3200000" cy="3500000"/>
          </a:xfrm>
          <a:prstGeom prst="rect">
            <a:avLst/>
          </a:prstGeom>
          <a:noFill/>
        </p:spPr>
        <p:txBody>
          <a:bodyPr wrap="square">
            <a:spAutoFit/>
          </a:bodyPr>
          <a:lstStyle/>
          <a:p>
            <a:pPr algn="l">
              <a:spcBef>
                <a:spcPts val="1200"/>
              </a:spcBef>
              <a:defRPr sz="1800" b="0">
                <a:solidFill>
                  <a:srgbClr val="555555"/>
                </a:solidFill>
              </a:defRPr>
            </a:pPr>
            <a:r>
              <a:t>ZrSiS, ZrAs2, Ca3P2</a:t>
            </a:r>
          </a:p>
          <a:p>
            <a:pPr algn="l">
              <a:spcBef>
                <a:spcPts val="1200"/>
              </a:spcBef>
              <a:defRPr sz="1800" b="0">
                <a:solidFill>
                  <a:srgbClr val="555555"/>
                </a:solidFill>
              </a:defRPr>
            </a:pPr>
            <a:r>
              <a:t>导带价带交叉形成节线</a:t>
            </a:r>
          </a:p>
          <a:p>
            <a:pPr algn="l">
              <a:spcBef>
                <a:spcPts val="1200"/>
              </a:spcBef>
              <a:defRPr sz="1800" b="0">
                <a:solidFill>
                  <a:srgbClr val="555555"/>
                </a:solidFill>
              </a:defRPr>
            </a:pPr>
            <a:r>
              <a:t>鼓状表面态</a:t>
            </a:r>
          </a:p>
          <a:p>
            <a:pPr algn="l">
              <a:spcBef>
                <a:spcPts val="1200"/>
              </a:spcBef>
              <a:defRPr sz="1800" b="0">
                <a:solidFill>
                  <a:srgbClr val="555555"/>
                </a:solidFill>
              </a:defRPr>
            </a:pPr>
            <a:r>
              <a:t>蝴蝶状各向异性磁阻</a:t>
            </a:r>
          </a:p>
        </p:txBody>
      </p:sp>
      <p:sp>
        <p:nvSpPr>
          <p:cNvPr id="20" name="TextBox 19"/>
          <p:cNvSpPr txBox="1"/>
          <p:nvPr/>
        </p:nvSpPr>
        <p:spPr>
          <a:xfrm>
            <a:off x="11600000" y="6450000"/>
            <a:ext cx="500000" cy="350000"/>
          </a:xfrm>
          <a:prstGeom prst="rect">
            <a:avLst/>
          </a:prstGeom>
          <a:noFill/>
        </p:spPr>
        <p:txBody>
          <a:bodyPr wrap="square">
            <a:spAutoFit/>
          </a:bodyPr>
          <a:lstStyle/>
          <a:p>
            <a:pPr algn="ctr">
              <a:spcBef>
                <a:spcPts val="0"/>
              </a:spcBef>
              <a:defRPr sz="1400" b="0">
                <a:solidFill>
                  <a:srgbClr val="E0E0E0"/>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50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50000"/>
            <a:ext cx="11000000" cy="700000"/>
          </a:xfrm>
          <a:prstGeom prst="rect">
            <a:avLst/>
          </a:prstGeom>
          <a:noFill/>
        </p:spPr>
        <p:txBody>
          <a:bodyPr wrap="square">
            <a:spAutoFit/>
          </a:bodyPr>
          <a:lstStyle/>
          <a:p>
            <a:pPr algn="l">
              <a:spcBef>
                <a:spcPts val="0"/>
              </a:spcBef>
              <a:defRPr sz="3200" b="1">
                <a:solidFill>
                  <a:srgbClr val="003366"/>
                </a:solidFill>
              </a:defRPr>
            </a:pPr>
            <a:r>
              <a:t>1.2 霍尔效应</a:t>
            </a:r>
          </a:p>
        </p:txBody>
      </p:sp>
      <p:sp>
        <p:nvSpPr>
          <p:cNvPr id="6" name="Rectangle 5"/>
          <p:cNvSpPr/>
          <p:nvPr/>
        </p:nvSpPr>
        <p:spPr>
          <a:xfrm>
            <a:off x="500000" y="800000"/>
            <a:ext cx="1500000" cy="4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850000"/>
            <a:ext cx="11000000" cy="500000"/>
          </a:xfrm>
          <a:prstGeom prst="rect">
            <a:avLst/>
          </a:prstGeom>
          <a:noFill/>
        </p:spPr>
        <p:txBody>
          <a:bodyPr wrap="square">
            <a:spAutoFit/>
          </a:bodyPr>
          <a:lstStyle/>
          <a:p>
            <a:pPr algn="l">
              <a:spcBef>
                <a:spcPts val="0"/>
              </a:spcBef>
              <a:defRPr sz="2200" b="1">
                <a:solidFill>
                  <a:srgbClr val="1A4B8C"/>
                </a:solidFill>
              </a:defRPr>
            </a:pPr>
            <a:r>
              <a:t>反常霍尔效应与拓扑霍尔效应</a:t>
            </a:r>
          </a:p>
        </p:txBody>
      </p:sp>
      <p:sp>
        <p:nvSpPr>
          <p:cNvPr id="8" name="Rounded Rectangle 7"/>
          <p:cNvSpPr/>
          <p:nvPr/>
        </p:nvSpPr>
        <p:spPr>
          <a:xfrm>
            <a:off x="400000" y="1300000"/>
            <a:ext cx="5500000" cy="2500000"/>
          </a:xfrm>
          <a:prstGeom prst="roundRect">
            <a:avLst/>
          </a:prstGeom>
          <a:solidFill>
            <a:srgbClr val="F0F7FF"/>
          </a:solidFill>
          <a:ln w="25400">
            <a:solidFill>
              <a:srgbClr val="1870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0000" y="1400000"/>
            <a:ext cx="5000000" cy="500000"/>
          </a:xfrm>
          <a:prstGeom prst="rect">
            <a:avLst/>
          </a:prstGeom>
          <a:noFill/>
        </p:spPr>
        <p:txBody>
          <a:bodyPr wrap="square">
            <a:spAutoFit/>
          </a:bodyPr>
          <a:lstStyle/>
          <a:p>
            <a:pPr algn="l">
              <a:spcBef>
                <a:spcPts val="0"/>
              </a:spcBef>
              <a:defRPr sz="2600" b="1">
                <a:solidFill>
                  <a:srgbClr val="003366"/>
                </a:solidFill>
              </a:defRPr>
            </a:pPr>
            <a:r>
              <a:t>反常霍尔效应 (AHE)</a:t>
            </a:r>
          </a:p>
        </p:txBody>
      </p:sp>
      <p:sp>
        <p:nvSpPr>
          <p:cNvPr id="10" name="TextBox 9"/>
          <p:cNvSpPr txBox="1"/>
          <p:nvPr/>
        </p:nvSpPr>
        <p:spPr>
          <a:xfrm>
            <a:off x="550000" y="2000000"/>
            <a:ext cx="5000000" cy="1600000"/>
          </a:xfrm>
          <a:prstGeom prst="rect">
            <a:avLst/>
          </a:prstGeom>
          <a:noFill/>
        </p:spPr>
        <p:txBody>
          <a:bodyPr wrap="square">
            <a:spAutoFit/>
          </a:bodyPr>
          <a:lstStyle/>
          <a:p>
            <a:pPr algn="l">
              <a:spcBef>
                <a:spcPts val="1000"/>
              </a:spcBef>
              <a:defRPr sz="2000" b="0">
                <a:solidFill>
                  <a:srgbClr val="444444"/>
                </a:solidFill>
              </a:defRPr>
            </a:pPr>
            <a:r>
              <a:t>无需外磁场即可产生横向电压</a:t>
            </a:r>
          </a:p>
          <a:p>
            <a:pPr algn="l">
              <a:spcBef>
                <a:spcPts val="1000"/>
              </a:spcBef>
              <a:defRPr sz="2000" b="0">
                <a:solidFill>
                  <a:srgbClr val="444444"/>
                </a:solidFill>
              </a:defRPr>
            </a:pPr>
            <a:r>
              <a:t>外禀机制：斜散射 + 边跳</a:t>
            </a:r>
          </a:p>
          <a:p>
            <a:pPr algn="l">
              <a:spcBef>
                <a:spcPts val="1000"/>
              </a:spcBef>
              <a:defRPr sz="2000" b="0">
                <a:solidFill>
                  <a:srgbClr val="444444"/>
                </a:solidFill>
              </a:defRPr>
            </a:pPr>
            <a:r>
              <a:t>内禀机制：贝里曲率分布（Karplus-Luttinger）</a:t>
            </a:r>
          </a:p>
          <a:p>
            <a:pPr algn="l">
              <a:spcBef>
                <a:spcPts val="1000"/>
              </a:spcBef>
              <a:defRPr sz="2000" b="0">
                <a:solidFill>
                  <a:srgbClr val="444444"/>
                </a:solidFill>
              </a:defRPr>
            </a:pPr>
            <a:r>
              <a:t>拓扑半金属中AHE显著增强</a:t>
            </a:r>
          </a:p>
          <a:p>
            <a:pPr algn="l">
              <a:spcBef>
                <a:spcPts val="1000"/>
              </a:spcBef>
              <a:defRPr sz="2000" b="0">
                <a:solidFill>
                  <a:srgbClr val="444444"/>
                </a:solidFill>
              </a:defRPr>
            </a:pPr>
            <a:r>
              <a:t>实验体系：Co3Sn2S2, Mn3Sn, Co2MnGa</a:t>
            </a:r>
          </a:p>
        </p:txBody>
      </p:sp>
      <p:sp>
        <p:nvSpPr>
          <p:cNvPr id="11" name="Rounded Rectangle 10"/>
          <p:cNvSpPr/>
          <p:nvPr/>
        </p:nvSpPr>
        <p:spPr>
          <a:xfrm>
            <a:off x="6200000" y="1300000"/>
            <a:ext cx="5500000" cy="2500000"/>
          </a:xfrm>
          <a:prstGeom prst="roundRect">
            <a:avLst/>
          </a:prstGeom>
          <a:solidFill>
            <a:srgbClr val="FFF8F0"/>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0000" y="1400000"/>
            <a:ext cx="5000000" cy="500000"/>
          </a:xfrm>
          <a:prstGeom prst="rect">
            <a:avLst/>
          </a:prstGeom>
          <a:noFill/>
        </p:spPr>
        <p:txBody>
          <a:bodyPr wrap="square">
            <a:spAutoFit/>
          </a:bodyPr>
          <a:lstStyle/>
          <a:p>
            <a:pPr algn="l">
              <a:spcBef>
                <a:spcPts val="0"/>
              </a:spcBef>
              <a:defRPr sz="2600" b="1">
                <a:solidFill>
                  <a:srgbClr val="003366"/>
                </a:solidFill>
              </a:defRPr>
            </a:pPr>
            <a:r>
              <a:t>拓扑霍尔效应 (THE)</a:t>
            </a:r>
          </a:p>
        </p:txBody>
      </p:sp>
      <p:sp>
        <p:nvSpPr>
          <p:cNvPr id="13" name="TextBox 12"/>
          <p:cNvSpPr txBox="1"/>
          <p:nvPr/>
        </p:nvSpPr>
        <p:spPr>
          <a:xfrm>
            <a:off x="6350000" y="2000000"/>
            <a:ext cx="5000000" cy="1600000"/>
          </a:xfrm>
          <a:prstGeom prst="rect">
            <a:avLst/>
          </a:prstGeom>
          <a:noFill/>
        </p:spPr>
        <p:txBody>
          <a:bodyPr wrap="square">
            <a:spAutoFit/>
          </a:bodyPr>
          <a:lstStyle/>
          <a:p>
            <a:pPr algn="l">
              <a:spcBef>
                <a:spcPts val="1000"/>
              </a:spcBef>
              <a:defRPr sz="2000" b="0">
                <a:solidFill>
                  <a:srgbClr val="444444"/>
                </a:solidFill>
              </a:defRPr>
            </a:pPr>
            <a:r>
              <a:t>由磁结构拓扑性质引起</a:t>
            </a:r>
          </a:p>
          <a:p>
            <a:pPr algn="l">
              <a:spcBef>
                <a:spcPts val="1000"/>
              </a:spcBef>
              <a:defRPr sz="2000" b="0">
                <a:solidFill>
                  <a:srgbClr val="444444"/>
                </a:solidFill>
              </a:defRPr>
            </a:pPr>
            <a:r>
              <a:t>标量自旋手性：chi = Si*(Sj*Sk)</a:t>
            </a:r>
          </a:p>
          <a:p>
            <a:pPr algn="l">
              <a:spcBef>
                <a:spcPts val="1000"/>
              </a:spcBef>
              <a:defRPr sz="2000" b="0">
                <a:solidFill>
                  <a:srgbClr val="444444"/>
                </a:solidFill>
              </a:defRPr>
            </a:pPr>
            <a:r>
              <a:t>非共面自旋结构 -&gt; 有效磁场</a:t>
            </a:r>
          </a:p>
          <a:p>
            <a:pPr algn="l">
              <a:spcBef>
                <a:spcPts val="1000"/>
              </a:spcBef>
              <a:defRPr sz="2000" b="0">
                <a:solidFill>
                  <a:srgbClr val="444444"/>
                </a:solidFill>
              </a:defRPr>
            </a:pPr>
            <a:r>
              <a:t>与拓扑能斯特效应、拓扑磁光效应关联</a:t>
            </a:r>
          </a:p>
          <a:p>
            <a:pPr algn="l">
              <a:spcBef>
                <a:spcPts val="1000"/>
              </a:spcBef>
              <a:defRPr sz="2000" b="0">
                <a:solidFill>
                  <a:srgbClr val="444444"/>
                </a:solidFill>
              </a:defRPr>
            </a:pPr>
            <a:r>
              <a:t>实验体系：MnBi2Te4, Eu(Ga,Al)4</a:t>
            </a:r>
          </a:p>
        </p:txBody>
      </p:sp>
      <p:sp>
        <p:nvSpPr>
          <p:cNvPr id="14" name="TextBox 13"/>
          <p:cNvSpPr txBox="1"/>
          <p:nvPr/>
        </p:nvSpPr>
        <p:spPr>
          <a:xfrm>
            <a:off x="400000" y="4000000"/>
            <a:ext cx="11200000" cy="600000"/>
          </a:xfrm>
          <a:prstGeom prst="rect">
            <a:avLst/>
          </a:prstGeom>
          <a:noFill/>
        </p:spPr>
        <p:txBody>
          <a:bodyPr wrap="square">
            <a:spAutoFit/>
          </a:bodyPr>
          <a:lstStyle/>
          <a:p>
            <a:pPr algn="ctr">
              <a:spcBef>
                <a:spcPts val="0"/>
              </a:spcBef>
              <a:defRPr sz="2200" b="1">
                <a:solidFill>
                  <a:srgbClr val="1A4B8C"/>
                </a:solidFill>
              </a:defRPr>
            </a:pPr>
            <a:r>
              <a:t>霍尔电阻率：rho_xy = R0*B + Rs*M  （R0: 普通霍尔，Rs: 反常霍尔）</a:t>
            </a:r>
          </a:p>
        </p:txBody>
      </p:sp>
      <p:sp>
        <p:nvSpPr>
          <p:cNvPr id="15" name="TextBox 14"/>
          <p:cNvSpPr txBox="1"/>
          <p:nvPr/>
        </p:nvSpPr>
        <p:spPr>
          <a:xfrm>
            <a:off x="400000" y="4700000"/>
            <a:ext cx="11200000" cy="1800000"/>
          </a:xfrm>
          <a:prstGeom prst="rect">
            <a:avLst/>
          </a:prstGeom>
          <a:noFill/>
        </p:spPr>
        <p:txBody>
          <a:bodyPr wrap="square">
            <a:spAutoFit/>
          </a:bodyPr>
          <a:lstStyle/>
          <a:p>
            <a:pPr algn="l">
              <a:spcBef>
                <a:spcPts val="1000"/>
              </a:spcBef>
              <a:defRPr sz="2000" b="1">
                <a:solidFill>
                  <a:srgbClr val="B2610B"/>
                </a:solidFill>
              </a:defRPr>
            </a:pPr>
            <a:r>
              <a:t>【本论文关注点】</a:t>
            </a:r>
          </a:p>
          <a:p>
            <a:pPr algn="l">
              <a:spcBef>
                <a:spcPts val="1000"/>
              </a:spcBef>
              <a:defRPr sz="2000" b="1">
                <a:solidFill>
                  <a:srgbClr val="B2610B"/>
                </a:solidFill>
              </a:defRPr>
            </a:pPr>
            <a:r>
              <a:t>ZrAs2 中手性反常引起的负磁阻与阶梯效应</a:t>
            </a:r>
          </a:p>
          <a:p>
            <a:pPr algn="l">
              <a:spcBef>
                <a:spcPts val="1000"/>
              </a:spcBef>
              <a:defRPr sz="2000" b="1">
                <a:solidFill>
                  <a:srgbClr val="B2610B"/>
                </a:solidFill>
              </a:defRPr>
            </a:pPr>
            <a:r>
              <a:t>CoNb3S6 中手性反铁磁结构诱导的拓扑非线性霍尔效应</a:t>
            </a:r>
          </a:p>
        </p:txBody>
      </p:sp>
      <p:sp>
        <p:nvSpPr>
          <p:cNvPr id="16" name="TextBox 15"/>
          <p:cNvSpPr txBox="1"/>
          <p:nvPr/>
        </p:nvSpPr>
        <p:spPr>
          <a:xfrm>
            <a:off x="11600000" y="6450000"/>
            <a:ext cx="500000" cy="350000"/>
          </a:xfrm>
          <a:prstGeom prst="rect">
            <a:avLst/>
          </a:prstGeom>
          <a:noFill/>
        </p:spPr>
        <p:txBody>
          <a:bodyPr wrap="square">
            <a:spAutoFit/>
          </a:bodyPr>
          <a:lstStyle/>
          <a:p>
            <a:pPr algn="ctr">
              <a:spcBef>
                <a:spcPts val="0"/>
              </a:spcBef>
              <a:defRPr sz="1400" b="0">
                <a:solidFill>
                  <a:srgbClr val="E0E0E0"/>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50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50000"/>
            <a:ext cx="11000000" cy="700000"/>
          </a:xfrm>
          <a:prstGeom prst="rect">
            <a:avLst/>
          </a:prstGeom>
          <a:noFill/>
        </p:spPr>
        <p:txBody>
          <a:bodyPr wrap="square">
            <a:spAutoFit/>
          </a:bodyPr>
          <a:lstStyle/>
          <a:p>
            <a:pPr algn="l">
              <a:spcBef>
                <a:spcPts val="0"/>
              </a:spcBef>
              <a:defRPr sz="3200" b="1">
                <a:solidFill>
                  <a:srgbClr val="003366"/>
                </a:solidFill>
              </a:defRPr>
            </a:pPr>
            <a:r>
              <a:t>1.2 非线性霍尔效应</a:t>
            </a:r>
          </a:p>
        </p:txBody>
      </p:sp>
      <p:sp>
        <p:nvSpPr>
          <p:cNvPr id="6" name="Rectangle 5"/>
          <p:cNvSpPr/>
          <p:nvPr/>
        </p:nvSpPr>
        <p:spPr>
          <a:xfrm>
            <a:off x="500000" y="800000"/>
            <a:ext cx="1500000" cy="4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850000"/>
            <a:ext cx="11000000" cy="500000"/>
          </a:xfrm>
          <a:prstGeom prst="rect">
            <a:avLst/>
          </a:prstGeom>
          <a:noFill/>
        </p:spPr>
        <p:txBody>
          <a:bodyPr wrap="square">
            <a:spAutoFit/>
          </a:bodyPr>
          <a:lstStyle/>
          <a:p>
            <a:pPr algn="l">
              <a:spcBef>
                <a:spcPts val="0"/>
              </a:spcBef>
              <a:defRPr sz="2200" b="1">
                <a:solidFill>
                  <a:srgbClr val="1A4B8C"/>
                </a:solidFill>
              </a:defRPr>
            </a:pPr>
            <a:r>
              <a:t>从线性响应到非线性输运 - 电场高阶响应</a:t>
            </a:r>
          </a:p>
        </p:txBody>
      </p:sp>
      <p:sp>
        <p:nvSpPr>
          <p:cNvPr id="8" name="TextBox 7"/>
          <p:cNvSpPr txBox="1"/>
          <p:nvPr/>
        </p:nvSpPr>
        <p:spPr>
          <a:xfrm>
            <a:off x="400000" y="1200000"/>
            <a:ext cx="11000000" cy="600000"/>
          </a:xfrm>
          <a:prstGeom prst="rect">
            <a:avLst/>
          </a:prstGeom>
          <a:noFill/>
        </p:spPr>
        <p:txBody>
          <a:bodyPr wrap="square">
            <a:spAutoFit/>
          </a:bodyPr>
          <a:lstStyle/>
          <a:p>
            <a:pPr algn="ctr">
              <a:spcBef>
                <a:spcPts val="0"/>
              </a:spcBef>
              <a:defRPr sz="2600" b="1">
                <a:solidFill>
                  <a:srgbClr val="1A4B8C"/>
                </a:solidFill>
              </a:defRPr>
            </a:pPr>
            <a:r>
              <a:t>ja = sigma_ab * E_b + sigma_abc * E_b E_c + sigma_abcd * E_b E_c E_d + ...</a:t>
            </a:r>
          </a:p>
        </p:txBody>
      </p:sp>
      <p:sp>
        <p:nvSpPr>
          <p:cNvPr id="9" name="TextBox 8"/>
          <p:cNvSpPr txBox="1"/>
          <p:nvPr/>
        </p:nvSpPr>
        <p:spPr>
          <a:xfrm>
            <a:off x="550000" y="1850000"/>
            <a:ext cx="5000000" cy="300000"/>
          </a:xfrm>
          <a:prstGeom prst="rect">
            <a:avLst/>
          </a:prstGeom>
          <a:noFill/>
        </p:spPr>
        <p:txBody>
          <a:bodyPr wrap="square">
            <a:spAutoFit/>
          </a:bodyPr>
          <a:lstStyle/>
          <a:p>
            <a:pPr algn="l">
              <a:spcBef>
                <a:spcPts val="0"/>
              </a:spcBef>
              <a:defRPr sz="2400" b="1">
                <a:solidFill>
                  <a:srgbClr val="003366"/>
                </a:solidFill>
              </a:defRPr>
            </a:pPr>
            <a:r>
              <a:t>线性响应 vs 非线性响应</a:t>
            </a:r>
          </a:p>
        </p:txBody>
      </p:sp>
      <p:sp>
        <p:nvSpPr>
          <p:cNvPr id="10" name="TextBox 9"/>
          <p:cNvSpPr txBox="1"/>
          <p:nvPr/>
        </p:nvSpPr>
        <p:spPr>
          <a:xfrm>
            <a:off x="550000" y="2300000"/>
            <a:ext cx="5000000" cy="3000000"/>
          </a:xfrm>
          <a:prstGeom prst="rect">
            <a:avLst/>
          </a:prstGeom>
          <a:noFill/>
        </p:spPr>
        <p:txBody>
          <a:bodyPr wrap="square">
            <a:spAutoFit/>
          </a:bodyPr>
          <a:lstStyle/>
          <a:p>
            <a:pPr algn="l">
              <a:spcBef>
                <a:spcPts val="600"/>
              </a:spcBef>
              <a:defRPr sz="1800" b="0">
                <a:solidFill>
                  <a:srgbClr val="444444"/>
                </a:solidFill>
              </a:defRPr>
            </a:pPr>
            <a:r>
              <a:t>二阶非线性霍尔效应 (sigma_abc * E^2):</a:t>
            </a:r>
          </a:p>
          <a:p>
            <a:pPr algn="l">
              <a:spcBef>
                <a:spcPts val="600"/>
              </a:spcBef>
              <a:defRPr sz="1800" b="0">
                <a:solidFill>
                  <a:srgbClr val="444444"/>
                </a:solidFill>
              </a:defRPr>
            </a:pPr>
            <a:r>
              <a:t>  - 时间反演偶对称 + 空间反演破缺</a:t>
            </a:r>
          </a:p>
          <a:p>
            <a:pPr algn="l">
              <a:spcBef>
                <a:spcPts val="600"/>
              </a:spcBef>
              <a:defRPr sz="1800" b="0">
                <a:solidFill>
                  <a:srgbClr val="444444"/>
                </a:solidFill>
              </a:defRPr>
            </a:pPr>
            <a:r>
              <a:t>  - 贝里曲率偶极子 (BCD) 内禀贡献</a:t>
            </a:r>
          </a:p>
          <a:p>
            <a:pPr algn="l">
              <a:spcBef>
                <a:spcPts val="600"/>
              </a:spcBef>
              <a:defRPr sz="1800" b="0">
                <a:solidFill>
                  <a:srgbClr val="444444"/>
                </a:solidFill>
              </a:defRPr>
            </a:pPr>
            <a:r>
              <a:t>  - 实验体系：WTe2, hBN/石墨烯</a:t>
            </a:r>
          </a:p>
          <a:p>
            <a:pPr algn="l">
              <a:spcBef>
                <a:spcPts val="600"/>
              </a:spcBef>
              <a:defRPr sz="1800" b="0">
                <a:solidFill>
                  <a:srgbClr val="444444"/>
                </a:solidFill>
              </a:defRPr>
            </a:pPr>
          </a:p>
          <a:p>
            <a:pPr algn="l">
              <a:spcBef>
                <a:spcPts val="600"/>
              </a:spcBef>
              <a:defRPr sz="1800" b="0">
                <a:solidFill>
                  <a:srgbClr val="444444"/>
                </a:solidFill>
              </a:defRPr>
            </a:pPr>
            <a:r>
              <a:t>三阶非线性霍尔效应 (sigma_abcd * E^3):</a:t>
            </a:r>
          </a:p>
          <a:p>
            <a:pPr algn="l">
              <a:spcBef>
                <a:spcPts val="600"/>
              </a:spcBef>
              <a:defRPr sz="1800" b="0">
                <a:solidFill>
                  <a:srgbClr val="444444"/>
                </a:solidFill>
              </a:defRPr>
            </a:pPr>
            <a:r>
              <a:t>  - 时间反演奇对称</a:t>
            </a:r>
          </a:p>
          <a:p>
            <a:pPr algn="l">
              <a:spcBef>
                <a:spcPts val="600"/>
              </a:spcBef>
              <a:defRPr sz="1800" b="0">
                <a:solidFill>
                  <a:srgbClr val="444444"/>
                </a:solidFill>
              </a:defRPr>
            </a:pPr>
            <a:r>
              <a:t>  - 贝里联络极化率 (BCP) 主导</a:t>
            </a:r>
          </a:p>
          <a:p>
            <a:pPr algn="l">
              <a:spcBef>
                <a:spcPts val="600"/>
              </a:spcBef>
              <a:defRPr sz="1800" b="0">
                <a:solidFill>
                  <a:srgbClr val="444444"/>
                </a:solidFill>
              </a:defRPr>
            </a:pPr>
            <a:r>
              <a:t>  - 贝里曲率四极矩 (BCQ)</a:t>
            </a:r>
          </a:p>
          <a:p>
            <a:pPr algn="l">
              <a:spcBef>
                <a:spcPts val="600"/>
              </a:spcBef>
              <a:defRPr sz="1800" b="0">
                <a:solidFill>
                  <a:srgbClr val="444444"/>
                </a:solidFill>
              </a:defRPr>
            </a:pPr>
            <a:r>
              <a:t>  - 量子度规四极矩</a:t>
            </a:r>
          </a:p>
          <a:p>
            <a:pPr algn="l">
              <a:spcBef>
                <a:spcPts val="600"/>
              </a:spcBef>
              <a:defRPr sz="1800" b="0">
                <a:solidFill>
                  <a:srgbClr val="444444"/>
                </a:solidFill>
              </a:defRPr>
            </a:pPr>
            <a:r>
              <a:t>  - 实验体系：FeSn, MnBi2Te4</a:t>
            </a:r>
          </a:p>
        </p:txBody>
      </p:sp>
      <p:sp>
        <p:nvSpPr>
          <p:cNvPr id="11" name="Rounded Rectangle 10"/>
          <p:cNvSpPr/>
          <p:nvPr/>
        </p:nvSpPr>
        <p:spPr>
          <a:xfrm>
            <a:off x="6200000" y="1850000"/>
            <a:ext cx="5500000" cy="2500000"/>
          </a:xfrm>
          <a:prstGeom prst="roundRect">
            <a:avLst/>
          </a:prstGeom>
          <a:solidFill>
            <a:srgbClr val="FDF2E9"/>
          </a:solidFill>
          <a:ln w="254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0000" y="1900000"/>
            <a:ext cx="5000000" cy="500000"/>
          </a:xfrm>
          <a:prstGeom prst="rect">
            <a:avLst/>
          </a:prstGeom>
          <a:noFill/>
        </p:spPr>
        <p:txBody>
          <a:bodyPr wrap="square">
            <a:spAutoFit/>
          </a:bodyPr>
          <a:lstStyle/>
          <a:p>
            <a:pPr algn="l">
              <a:spcBef>
                <a:spcPts val="0"/>
              </a:spcBef>
              <a:defRPr sz="2600" b="1">
                <a:solidFill>
                  <a:srgbClr val="B2610B"/>
                </a:solidFill>
              </a:defRPr>
            </a:pPr>
            <a:r>
              <a:t>【本论文核心工作】</a:t>
            </a:r>
          </a:p>
        </p:txBody>
      </p:sp>
      <p:sp>
        <p:nvSpPr>
          <p:cNvPr id="13" name="TextBox 12"/>
          <p:cNvSpPr txBox="1"/>
          <p:nvPr/>
        </p:nvSpPr>
        <p:spPr>
          <a:xfrm>
            <a:off x="6350000" y="2500000"/>
            <a:ext cx="5000000" cy="1600000"/>
          </a:xfrm>
          <a:prstGeom prst="rect">
            <a:avLst/>
          </a:prstGeom>
          <a:noFill/>
        </p:spPr>
        <p:txBody>
          <a:bodyPr wrap="square">
            <a:spAutoFit/>
          </a:bodyPr>
          <a:lstStyle/>
          <a:p>
            <a:pPr algn="l">
              <a:spcBef>
                <a:spcPts val="600"/>
              </a:spcBef>
              <a:defRPr sz="1800" b="0">
                <a:solidFill>
                  <a:srgbClr val="444444"/>
                </a:solidFill>
              </a:defRPr>
            </a:pPr>
            <a:r>
              <a:t>手性反铁磁 CoNb3S6 中的</a:t>
            </a:r>
          </a:p>
          <a:p>
            <a:pPr algn="l">
              <a:spcBef>
                <a:spcPts val="600"/>
              </a:spcBef>
              <a:defRPr sz="1800" b="0">
                <a:solidFill>
                  <a:srgbClr val="444444"/>
                </a:solidFill>
              </a:defRPr>
            </a:pPr>
            <a:r>
              <a:t>拓扑三阶非线性霍尔效应</a:t>
            </a:r>
          </a:p>
          <a:p>
            <a:pPr algn="l">
              <a:spcBef>
                <a:spcPts val="600"/>
              </a:spcBef>
              <a:defRPr sz="1800" b="0">
                <a:solidFill>
                  <a:srgbClr val="444444"/>
                </a:solidFill>
              </a:defRPr>
            </a:pPr>
          </a:p>
          <a:p>
            <a:pPr algn="l">
              <a:spcBef>
                <a:spcPts val="600"/>
              </a:spcBef>
              <a:defRPr sz="1800" b="0">
                <a:solidFill>
                  <a:srgbClr val="444444"/>
                </a:solidFill>
              </a:defRPr>
            </a:pPr>
            <a:r>
              <a:t>物理起源：贝里曲率四极矩</a:t>
            </a:r>
          </a:p>
          <a:p>
            <a:pPr algn="l">
              <a:spcBef>
                <a:spcPts val="600"/>
              </a:spcBef>
              <a:defRPr sz="1800" b="0">
                <a:solidFill>
                  <a:srgbClr val="444444"/>
                </a:solidFill>
              </a:defRPr>
            </a:pPr>
          </a:p>
          <a:p>
            <a:pPr algn="l">
              <a:spcBef>
                <a:spcPts val="600"/>
              </a:spcBef>
              <a:defRPr sz="1800" b="0">
                <a:solidFill>
                  <a:srgbClr val="444444"/>
                </a:solidFill>
              </a:defRPr>
            </a:pPr>
            <a:r>
              <a:t>关键发现：</a:t>
            </a:r>
          </a:p>
          <a:p>
            <a:pPr algn="l">
              <a:spcBef>
                <a:spcPts val="600"/>
              </a:spcBef>
              <a:defRPr sz="1800" b="0">
                <a:solidFill>
                  <a:srgbClr val="444444"/>
                </a:solidFill>
              </a:defRPr>
            </a:pPr>
            <a:r>
              <a:t>  - 信号仅在 TN 以下出现</a:t>
            </a:r>
          </a:p>
          <a:p>
            <a:pPr algn="l">
              <a:spcBef>
                <a:spcPts val="600"/>
              </a:spcBef>
              <a:defRPr sz="1800" b="0">
                <a:solidFill>
                  <a:srgbClr val="444444"/>
                </a:solidFill>
              </a:defRPr>
            </a:pPr>
            <a:r>
              <a:t>  - 温度降低出现符号翻转</a:t>
            </a:r>
          </a:p>
          <a:p>
            <a:pPr algn="l">
              <a:spcBef>
                <a:spcPts val="600"/>
              </a:spcBef>
              <a:defRPr sz="1800" b="0">
                <a:solidFill>
                  <a:srgbClr val="444444"/>
                </a:solidFill>
              </a:defRPr>
            </a:pPr>
            <a:r>
              <a:t>  - 与磁结构特性密切相关</a:t>
            </a:r>
          </a:p>
        </p:txBody>
      </p:sp>
      <p:sp>
        <p:nvSpPr>
          <p:cNvPr id="14" name="TextBox 13"/>
          <p:cNvSpPr txBox="1"/>
          <p:nvPr/>
        </p:nvSpPr>
        <p:spPr>
          <a:xfrm>
            <a:off x="400000" y="5700000"/>
            <a:ext cx="11200000" cy="800000"/>
          </a:xfrm>
          <a:prstGeom prst="rect">
            <a:avLst/>
          </a:prstGeom>
          <a:noFill/>
        </p:spPr>
        <p:txBody>
          <a:bodyPr wrap="square">
            <a:spAutoFit/>
          </a:bodyPr>
          <a:lstStyle/>
          <a:p>
            <a:pPr algn="ctr">
              <a:spcBef>
                <a:spcPts val="0"/>
              </a:spcBef>
              <a:defRPr sz="2400" b="1">
                <a:solidFill>
                  <a:srgbClr val="1A4B8C"/>
                </a:solidFill>
              </a:defRPr>
            </a:pPr>
            <a:r>
              <a:t>三阶非线性信号对费米面结构及其演化比一阶线性响应更敏感</a:t>
            </a:r>
          </a:p>
        </p:txBody>
      </p:sp>
      <p:sp>
        <p:nvSpPr>
          <p:cNvPr id="15" name="TextBox 14"/>
          <p:cNvSpPr txBox="1"/>
          <p:nvPr/>
        </p:nvSpPr>
        <p:spPr>
          <a:xfrm>
            <a:off x="11600000" y="6450000"/>
            <a:ext cx="500000" cy="350000"/>
          </a:xfrm>
          <a:prstGeom prst="rect">
            <a:avLst/>
          </a:prstGeom>
          <a:noFill/>
        </p:spPr>
        <p:txBody>
          <a:bodyPr wrap="square">
            <a:spAutoFit/>
          </a:bodyPr>
          <a:lstStyle/>
          <a:p>
            <a:pPr algn="ctr">
              <a:spcBef>
                <a:spcPts val="0"/>
              </a:spcBef>
              <a:defRPr sz="1400" b="0">
                <a:solidFill>
                  <a:srgbClr val="E0E0E0"/>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50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50000"/>
            <a:ext cx="11000000" cy="700000"/>
          </a:xfrm>
          <a:prstGeom prst="rect">
            <a:avLst/>
          </a:prstGeom>
          <a:noFill/>
        </p:spPr>
        <p:txBody>
          <a:bodyPr wrap="square">
            <a:spAutoFit/>
          </a:bodyPr>
          <a:lstStyle/>
          <a:p>
            <a:pPr algn="l">
              <a:spcBef>
                <a:spcPts val="0"/>
              </a:spcBef>
              <a:defRPr sz="3200" b="1">
                <a:solidFill>
                  <a:srgbClr val="003366"/>
                </a:solidFill>
              </a:defRPr>
            </a:pPr>
            <a:r>
              <a:t>1.3 声子的手性与磁光拉曼效应</a:t>
            </a:r>
          </a:p>
        </p:txBody>
      </p:sp>
      <p:sp>
        <p:nvSpPr>
          <p:cNvPr id="6" name="Rectangle 5"/>
          <p:cNvSpPr/>
          <p:nvPr/>
        </p:nvSpPr>
        <p:spPr>
          <a:xfrm>
            <a:off x="500000" y="800000"/>
            <a:ext cx="1500000" cy="4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850000"/>
            <a:ext cx="11000000" cy="500000"/>
          </a:xfrm>
          <a:prstGeom prst="rect">
            <a:avLst/>
          </a:prstGeom>
          <a:noFill/>
        </p:spPr>
        <p:txBody>
          <a:bodyPr wrap="square">
            <a:spAutoFit/>
          </a:bodyPr>
          <a:lstStyle/>
          <a:p>
            <a:pPr algn="l">
              <a:spcBef>
                <a:spcPts val="0"/>
              </a:spcBef>
              <a:defRPr sz="2200" b="1">
                <a:solidFill>
                  <a:srgbClr val="1A4B8C"/>
                </a:solidFill>
              </a:defRPr>
            </a:pPr>
            <a:r>
              <a:t>声子角动量自由度：超越能量和动量的新维度</a:t>
            </a:r>
          </a:p>
        </p:txBody>
      </p:sp>
      <p:sp>
        <p:nvSpPr>
          <p:cNvPr id="8" name="Rounded Rectangle 7"/>
          <p:cNvSpPr/>
          <p:nvPr/>
        </p:nvSpPr>
        <p:spPr>
          <a:xfrm>
            <a:off x="400000" y="1300000"/>
            <a:ext cx="5500000" cy="2500000"/>
          </a:xfrm>
          <a:prstGeom prst="roundRect">
            <a:avLst/>
          </a:prstGeom>
          <a:solidFill>
            <a:srgbClr val="F0F7FF"/>
          </a:solidFill>
          <a:ln w="25400">
            <a:solidFill>
              <a:srgbClr val="1870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0000" y="1350000"/>
            <a:ext cx="5000000" cy="400000"/>
          </a:xfrm>
          <a:prstGeom prst="rect">
            <a:avLst/>
          </a:prstGeom>
          <a:noFill/>
        </p:spPr>
        <p:txBody>
          <a:bodyPr wrap="square">
            <a:spAutoFit/>
          </a:bodyPr>
          <a:lstStyle/>
          <a:p>
            <a:pPr algn="l">
              <a:spcBef>
                <a:spcPts val="0"/>
              </a:spcBef>
              <a:defRPr sz="2600" b="1">
                <a:solidFill>
                  <a:srgbClr val="003366"/>
                </a:solidFill>
              </a:defRPr>
            </a:pPr>
            <a:r>
              <a:t>手性声子</a:t>
            </a:r>
          </a:p>
        </p:txBody>
      </p:sp>
      <p:sp>
        <p:nvSpPr>
          <p:cNvPr id="10" name="TextBox 9"/>
          <p:cNvSpPr txBox="1"/>
          <p:nvPr/>
        </p:nvSpPr>
        <p:spPr>
          <a:xfrm>
            <a:off x="550000" y="1900000"/>
            <a:ext cx="5000000" cy="1800000"/>
          </a:xfrm>
          <a:prstGeom prst="rect">
            <a:avLst/>
          </a:prstGeom>
          <a:noFill/>
        </p:spPr>
        <p:txBody>
          <a:bodyPr wrap="square">
            <a:spAutoFit/>
          </a:bodyPr>
          <a:lstStyle/>
          <a:p>
            <a:pPr algn="l">
              <a:spcBef>
                <a:spcPts val="800"/>
              </a:spcBef>
              <a:defRPr sz="1800" b="0">
                <a:solidFill>
                  <a:srgbClr val="444444"/>
                </a:solidFill>
              </a:defRPr>
            </a:pPr>
            <a:r>
              <a:t>传统观点：声子不携带角动量</a:t>
            </a:r>
          </a:p>
          <a:p>
            <a:pPr algn="l">
              <a:spcBef>
                <a:spcPts val="800"/>
              </a:spcBef>
              <a:defRPr sz="1800" b="0">
                <a:solidFill>
                  <a:srgbClr val="444444"/>
                </a:solidFill>
              </a:defRPr>
            </a:pPr>
            <a:r>
              <a:t>2014年 张力发&amp;牛谦 -&gt; 声子可获得非零平均角动量</a:t>
            </a:r>
          </a:p>
          <a:p>
            <a:pPr algn="l">
              <a:spcBef>
                <a:spcPts val="800"/>
              </a:spcBef>
              <a:defRPr sz="1800" b="0">
                <a:solidFill>
                  <a:srgbClr val="444444"/>
                </a:solidFill>
              </a:defRPr>
            </a:pPr>
            <a:r>
              <a:t>2018年 Zhang&amp;Niu -&gt; 手性声子概念</a:t>
            </a:r>
          </a:p>
          <a:p>
            <a:pPr algn="l">
              <a:spcBef>
                <a:spcPts val="800"/>
              </a:spcBef>
              <a:defRPr sz="1800" b="0">
                <a:solidFill>
                  <a:srgbClr val="444444"/>
                </a:solidFill>
              </a:defRPr>
            </a:pPr>
            <a:r>
              <a:t>声子赝角动量：蜂窝晶格 / 单层WSe2</a:t>
            </a:r>
          </a:p>
          <a:p>
            <a:pPr algn="l">
              <a:spcBef>
                <a:spcPts val="800"/>
              </a:spcBef>
              <a:defRPr sz="1800" b="0">
                <a:solidFill>
                  <a:srgbClr val="444444"/>
                </a:solidFill>
              </a:defRPr>
            </a:pPr>
            <a:r>
              <a:t>外磁场下塞曼分裂 -&gt; 手性声子磁矩</a:t>
            </a:r>
          </a:p>
          <a:p>
            <a:pPr algn="l">
              <a:spcBef>
                <a:spcPts val="800"/>
              </a:spcBef>
              <a:defRPr sz="1800" b="0">
                <a:solidFill>
                  <a:srgbClr val="444444"/>
                </a:solidFill>
              </a:defRPr>
            </a:pPr>
            <a:r>
              <a:t>手性声子可旋转偏振光的旋度</a:t>
            </a:r>
          </a:p>
          <a:p>
            <a:pPr algn="l">
              <a:spcBef>
                <a:spcPts val="800"/>
              </a:spcBef>
              <a:defRPr sz="1800" b="0">
                <a:solidFill>
                  <a:srgbClr val="444444"/>
                </a:solidFill>
              </a:defRPr>
            </a:pPr>
            <a:r>
              <a:t>反映材料内部磁性关联</a:t>
            </a:r>
          </a:p>
        </p:txBody>
      </p:sp>
      <p:sp>
        <p:nvSpPr>
          <p:cNvPr id="11" name="Rounded Rectangle 10"/>
          <p:cNvSpPr/>
          <p:nvPr/>
        </p:nvSpPr>
        <p:spPr>
          <a:xfrm>
            <a:off x="6200000" y="1300000"/>
            <a:ext cx="5500000" cy="2500000"/>
          </a:xfrm>
          <a:prstGeom prst="roundRect">
            <a:avLst/>
          </a:prstGeom>
          <a:solidFill>
            <a:srgbClr val="FFF0F5"/>
          </a:solidFill>
          <a:ln w="25400">
            <a:solidFill>
              <a:srgbClr val="E91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0000" y="1350000"/>
            <a:ext cx="5000000" cy="400000"/>
          </a:xfrm>
          <a:prstGeom prst="rect">
            <a:avLst/>
          </a:prstGeom>
          <a:noFill/>
        </p:spPr>
        <p:txBody>
          <a:bodyPr wrap="square">
            <a:spAutoFit/>
          </a:bodyPr>
          <a:lstStyle/>
          <a:p>
            <a:pPr algn="l">
              <a:spcBef>
                <a:spcPts val="0"/>
              </a:spcBef>
              <a:defRPr sz="2600" b="1">
                <a:solidFill>
                  <a:srgbClr val="003366"/>
                </a:solidFill>
              </a:defRPr>
            </a:pPr>
            <a:r>
              <a:t>磁光拉曼效应</a:t>
            </a:r>
          </a:p>
        </p:txBody>
      </p:sp>
      <p:sp>
        <p:nvSpPr>
          <p:cNvPr id="13" name="TextBox 12"/>
          <p:cNvSpPr txBox="1"/>
          <p:nvPr/>
        </p:nvSpPr>
        <p:spPr>
          <a:xfrm>
            <a:off x="6350000" y="1900000"/>
            <a:ext cx="5000000" cy="1800000"/>
          </a:xfrm>
          <a:prstGeom prst="rect">
            <a:avLst/>
          </a:prstGeom>
          <a:noFill/>
        </p:spPr>
        <p:txBody>
          <a:bodyPr wrap="square">
            <a:spAutoFit/>
          </a:bodyPr>
          <a:lstStyle/>
          <a:p>
            <a:pPr algn="l">
              <a:spcBef>
                <a:spcPts val="800"/>
              </a:spcBef>
              <a:defRPr sz="1800" b="0">
                <a:solidFill>
                  <a:srgbClr val="444444"/>
                </a:solidFill>
              </a:defRPr>
            </a:pPr>
            <a:r>
              <a:t>外加磁场调制拉曼散射张量</a:t>
            </a:r>
          </a:p>
          <a:p>
            <a:pPr algn="l">
              <a:spcBef>
                <a:spcPts val="800"/>
              </a:spcBef>
              <a:defRPr sz="1800" b="0">
                <a:solidFill>
                  <a:srgbClr val="444444"/>
                </a:solidFill>
              </a:defRPr>
            </a:pPr>
            <a:r>
              <a:t>洛伦兹力 -&gt; 振荡偶极子旋转</a:t>
            </a:r>
          </a:p>
          <a:p>
            <a:pPr algn="l">
              <a:spcBef>
                <a:spcPts val="800"/>
              </a:spcBef>
              <a:defRPr sz="1800" b="0">
                <a:solidFill>
                  <a:srgbClr val="444444"/>
                </a:solidFill>
              </a:defRPr>
            </a:pPr>
            <a:r>
              <a:t>散射光偏振方向发生旋转</a:t>
            </a:r>
          </a:p>
          <a:p>
            <a:pPr algn="l">
              <a:spcBef>
                <a:spcPts val="800"/>
              </a:spcBef>
              <a:defRPr sz="1800" b="0">
                <a:solidFill>
                  <a:srgbClr val="444444"/>
                </a:solidFill>
              </a:defRPr>
            </a:pPr>
            <a:r>
              <a:t>典型结果：</a:t>
            </a:r>
          </a:p>
          <a:p>
            <a:pPr algn="l">
              <a:spcBef>
                <a:spcPts val="800"/>
              </a:spcBef>
              <a:defRPr sz="1800" b="0">
                <a:solidFill>
                  <a:srgbClr val="444444"/>
                </a:solidFill>
              </a:defRPr>
            </a:pPr>
            <a:r>
              <a:t>  Co3Sn2S2：Eg模式分裂1.27 cm-1</a:t>
            </a:r>
          </a:p>
          <a:p>
            <a:pPr algn="l">
              <a:spcBef>
                <a:spcPts val="800"/>
              </a:spcBef>
              <a:defRPr sz="1800" b="0">
                <a:solidFill>
                  <a:srgbClr val="444444"/>
                </a:solidFill>
              </a:defRPr>
            </a:pPr>
            <a:r>
              <a:t>  CoNb3S6：12T下偏振旋转80度</a:t>
            </a:r>
          </a:p>
          <a:p>
            <a:pPr algn="l">
              <a:spcBef>
                <a:spcPts val="800"/>
              </a:spcBef>
              <a:defRPr sz="1800" b="0">
                <a:solidFill>
                  <a:srgbClr val="444444"/>
                </a:solidFill>
              </a:defRPr>
            </a:pPr>
            <a:r>
              <a:t>线性声子也能产生巨大磁光响应</a:t>
            </a:r>
          </a:p>
        </p:txBody>
      </p:sp>
      <p:sp>
        <p:nvSpPr>
          <p:cNvPr id="14" name="Rounded Rectangle 13"/>
          <p:cNvSpPr/>
          <p:nvPr/>
        </p:nvSpPr>
        <p:spPr>
          <a:xfrm>
            <a:off x="400000" y="4000000"/>
            <a:ext cx="11200000" cy="2200000"/>
          </a:xfrm>
          <a:prstGeom prst="roundRect">
            <a:avLst/>
          </a:prstGeom>
          <a:solidFill>
            <a:srgbClr val="F0F7FF"/>
          </a:solidFill>
          <a:ln w="25400">
            <a:solidFill>
              <a:srgbClr val="1870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0000" y="4100000"/>
            <a:ext cx="10500000" cy="400000"/>
          </a:xfrm>
          <a:prstGeom prst="rect">
            <a:avLst/>
          </a:prstGeom>
          <a:noFill/>
        </p:spPr>
        <p:txBody>
          <a:bodyPr wrap="square">
            <a:spAutoFit/>
          </a:bodyPr>
          <a:lstStyle/>
          <a:p>
            <a:pPr algn="l">
              <a:spcBef>
                <a:spcPts val="0"/>
              </a:spcBef>
              <a:defRPr sz="2400" b="1">
                <a:solidFill>
                  <a:srgbClr val="1A4B8C"/>
                </a:solidFill>
              </a:defRPr>
            </a:pPr>
            <a:r>
              <a:t>【本论文核心工作 - CoNb3S6 声子特性】</a:t>
            </a:r>
          </a:p>
        </p:txBody>
      </p:sp>
      <p:sp>
        <p:nvSpPr>
          <p:cNvPr id="16" name="TextBox 15"/>
          <p:cNvSpPr txBox="1"/>
          <p:nvPr/>
        </p:nvSpPr>
        <p:spPr>
          <a:xfrm>
            <a:off x="550000" y="4600000"/>
            <a:ext cx="10500000" cy="1400000"/>
          </a:xfrm>
          <a:prstGeom prst="rect">
            <a:avLst/>
          </a:prstGeom>
          <a:noFill/>
        </p:spPr>
        <p:txBody>
          <a:bodyPr wrap="square">
            <a:spAutoFit/>
          </a:bodyPr>
          <a:lstStyle/>
          <a:p>
            <a:pPr algn="l">
              <a:spcBef>
                <a:spcPts val="1000"/>
              </a:spcBef>
              <a:defRPr sz="2000" b="0">
                <a:solidFill>
                  <a:srgbClr val="333333"/>
                </a:solidFill>
              </a:defRPr>
            </a:pPr>
            <a:r>
              <a:t>发现6支声子模式：4支线性声子 + 2支手性声子</a:t>
            </a:r>
          </a:p>
          <a:p>
            <a:pPr algn="l">
              <a:spcBef>
                <a:spcPts val="1000"/>
              </a:spcBef>
              <a:defRPr sz="2000" b="0">
                <a:solidFill>
                  <a:srgbClr val="333333"/>
                </a:solidFill>
              </a:defRPr>
            </a:pPr>
            <a:r>
              <a:t>线性声子 -&gt; 巨大磁光拉曼效应（12T下偏振旋转80度）</a:t>
            </a:r>
          </a:p>
          <a:p>
            <a:pPr algn="l">
              <a:spcBef>
                <a:spcPts val="1000"/>
              </a:spcBef>
              <a:defRPr sz="2000" b="0">
                <a:solidFill>
                  <a:srgbClr val="333333"/>
                </a:solidFill>
              </a:defRPr>
            </a:pPr>
            <a:r>
              <a:t>手性声子 -&gt; 未观察到随外磁场的旋转和能量劈裂</a:t>
            </a:r>
          </a:p>
          <a:p>
            <a:pPr algn="l">
              <a:spcBef>
                <a:spcPts val="1000"/>
              </a:spcBef>
              <a:defRPr sz="2000" b="0">
                <a:solidFill>
                  <a:srgbClr val="333333"/>
                </a:solidFill>
              </a:defRPr>
            </a:pPr>
            <a:r>
              <a:t>为手性声子体系及磁光调控提供了新的实验依据</a:t>
            </a:r>
          </a:p>
        </p:txBody>
      </p:sp>
      <p:sp>
        <p:nvSpPr>
          <p:cNvPr id="17" name="TextBox 16"/>
          <p:cNvSpPr txBox="1"/>
          <p:nvPr/>
        </p:nvSpPr>
        <p:spPr>
          <a:xfrm>
            <a:off x="11600000" y="6450000"/>
            <a:ext cx="500000" cy="350000"/>
          </a:xfrm>
          <a:prstGeom prst="rect">
            <a:avLst/>
          </a:prstGeom>
          <a:noFill/>
        </p:spPr>
        <p:txBody>
          <a:bodyPr wrap="square">
            <a:spAutoFit/>
          </a:bodyPr>
          <a:lstStyle/>
          <a:p>
            <a:pPr algn="ctr">
              <a:spcBef>
                <a:spcPts val="0"/>
              </a:spcBef>
              <a:defRPr sz="1400" b="0">
                <a:solidFill>
                  <a:srgbClr val="E0E0E0"/>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50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50000"/>
            <a:ext cx="11000000" cy="700000"/>
          </a:xfrm>
          <a:prstGeom prst="rect">
            <a:avLst/>
          </a:prstGeom>
          <a:noFill/>
        </p:spPr>
        <p:txBody>
          <a:bodyPr wrap="square">
            <a:spAutoFit/>
          </a:bodyPr>
          <a:lstStyle/>
          <a:p>
            <a:pPr algn="l">
              <a:spcBef>
                <a:spcPts val="0"/>
              </a:spcBef>
              <a:defRPr sz="3200" b="1">
                <a:solidFill>
                  <a:srgbClr val="003366"/>
                </a:solidFill>
              </a:defRPr>
            </a:pPr>
            <a:r>
              <a:t>1.4 红外光电探测器</a:t>
            </a:r>
          </a:p>
        </p:txBody>
      </p:sp>
      <p:sp>
        <p:nvSpPr>
          <p:cNvPr id="6" name="Rectangle 5"/>
          <p:cNvSpPr/>
          <p:nvPr/>
        </p:nvSpPr>
        <p:spPr>
          <a:xfrm>
            <a:off x="500000" y="800000"/>
            <a:ext cx="1500000" cy="4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850000"/>
            <a:ext cx="11000000" cy="500000"/>
          </a:xfrm>
          <a:prstGeom prst="rect">
            <a:avLst/>
          </a:prstGeom>
          <a:noFill/>
        </p:spPr>
        <p:txBody>
          <a:bodyPr wrap="square">
            <a:spAutoFit/>
          </a:bodyPr>
          <a:lstStyle/>
          <a:p>
            <a:pPr algn="l">
              <a:spcBef>
                <a:spcPts val="0"/>
              </a:spcBef>
              <a:defRPr sz="2200" b="1">
                <a:solidFill>
                  <a:srgbClr val="1A4B8C"/>
                </a:solidFill>
              </a:defRPr>
            </a:pPr>
            <a:r>
              <a:t>二维量子材料与拓扑材料 - 红外探测新机制</a:t>
            </a:r>
          </a:p>
        </p:txBody>
      </p:sp>
      <p:sp>
        <p:nvSpPr>
          <p:cNvPr id="8" name="Rounded Rectangle 7"/>
          <p:cNvSpPr/>
          <p:nvPr/>
        </p:nvSpPr>
        <p:spPr>
          <a:xfrm>
            <a:off x="400000" y="1300000"/>
            <a:ext cx="5500000" cy="5000000"/>
          </a:xfrm>
          <a:prstGeom prst="roundRect">
            <a:avLst/>
          </a:prstGeom>
          <a:solidFill>
            <a:srgbClr val="F0F7FF"/>
          </a:solidFill>
          <a:ln w="25400">
            <a:solidFill>
              <a:srgbClr val="1870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0000" y="1350000"/>
            <a:ext cx="5000000" cy="400000"/>
          </a:xfrm>
          <a:prstGeom prst="rect">
            <a:avLst/>
          </a:prstGeom>
          <a:noFill/>
        </p:spPr>
        <p:txBody>
          <a:bodyPr wrap="square">
            <a:spAutoFit/>
          </a:bodyPr>
          <a:lstStyle/>
          <a:p>
            <a:pPr algn="l">
              <a:spcBef>
                <a:spcPts val="0"/>
              </a:spcBef>
              <a:defRPr sz="2400" b="1">
                <a:solidFill>
                  <a:srgbClr val="003366"/>
                </a:solidFill>
              </a:defRPr>
            </a:pPr>
            <a:r>
              <a:t>材料体系</a:t>
            </a:r>
          </a:p>
        </p:txBody>
      </p:sp>
      <p:sp>
        <p:nvSpPr>
          <p:cNvPr id="10" name="TextBox 9"/>
          <p:cNvSpPr txBox="1"/>
          <p:nvPr/>
        </p:nvSpPr>
        <p:spPr>
          <a:xfrm>
            <a:off x="550000" y="1900000"/>
            <a:ext cx="5000000" cy="4000000"/>
          </a:xfrm>
          <a:prstGeom prst="rect">
            <a:avLst/>
          </a:prstGeom>
          <a:noFill/>
        </p:spPr>
        <p:txBody>
          <a:bodyPr wrap="square">
            <a:spAutoFit/>
          </a:bodyPr>
          <a:lstStyle/>
          <a:p>
            <a:pPr algn="l">
              <a:spcBef>
                <a:spcPts val="300"/>
              </a:spcBef>
              <a:defRPr sz="1700" b="0">
                <a:solidFill>
                  <a:srgbClr val="555555"/>
                </a:solidFill>
              </a:defRPr>
            </a:pPr>
            <a:r>
              <a:t>拓扑绝缘体：</a:t>
            </a:r>
          </a:p>
          <a:p>
            <a:pPr algn="l">
              <a:spcBef>
                <a:spcPts val="300"/>
              </a:spcBef>
              <a:defRPr sz="1700" b="0">
                <a:solidFill>
                  <a:srgbClr val="555555"/>
                </a:solidFill>
              </a:defRPr>
            </a:pPr>
            <a:r>
              <a:t>  Bi2Se3, Bi2Te3, Sb2Te3</a:t>
            </a:r>
          </a:p>
          <a:p>
            <a:pPr algn="l">
              <a:spcBef>
                <a:spcPts val="300"/>
              </a:spcBef>
              <a:defRPr sz="1700" b="0">
                <a:solidFill>
                  <a:srgbClr val="555555"/>
                </a:solidFill>
              </a:defRPr>
            </a:pPr>
            <a:r>
              <a:t>  窄带隙 + 高迁移率表面态</a:t>
            </a:r>
          </a:p>
          <a:p>
            <a:pPr algn="l">
              <a:spcBef>
                <a:spcPts val="300"/>
              </a:spcBef>
              <a:defRPr sz="1700" b="0">
                <a:solidFill>
                  <a:srgbClr val="555555"/>
                </a:solidFill>
              </a:defRPr>
            </a:pPr>
            <a:r>
              <a:t>  可见光-近红外响应度10^2-10^3 A/W</a:t>
            </a:r>
          </a:p>
          <a:p>
            <a:pPr algn="l">
              <a:spcBef>
                <a:spcPts val="300"/>
              </a:spcBef>
              <a:defRPr sz="1700" b="0">
                <a:solidFill>
                  <a:srgbClr val="555555"/>
                </a:solidFill>
              </a:defRPr>
            </a:pPr>
          </a:p>
          <a:p>
            <a:pPr algn="l">
              <a:spcBef>
                <a:spcPts val="300"/>
              </a:spcBef>
              <a:defRPr sz="1700" b="0">
                <a:solidFill>
                  <a:srgbClr val="555555"/>
                </a:solidFill>
              </a:defRPr>
            </a:pPr>
            <a:r>
              <a:t>二维材料：</a:t>
            </a:r>
          </a:p>
          <a:p>
            <a:pPr algn="l">
              <a:spcBef>
                <a:spcPts val="300"/>
              </a:spcBef>
              <a:defRPr sz="1700" b="0">
                <a:solidFill>
                  <a:srgbClr val="555555"/>
                </a:solidFill>
              </a:defRPr>
            </a:pPr>
            <a:r>
              <a:t>  石墨烯, 黑磷(BP), TMDs</a:t>
            </a:r>
          </a:p>
          <a:p>
            <a:pPr algn="l">
              <a:spcBef>
                <a:spcPts val="300"/>
              </a:spcBef>
              <a:defRPr sz="1700" b="0">
                <a:solidFill>
                  <a:srgbClr val="555555"/>
                </a:solidFill>
              </a:defRPr>
            </a:pPr>
            <a:r>
              <a:t>  层数可调带隙：0.3-1.5 eV</a:t>
            </a:r>
          </a:p>
          <a:p>
            <a:pPr algn="l">
              <a:spcBef>
                <a:spcPts val="300"/>
              </a:spcBef>
              <a:defRPr sz="1700" b="0">
                <a:solidFill>
                  <a:srgbClr val="555555"/>
                </a:solidFill>
              </a:defRPr>
            </a:pPr>
          </a:p>
          <a:p>
            <a:pPr algn="l">
              <a:spcBef>
                <a:spcPts val="300"/>
              </a:spcBef>
              <a:defRPr sz="1700" b="0">
                <a:solidFill>
                  <a:srgbClr val="555555"/>
                </a:solidFill>
              </a:defRPr>
            </a:pPr>
            <a:r>
              <a:t>拓扑半金属：</a:t>
            </a:r>
          </a:p>
          <a:p>
            <a:pPr algn="l">
              <a:spcBef>
                <a:spcPts val="300"/>
              </a:spcBef>
              <a:defRPr sz="1700" b="0">
                <a:solidFill>
                  <a:srgbClr val="555555"/>
                </a:solidFill>
              </a:defRPr>
            </a:pPr>
            <a:r>
              <a:t>  TaAs (Type-I WSM), TaIrTe4 (Type-II WSM)</a:t>
            </a:r>
          </a:p>
          <a:p>
            <a:pPr algn="l">
              <a:spcBef>
                <a:spcPts val="300"/>
              </a:spcBef>
              <a:defRPr sz="1700" b="0">
                <a:solidFill>
                  <a:srgbClr val="555555"/>
                </a:solidFill>
              </a:defRPr>
            </a:pPr>
            <a:r>
              <a:t>  贝里曲率增强位移电流</a:t>
            </a:r>
          </a:p>
          <a:p>
            <a:pPr algn="l">
              <a:spcBef>
                <a:spcPts val="300"/>
              </a:spcBef>
              <a:defRPr sz="1700" b="0">
                <a:solidFill>
                  <a:srgbClr val="555555"/>
                </a:solidFill>
              </a:defRPr>
            </a:pPr>
            <a:r>
              <a:t>  中红外-太赫兹非线性光电响应</a:t>
            </a:r>
          </a:p>
          <a:p>
            <a:pPr algn="l">
              <a:spcBef>
                <a:spcPts val="300"/>
              </a:spcBef>
              <a:defRPr sz="1700" b="0">
                <a:solidFill>
                  <a:srgbClr val="555555"/>
                </a:solidFill>
              </a:defRPr>
            </a:pPr>
          </a:p>
          <a:p>
            <a:pPr algn="l">
              <a:spcBef>
                <a:spcPts val="300"/>
              </a:spcBef>
              <a:defRPr sz="1700" b="0">
                <a:solidFill>
                  <a:srgbClr val="555555"/>
                </a:solidFill>
              </a:defRPr>
            </a:pPr>
            <a:r>
              <a:t>呼吸笼目晶格 Nb3X8：</a:t>
            </a:r>
          </a:p>
          <a:p>
            <a:pPr algn="l">
              <a:spcBef>
                <a:spcPts val="300"/>
              </a:spcBef>
              <a:defRPr sz="1700" b="0">
                <a:solidFill>
                  <a:srgbClr val="555555"/>
                </a:solidFill>
              </a:defRPr>
            </a:pPr>
            <a:r>
              <a:t>  电子平带 + 声子平带特性</a:t>
            </a:r>
          </a:p>
          <a:p>
            <a:pPr algn="l">
              <a:spcBef>
                <a:spcPts val="300"/>
              </a:spcBef>
              <a:defRPr sz="1700" b="0">
                <a:solidFill>
                  <a:srgbClr val="555555"/>
                </a:solidFill>
              </a:defRPr>
            </a:pPr>
            <a:r>
              <a:t>  关联绝缘态 -&gt; 宽光谱探测</a:t>
            </a:r>
          </a:p>
        </p:txBody>
      </p:sp>
      <p:sp>
        <p:nvSpPr>
          <p:cNvPr id="11" name="Rounded Rectangle 10"/>
          <p:cNvSpPr/>
          <p:nvPr/>
        </p:nvSpPr>
        <p:spPr>
          <a:xfrm>
            <a:off x="6200000" y="1300000"/>
            <a:ext cx="5500000" cy="2800000"/>
          </a:xfrm>
          <a:prstGeom prst="roundRect">
            <a:avLst/>
          </a:prstGeom>
          <a:solidFill>
            <a:srgbClr val="FFF8F0"/>
          </a:solidFill>
          <a:ln>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0000" y="1350000"/>
            <a:ext cx="5000000" cy="400000"/>
          </a:xfrm>
          <a:prstGeom prst="rect">
            <a:avLst/>
          </a:prstGeom>
          <a:noFill/>
        </p:spPr>
        <p:txBody>
          <a:bodyPr wrap="square">
            <a:spAutoFit/>
          </a:bodyPr>
          <a:lstStyle/>
          <a:p>
            <a:pPr algn="l">
              <a:spcBef>
                <a:spcPts val="0"/>
              </a:spcBef>
              <a:defRPr sz="2400" b="1">
                <a:solidFill>
                  <a:srgbClr val="003366"/>
                </a:solidFill>
              </a:defRPr>
            </a:pPr>
            <a:r>
              <a:t>主要工作机制</a:t>
            </a:r>
          </a:p>
        </p:txBody>
      </p:sp>
      <p:sp>
        <p:nvSpPr>
          <p:cNvPr id="13" name="TextBox 12"/>
          <p:cNvSpPr txBox="1"/>
          <p:nvPr/>
        </p:nvSpPr>
        <p:spPr>
          <a:xfrm>
            <a:off x="6350000" y="1900000"/>
            <a:ext cx="5000000" cy="2000000"/>
          </a:xfrm>
          <a:prstGeom prst="rect">
            <a:avLst/>
          </a:prstGeom>
          <a:noFill/>
        </p:spPr>
        <p:txBody>
          <a:bodyPr wrap="square">
            <a:spAutoFit/>
          </a:bodyPr>
          <a:lstStyle/>
          <a:p>
            <a:pPr algn="l">
              <a:spcBef>
                <a:spcPts val="400"/>
              </a:spcBef>
              <a:defRPr sz="1700" b="0">
                <a:solidFill>
                  <a:srgbClr val="555555"/>
                </a:solidFill>
              </a:defRPr>
            </a:pPr>
            <a:r>
              <a:t>1. 光电导效应 (PCE)</a:t>
            </a:r>
          </a:p>
          <a:p>
            <a:pPr algn="l">
              <a:spcBef>
                <a:spcPts val="400"/>
              </a:spcBef>
              <a:defRPr sz="1700" b="0">
                <a:solidFill>
                  <a:srgbClr val="555555"/>
                </a:solidFill>
              </a:defRPr>
            </a:pPr>
            <a:r>
              <a:t>   光子能量 &gt; 带隙 -&gt; 电子空穴对</a:t>
            </a:r>
          </a:p>
          <a:p>
            <a:pPr algn="l">
              <a:spcBef>
                <a:spcPts val="400"/>
              </a:spcBef>
              <a:defRPr sz="1700" b="0">
                <a:solidFill>
                  <a:srgbClr val="555555"/>
                </a:solidFill>
              </a:defRPr>
            </a:pPr>
            <a:r>
              <a:t>2. 光栅压效应 (PE)</a:t>
            </a:r>
          </a:p>
          <a:p>
            <a:pPr algn="l">
              <a:spcBef>
                <a:spcPts val="400"/>
              </a:spcBef>
              <a:defRPr sz="1700" b="0">
                <a:solidFill>
                  <a:srgbClr val="555555"/>
                </a:solidFill>
              </a:defRPr>
            </a:pPr>
            <a:r>
              <a:t>   陷阱态调制阈值电压</a:t>
            </a:r>
          </a:p>
          <a:p>
            <a:pPr algn="l">
              <a:spcBef>
                <a:spcPts val="400"/>
              </a:spcBef>
              <a:defRPr sz="1700" b="0">
                <a:solidFill>
                  <a:srgbClr val="555555"/>
                </a:solidFill>
              </a:defRPr>
            </a:pPr>
            <a:r>
              <a:t>3. 体光伏效应 (BPVE)</a:t>
            </a:r>
          </a:p>
          <a:p>
            <a:pPr algn="l">
              <a:spcBef>
                <a:spcPts val="400"/>
              </a:spcBef>
              <a:defRPr sz="1700" b="0">
                <a:solidFill>
                  <a:srgbClr val="555555"/>
                </a:solidFill>
              </a:defRPr>
            </a:pPr>
            <a:r>
              <a:t>   非对称势场 -&gt; 净光电流</a:t>
            </a:r>
          </a:p>
          <a:p>
            <a:pPr algn="l">
              <a:spcBef>
                <a:spcPts val="400"/>
              </a:spcBef>
              <a:defRPr sz="1700" b="0">
                <a:solidFill>
                  <a:srgbClr val="555555"/>
                </a:solidFill>
              </a:defRPr>
            </a:pPr>
            <a:r>
              <a:t>4. 光热电效应 (PTE)</a:t>
            </a:r>
          </a:p>
          <a:p>
            <a:pPr algn="l">
              <a:spcBef>
                <a:spcPts val="400"/>
              </a:spcBef>
              <a:defRPr sz="1700" b="0">
                <a:solidFill>
                  <a:srgbClr val="555555"/>
                </a:solidFill>
              </a:defRPr>
            </a:pPr>
            <a:r>
              <a:t>   温差 -&gt; 塞贝克电压</a:t>
            </a:r>
          </a:p>
          <a:p>
            <a:pPr algn="l">
              <a:spcBef>
                <a:spcPts val="400"/>
              </a:spcBef>
              <a:defRPr sz="1700" b="0">
                <a:solidFill>
                  <a:srgbClr val="555555"/>
                </a:solidFill>
              </a:defRPr>
            </a:pPr>
            <a:r>
              <a:t>5. 辐射热效应 (Bolometer)</a:t>
            </a:r>
          </a:p>
          <a:p>
            <a:pPr algn="l">
              <a:spcBef>
                <a:spcPts val="400"/>
              </a:spcBef>
              <a:defRPr sz="1700" b="0">
                <a:solidFill>
                  <a:srgbClr val="555555"/>
                </a:solidFill>
              </a:defRPr>
            </a:pPr>
            <a:r>
              <a:t>   温度变化 -&gt; 电阻变化</a:t>
            </a:r>
          </a:p>
        </p:txBody>
      </p:sp>
      <p:sp>
        <p:nvSpPr>
          <p:cNvPr id="14" name="Rounded Rectangle 13"/>
          <p:cNvSpPr/>
          <p:nvPr/>
        </p:nvSpPr>
        <p:spPr>
          <a:xfrm>
            <a:off x="6200000" y="4300000"/>
            <a:ext cx="5500000" cy="2000000"/>
          </a:xfrm>
          <a:prstGeom prst="roundRect">
            <a:avLst/>
          </a:prstGeom>
          <a:solidFill>
            <a:srgbClr val="F0F7FF"/>
          </a:solidFill>
          <a:ln w="25400">
            <a:solidFill>
              <a:srgbClr val="1870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0000" y="4350000"/>
            <a:ext cx="5000000" cy="400000"/>
          </a:xfrm>
          <a:prstGeom prst="rect">
            <a:avLst/>
          </a:prstGeom>
          <a:noFill/>
        </p:spPr>
        <p:txBody>
          <a:bodyPr wrap="square">
            <a:spAutoFit/>
          </a:bodyPr>
          <a:lstStyle/>
          <a:p>
            <a:pPr algn="l">
              <a:spcBef>
                <a:spcPts val="0"/>
              </a:spcBef>
              <a:defRPr sz="2400" b="1">
                <a:solidFill>
                  <a:srgbClr val="003366"/>
                </a:solidFill>
              </a:defRPr>
            </a:pPr>
            <a:r>
              <a:t>关键性能参数</a:t>
            </a:r>
          </a:p>
        </p:txBody>
      </p:sp>
      <p:sp>
        <p:nvSpPr>
          <p:cNvPr id="16" name="TextBox 15"/>
          <p:cNvSpPr txBox="1"/>
          <p:nvPr/>
        </p:nvSpPr>
        <p:spPr>
          <a:xfrm>
            <a:off x="6350000" y="4850000"/>
            <a:ext cx="5000000" cy="1200000"/>
          </a:xfrm>
          <a:prstGeom prst="rect">
            <a:avLst/>
          </a:prstGeom>
          <a:noFill/>
        </p:spPr>
        <p:txBody>
          <a:bodyPr wrap="square">
            <a:spAutoFit/>
          </a:bodyPr>
          <a:lstStyle/>
          <a:p>
            <a:pPr algn="l">
              <a:spcBef>
                <a:spcPts val="600"/>
              </a:spcBef>
              <a:defRPr sz="1700" b="0">
                <a:solidFill>
                  <a:srgbClr val="444444"/>
                </a:solidFill>
              </a:defRPr>
            </a:pPr>
            <a:r>
              <a:t>R = I_photo / P_light      (响应度 A/W)</a:t>
            </a:r>
          </a:p>
          <a:p>
            <a:pPr algn="l">
              <a:spcBef>
                <a:spcPts val="600"/>
              </a:spcBef>
              <a:defRPr sz="1700" b="0">
                <a:solidFill>
                  <a:srgbClr val="444444"/>
                </a:solidFill>
              </a:defRPr>
            </a:pPr>
            <a:r>
              <a:t>NEP = i_n / R               (噪声等效功率)</a:t>
            </a:r>
          </a:p>
          <a:p>
            <a:pPr algn="l">
              <a:spcBef>
                <a:spcPts val="600"/>
              </a:spcBef>
              <a:defRPr sz="1700" b="0">
                <a:solidFill>
                  <a:srgbClr val="444444"/>
                </a:solidFill>
              </a:defRPr>
            </a:pPr>
            <a:r>
              <a:t>D* = R * sqrt(A*B) / i_n   (比探测率 Jones)</a:t>
            </a:r>
          </a:p>
          <a:p>
            <a:pPr algn="l">
              <a:spcBef>
                <a:spcPts val="600"/>
              </a:spcBef>
              <a:defRPr sz="1700" b="0">
                <a:solidFill>
                  <a:srgbClr val="444444"/>
                </a:solidFill>
              </a:defRPr>
            </a:pPr>
            <a:r>
              <a:t>响应时间 tau (上升/衰减)</a:t>
            </a:r>
          </a:p>
        </p:txBody>
      </p:sp>
      <p:sp>
        <p:nvSpPr>
          <p:cNvPr id="17" name="TextBox 16"/>
          <p:cNvSpPr txBox="1"/>
          <p:nvPr/>
        </p:nvSpPr>
        <p:spPr>
          <a:xfrm>
            <a:off x="11600000" y="6450000"/>
            <a:ext cx="500000" cy="350000"/>
          </a:xfrm>
          <a:prstGeom prst="rect">
            <a:avLst/>
          </a:prstGeom>
          <a:noFill/>
        </p:spPr>
        <p:txBody>
          <a:bodyPr wrap="square">
            <a:spAutoFit/>
          </a:bodyPr>
          <a:lstStyle/>
          <a:p>
            <a:pPr algn="ctr">
              <a:spcBef>
                <a:spcPts val="0"/>
              </a:spcBef>
              <a:defRPr sz="1400" b="0">
                <a:solidFill>
                  <a:srgbClr val="E0E0E0"/>
                </a:solidFil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50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50000"/>
            <a:ext cx="11000000" cy="700000"/>
          </a:xfrm>
          <a:prstGeom prst="rect">
            <a:avLst/>
          </a:prstGeom>
          <a:noFill/>
        </p:spPr>
        <p:txBody>
          <a:bodyPr wrap="square">
            <a:spAutoFit/>
          </a:bodyPr>
          <a:lstStyle/>
          <a:p>
            <a:pPr algn="l">
              <a:spcBef>
                <a:spcPts val="0"/>
              </a:spcBef>
              <a:defRPr sz="3200" b="1">
                <a:solidFill>
                  <a:srgbClr val="003366"/>
                </a:solidFill>
              </a:defRPr>
            </a:pPr>
            <a:r>
              <a:t>1.5 论文组织结构及创新点</a:t>
            </a:r>
          </a:p>
        </p:txBody>
      </p:sp>
      <p:sp>
        <p:nvSpPr>
          <p:cNvPr id="6" name="Rectangle 5"/>
          <p:cNvSpPr/>
          <p:nvPr/>
        </p:nvSpPr>
        <p:spPr>
          <a:xfrm>
            <a:off x="500000" y="800000"/>
            <a:ext cx="1500000" cy="4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850000"/>
            <a:ext cx="11000000" cy="500000"/>
          </a:xfrm>
          <a:prstGeom prst="rect">
            <a:avLst/>
          </a:prstGeom>
          <a:noFill/>
        </p:spPr>
        <p:txBody>
          <a:bodyPr wrap="square">
            <a:spAutoFit/>
          </a:bodyPr>
          <a:lstStyle/>
          <a:p>
            <a:pPr algn="l">
              <a:spcBef>
                <a:spcPts val="0"/>
              </a:spcBef>
              <a:defRPr sz="2200" b="1">
                <a:solidFill>
                  <a:srgbClr val="1A4B8C"/>
                </a:solidFill>
              </a:defRPr>
            </a:pPr>
            <a:r>
              <a:t>三个核心研究内容 - 电子 + 声子 + 光电</a:t>
            </a:r>
          </a:p>
        </p:txBody>
      </p:sp>
      <p:sp>
        <p:nvSpPr>
          <p:cNvPr id="8" name="Rounded Rectangle 7"/>
          <p:cNvSpPr/>
          <p:nvPr/>
        </p:nvSpPr>
        <p:spPr>
          <a:xfrm>
            <a:off x="400000" y="1400000"/>
            <a:ext cx="11200000" cy="1500000"/>
          </a:xfrm>
          <a:prstGeom prst="roundRect">
            <a:avLst/>
          </a:prstGeom>
          <a:solidFill>
            <a:srgbClr val="F8F9FA"/>
          </a:solidFill>
          <a:ln w="38100">
            <a:solidFill>
              <a:srgbClr val="1870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00000" y="1400000"/>
            <a:ext cx="150000" cy="1500000"/>
          </a:xfrm>
          <a:prstGeom prst="rect">
            <a:avLst/>
          </a:prstGeom>
          <a:solidFill>
            <a:srgbClr val="187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0000" y="1900000"/>
            <a:ext cx="500000" cy="500000"/>
          </a:xfrm>
          <a:prstGeom prst="ellipse">
            <a:avLst/>
          </a:prstGeom>
          <a:solidFill>
            <a:srgbClr val="187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t>1</a:t>
            </a:r>
          </a:p>
        </p:txBody>
      </p:sp>
      <p:sp>
        <p:nvSpPr>
          <p:cNvPr id="11" name="TextBox 10"/>
          <p:cNvSpPr txBox="1"/>
          <p:nvPr/>
        </p:nvSpPr>
        <p:spPr>
          <a:xfrm>
            <a:off x="1300000" y="1500000"/>
            <a:ext cx="9800000" cy="400000"/>
          </a:xfrm>
          <a:prstGeom prst="rect">
            <a:avLst/>
          </a:prstGeom>
          <a:noFill/>
        </p:spPr>
        <p:txBody>
          <a:bodyPr wrap="square">
            <a:spAutoFit/>
          </a:bodyPr>
          <a:lstStyle/>
          <a:p>
            <a:pPr algn="l">
              <a:spcBef>
                <a:spcPts val="0"/>
              </a:spcBef>
              <a:defRPr sz="2400" b="1">
                <a:solidFill>
                  <a:srgbClr val="003366"/>
                </a:solidFill>
              </a:defRPr>
            </a:pPr>
            <a:r>
              <a:t>工作一：ZrAs2 中的极大不饱和磁阻与手性反常</a:t>
            </a:r>
          </a:p>
        </p:txBody>
      </p:sp>
      <p:sp>
        <p:nvSpPr>
          <p:cNvPr id="12" name="TextBox 11"/>
          <p:cNvSpPr txBox="1"/>
          <p:nvPr/>
        </p:nvSpPr>
        <p:spPr>
          <a:xfrm>
            <a:off x="1300000" y="1950000"/>
            <a:ext cx="9800000" cy="900000"/>
          </a:xfrm>
          <a:prstGeom prst="rect">
            <a:avLst/>
          </a:prstGeom>
          <a:noFill/>
        </p:spPr>
        <p:txBody>
          <a:bodyPr wrap="square">
            <a:spAutoFit/>
          </a:bodyPr>
          <a:lstStyle/>
          <a:p>
            <a:pPr algn="l">
              <a:spcBef>
                <a:spcPts val="500"/>
              </a:spcBef>
              <a:defRPr sz="1800" b="0">
                <a:solidFill>
                  <a:srgbClr val="666666"/>
                </a:solidFill>
              </a:defRPr>
            </a:pPr>
            <a:r>
              <a:t>材料：拓扑节线半金属 ZrAs2</a:t>
            </a:r>
          </a:p>
          <a:p>
            <a:pPr algn="l">
              <a:spcBef>
                <a:spcPts val="500"/>
              </a:spcBef>
              <a:defRPr sz="1800" b="0">
                <a:solidFill>
                  <a:srgbClr val="666666"/>
                </a:solidFill>
              </a:defRPr>
            </a:pPr>
            <a:r>
              <a:t>方法：低温电输运测量 + 理论计算</a:t>
            </a:r>
          </a:p>
          <a:p>
            <a:pPr algn="l">
              <a:spcBef>
                <a:spcPts val="500"/>
              </a:spcBef>
              <a:defRPr sz="1800" b="0">
                <a:solidFill>
                  <a:srgbClr val="666666"/>
                </a:solidFill>
              </a:defRPr>
            </a:pPr>
            <a:r>
              <a:t>发现：极大不饱和磁阻，电子-空穴补偿与SdH振荡解析费米面</a:t>
            </a:r>
          </a:p>
        </p:txBody>
      </p:sp>
      <p:sp>
        <p:nvSpPr>
          <p:cNvPr id="13" name="Rounded Rectangle 12"/>
          <p:cNvSpPr/>
          <p:nvPr/>
        </p:nvSpPr>
        <p:spPr>
          <a:xfrm>
            <a:off x="400000" y="3100000"/>
            <a:ext cx="11200000" cy="1500000"/>
          </a:xfrm>
          <a:prstGeom prst="roundRect">
            <a:avLst/>
          </a:prstGeom>
          <a:solidFill>
            <a:srgbClr val="F8F9FA"/>
          </a:solidFill>
          <a:ln w="381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0000" y="3100000"/>
            <a:ext cx="150000" cy="15000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0000" y="3600000"/>
            <a:ext cx="500000" cy="50000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t>2</a:t>
            </a:r>
          </a:p>
        </p:txBody>
      </p:sp>
      <p:sp>
        <p:nvSpPr>
          <p:cNvPr id="16" name="TextBox 15"/>
          <p:cNvSpPr txBox="1"/>
          <p:nvPr/>
        </p:nvSpPr>
        <p:spPr>
          <a:xfrm>
            <a:off x="1300000" y="3200000"/>
            <a:ext cx="9800000" cy="400000"/>
          </a:xfrm>
          <a:prstGeom prst="rect">
            <a:avLst/>
          </a:prstGeom>
          <a:noFill/>
        </p:spPr>
        <p:txBody>
          <a:bodyPr wrap="square">
            <a:spAutoFit/>
          </a:bodyPr>
          <a:lstStyle/>
          <a:p>
            <a:pPr algn="l">
              <a:spcBef>
                <a:spcPts val="0"/>
              </a:spcBef>
              <a:defRPr sz="2400" b="1">
                <a:solidFill>
                  <a:srgbClr val="003366"/>
                </a:solidFill>
              </a:defRPr>
            </a:pPr>
            <a:r>
              <a:t>工作二：CoNb3S6 中的拓扑三阶非线性霍尔效应</a:t>
            </a:r>
          </a:p>
        </p:txBody>
      </p:sp>
      <p:sp>
        <p:nvSpPr>
          <p:cNvPr id="17" name="TextBox 16"/>
          <p:cNvSpPr txBox="1"/>
          <p:nvPr/>
        </p:nvSpPr>
        <p:spPr>
          <a:xfrm>
            <a:off x="1300000" y="3650000"/>
            <a:ext cx="9800000" cy="900000"/>
          </a:xfrm>
          <a:prstGeom prst="rect">
            <a:avLst/>
          </a:prstGeom>
          <a:noFill/>
        </p:spPr>
        <p:txBody>
          <a:bodyPr wrap="square">
            <a:spAutoFit/>
          </a:bodyPr>
          <a:lstStyle/>
          <a:p>
            <a:pPr algn="l">
              <a:spcBef>
                <a:spcPts val="500"/>
              </a:spcBef>
              <a:defRPr sz="1800" b="0">
                <a:solidFill>
                  <a:srgbClr val="666666"/>
                </a:solidFill>
              </a:defRPr>
            </a:pPr>
            <a:r>
              <a:t>材料：手性反铁磁体 CoNb3S6</a:t>
            </a:r>
          </a:p>
          <a:p>
            <a:pPr algn="l">
              <a:spcBef>
                <a:spcPts val="500"/>
              </a:spcBef>
              <a:defRPr sz="1800" b="0">
                <a:solidFill>
                  <a:srgbClr val="666666"/>
                </a:solidFill>
              </a:defRPr>
            </a:pPr>
            <a:r>
              <a:t>方法：非线性电输运 + 对称性分析 + 第一性原理</a:t>
            </a:r>
          </a:p>
          <a:p>
            <a:pPr algn="l">
              <a:spcBef>
                <a:spcPts val="500"/>
              </a:spcBef>
              <a:defRPr sz="1800" b="0">
                <a:solidFill>
                  <a:srgbClr val="666666"/>
                </a:solidFill>
              </a:defRPr>
            </a:pPr>
            <a:r>
              <a:t>发现：三阶信号仅在TN以下出现，起源为贝里曲率四极矩</a:t>
            </a:r>
          </a:p>
        </p:txBody>
      </p:sp>
      <p:sp>
        <p:nvSpPr>
          <p:cNvPr id="18" name="Rounded Rectangle 17"/>
          <p:cNvSpPr/>
          <p:nvPr/>
        </p:nvSpPr>
        <p:spPr>
          <a:xfrm>
            <a:off x="400000" y="4800000"/>
            <a:ext cx="11200000" cy="1500000"/>
          </a:xfrm>
          <a:prstGeom prst="roundRect">
            <a:avLst/>
          </a:prstGeom>
          <a:solidFill>
            <a:srgbClr val="F8F9FA"/>
          </a:solidFill>
          <a:ln w="381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00000" y="4800000"/>
            <a:ext cx="150000" cy="15000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0000" y="5300000"/>
            <a:ext cx="500000" cy="50000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t>3</a:t>
            </a:r>
          </a:p>
        </p:txBody>
      </p:sp>
      <p:sp>
        <p:nvSpPr>
          <p:cNvPr id="21" name="TextBox 20"/>
          <p:cNvSpPr txBox="1"/>
          <p:nvPr/>
        </p:nvSpPr>
        <p:spPr>
          <a:xfrm>
            <a:off x="1300000" y="4900000"/>
            <a:ext cx="9800000" cy="400000"/>
          </a:xfrm>
          <a:prstGeom prst="rect">
            <a:avLst/>
          </a:prstGeom>
          <a:noFill/>
        </p:spPr>
        <p:txBody>
          <a:bodyPr wrap="square">
            <a:spAutoFit/>
          </a:bodyPr>
          <a:lstStyle/>
          <a:p>
            <a:pPr algn="l">
              <a:spcBef>
                <a:spcPts val="0"/>
              </a:spcBef>
              <a:defRPr sz="2400" b="1">
                <a:solidFill>
                  <a:srgbClr val="003366"/>
                </a:solidFill>
              </a:defRPr>
            </a:pPr>
            <a:r>
              <a:t>工作三：CoNb3S6 中的手性声子与磁光拉曼效应</a:t>
            </a:r>
          </a:p>
        </p:txBody>
      </p:sp>
      <p:sp>
        <p:nvSpPr>
          <p:cNvPr id="22" name="TextBox 21"/>
          <p:cNvSpPr txBox="1"/>
          <p:nvPr/>
        </p:nvSpPr>
        <p:spPr>
          <a:xfrm>
            <a:off x="1300000" y="5350000"/>
            <a:ext cx="9800000" cy="900000"/>
          </a:xfrm>
          <a:prstGeom prst="rect">
            <a:avLst/>
          </a:prstGeom>
          <a:noFill/>
        </p:spPr>
        <p:txBody>
          <a:bodyPr wrap="square">
            <a:spAutoFit/>
          </a:bodyPr>
          <a:lstStyle/>
          <a:p>
            <a:pPr algn="l">
              <a:spcBef>
                <a:spcPts val="500"/>
              </a:spcBef>
              <a:defRPr sz="1800" b="0">
                <a:solidFill>
                  <a:srgbClr val="666666"/>
                </a:solidFill>
              </a:defRPr>
            </a:pPr>
            <a:r>
              <a:t>材料：手性反铁磁体 CoNb3S6</a:t>
            </a:r>
          </a:p>
          <a:p>
            <a:pPr algn="l">
              <a:spcBef>
                <a:spcPts val="500"/>
              </a:spcBef>
              <a:defRPr sz="1800" b="0">
                <a:solidFill>
                  <a:srgbClr val="666666"/>
                </a:solidFill>
              </a:defRPr>
            </a:pPr>
            <a:r>
              <a:t>方法：偏振/磁场/温度依赖拉曼光谱 + DFT计算</a:t>
            </a:r>
          </a:p>
          <a:p>
            <a:pPr algn="l">
              <a:spcBef>
                <a:spcPts val="500"/>
              </a:spcBef>
              <a:defRPr sz="1800" b="0">
                <a:solidFill>
                  <a:srgbClr val="666666"/>
                </a:solidFill>
              </a:defRPr>
            </a:pPr>
            <a:r>
              <a:t>发现：4支线性声子+2支手性声子，12T下偏振旋转80度</a:t>
            </a:r>
          </a:p>
        </p:txBody>
      </p:sp>
      <p:sp>
        <p:nvSpPr>
          <p:cNvPr id="23" name="TextBox 22"/>
          <p:cNvSpPr txBox="1"/>
          <p:nvPr/>
        </p:nvSpPr>
        <p:spPr>
          <a:xfrm>
            <a:off x="11600000" y="6450000"/>
            <a:ext cx="500000" cy="350000"/>
          </a:xfrm>
          <a:prstGeom prst="rect">
            <a:avLst/>
          </a:prstGeom>
          <a:noFill/>
        </p:spPr>
        <p:txBody>
          <a:bodyPr wrap="square">
            <a:spAutoFit/>
          </a:bodyPr>
          <a:lstStyle/>
          <a:p>
            <a:pPr algn="ctr">
              <a:spcBef>
                <a:spcPts val="0"/>
              </a:spcBef>
              <a:defRPr sz="1400" b="0">
                <a:solidFill>
                  <a:srgbClr val="E0E0E0"/>
                </a:solidFil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0000" y="1800000"/>
            <a:ext cx="3000000" cy="2000000"/>
          </a:xfrm>
          <a:prstGeom prst="rect">
            <a:avLst/>
          </a:prstGeom>
          <a:noFill/>
        </p:spPr>
        <p:txBody>
          <a:bodyPr wrap="square">
            <a:spAutoFit/>
          </a:bodyPr>
          <a:lstStyle/>
          <a:p>
            <a:pPr algn="l">
              <a:spcBef>
                <a:spcPts val="600"/>
              </a:spcBef>
              <a:defRPr sz="8000" b="1">
                <a:solidFill>
                  <a:srgbClr val="1870B6"/>
                </a:solidFill>
              </a:defRPr>
            </a:pPr>
            <a:r>
              <a:t>02</a:t>
            </a:r>
          </a:p>
        </p:txBody>
      </p:sp>
      <p:sp>
        <p:nvSpPr>
          <p:cNvPr id="6" name="TextBox 5"/>
          <p:cNvSpPr txBox="1"/>
          <p:nvPr/>
        </p:nvSpPr>
        <p:spPr>
          <a:xfrm>
            <a:off x="800000" y="2800000"/>
            <a:ext cx="10000000" cy="1000000"/>
          </a:xfrm>
          <a:prstGeom prst="rect">
            <a:avLst/>
          </a:prstGeom>
          <a:noFill/>
        </p:spPr>
        <p:txBody>
          <a:bodyPr wrap="square">
            <a:spAutoFit/>
          </a:bodyPr>
          <a:lstStyle/>
          <a:p>
            <a:pPr algn="l">
              <a:spcBef>
                <a:spcPts val="600"/>
              </a:spcBef>
              <a:defRPr sz="5200" b="1">
                <a:solidFill>
                  <a:srgbClr val="FFFFFF"/>
                </a:solidFill>
              </a:defRPr>
            </a:pPr>
            <a:r>
              <a:t>研究内容</a:t>
            </a:r>
          </a:p>
        </p:txBody>
      </p:sp>
      <p:sp>
        <p:nvSpPr>
          <p:cNvPr id="7" name="Rectangle 6"/>
          <p:cNvSpPr/>
          <p:nvPr/>
        </p:nvSpPr>
        <p:spPr>
          <a:xfrm>
            <a:off x="800000" y="3900000"/>
            <a:ext cx="3000000" cy="30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4100000"/>
            <a:ext cx="10000000" cy="800000"/>
          </a:xfrm>
          <a:prstGeom prst="rect">
            <a:avLst/>
          </a:prstGeom>
          <a:noFill/>
        </p:spPr>
        <p:txBody>
          <a:bodyPr wrap="square">
            <a:spAutoFit/>
          </a:bodyPr>
          <a:lstStyle/>
          <a:p>
            <a:pPr algn="l">
              <a:spcBef>
                <a:spcPts val="600"/>
              </a:spcBef>
              <a:defRPr sz="2400" b="0">
                <a:solidFill>
                  <a:srgbClr val="E0E0E0"/>
                </a:solidFill>
              </a:defRPr>
            </a:pPr>
            <a:r>
              <a:t>三个核心工作 — 电子输运 · 非线性霍尔 · 声子物理 · 光电探测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0000" y="1800000"/>
            <a:ext cx="3000000" cy="2000000"/>
          </a:xfrm>
          <a:prstGeom prst="rect">
            <a:avLst/>
          </a:prstGeom>
          <a:noFill/>
        </p:spPr>
        <p:txBody>
          <a:bodyPr wrap="square">
            <a:spAutoFit/>
          </a:bodyPr>
          <a:lstStyle/>
          <a:p>
            <a:pPr algn="l">
              <a:spcBef>
                <a:spcPts val="600"/>
              </a:spcBef>
              <a:defRPr sz="8000" b="1">
                <a:solidFill>
                  <a:srgbClr val="1870B6"/>
                </a:solidFill>
              </a:defRPr>
            </a:pPr>
            <a:r>
              <a:t>3</a:t>
            </a:r>
          </a:p>
        </p:txBody>
      </p:sp>
      <p:sp>
        <p:nvSpPr>
          <p:cNvPr id="6" name="TextBox 5"/>
          <p:cNvSpPr txBox="1"/>
          <p:nvPr/>
        </p:nvSpPr>
        <p:spPr>
          <a:xfrm>
            <a:off x="800000" y="2800000"/>
            <a:ext cx="10000000" cy="1000000"/>
          </a:xfrm>
          <a:prstGeom prst="rect">
            <a:avLst/>
          </a:prstGeom>
          <a:noFill/>
        </p:spPr>
        <p:txBody>
          <a:bodyPr wrap="square">
            <a:spAutoFit/>
          </a:bodyPr>
          <a:lstStyle/>
          <a:p>
            <a:pPr algn="l">
              <a:spcBef>
                <a:spcPts val="600"/>
              </a:spcBef>
              <a:defRPr sz="5200" b="1">
                <a:solidFill>
                  <a:srgbClr val="FFFFFF"/>
                </a:solidFill>
              </a:defRPr>
            </a:pPr>
            <a:r>
              <a:t>工作一</a:t>
            </a:r>
          </a:p>
        </p:txBody>
      </p:sp>
      <p:sp>
        <p:nvSpPr>
          <p:cNvPr id="7" name="Rectangle 6"/>
          <p:cNvSpPr/>
          <p:nvPr/>
        </p:nvSpPr>
        <p:spPr>
          <a:xfrm>
            <a:off x="800000" y="3900000"/>
            <a:ext cx="3000000" cy="30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4100000"/>
            <a:ext cx="10000000" cy="800000"/>
          </a:xfrm>
          <a:prstGeom prst="rect">
            <a:avLst/>
          </a:prstGeom>
          <a:noFill/>
        </p:spPr>
        <p:txBody>
          <a:bodyPr wrap="square">
            <a:spAutoFit/>
          </a:bodyPr>
          <a:lstStyle/>
          <a:p>
            <a:pPr algn="l">
              <a:spcBef>
                <a:spcPts val="600"/>
              </a:spcBef>
              <a:defRPr sz="2400" b="0">
                <a:solidFill>
                  <a:srgbClr val="E0E0E0"/>
                </a:solidFill>
              </a:defRPr>
            </a:pPr>
            <a:r>
              <a:t>拓扑节线半金属ZrAs2中的极大不饱和磁阻与手性反常现象</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50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50000"/>
            <a:ext cx="11000000" cy="700000"/>
          </a:xfrm>
          <a:prstGeom prst="rect">
            <a:avLst/>
          </a:prstGeom>
          <a:noFill/>
        </p:spPr>
        <p:txBody>
          <a:bodyPr wrap="square">
            <a:spAutoFit/>
          </a:bodyPr>
          <a:lstStyle/>
          <a:p>
            <a:pPr algn="l">
              <a:spcBef>
                <a:spcPts val="600"/>
              </a:spcBef>
              <a:defRPr sz="3200" b="1">
                <a:solidFill>
                  <a:srgbClr val="003366"/>
                </a:solidFill>
              </a:defRPr>
            </a:pPr>
            <a:r>
              <a:t>3.1 ZrAs2 材料体系</a:t>
            </a:r>
          </a:p>
        </p:txBody>
      </p:sp>
      <p:sp>
        <p:nvSpPr>
          <p:cNvPr id="6" name="Rectangle 5"/>
          <p:cNvSpPr/>
          <p:nvPr/>
        </p:nvSpPr>
        <p:spPr>
          <a:xfrm>
            <a:off x="500000" y="800000"/>
            <a:ext cx="1500000" cy="4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850000"/>
            <a:ext cx="11000000" cy="500000"/>
          </a:xfrm>
          <a:prstGeom prst="rect">
            <a:avLst/>
          </a:prstGeom>
          <a:noFill/>
        </p:spPr>
        <p:txBody>
          <a:bodyPr wrap="square">
            <a:spAutoFit/>
          </a:bodyPr>
          <a:lstStyle/>
          <a:p>
            <a:pPr algn="l">
              <a:spcBef>
                <a:spcPts val="600"/>
              </a:spcBef>
              <a:defRPr sz="2200" b="1">
                <a:solidFill>
                  <a:srgbClr val="1A4B8C"/>
                </a:solidFill>
              </a:defRPr>
            </a:pPr>
            <a:r>
              <a:t>材料背景与晶体结构</a:t>
            </a:r>
          </a:p>
        </p:txBody>
      </p:sp>
      <p:sp>
        <p:nvSpPr>
          <p:cNvPr id="8" name="TextBox 7"/>
          <p:cNvSpPr txBox="1"/>
          <p:nvPr/>
        </p:nvSpPr>
        <p:spPr>
          <a:xfrm>
            <a:off x="550000" y="1350000"/>
            <a:ext cx="5000000" cy="400000"/>
          </a:xfrm>
          <a:prstGeom prst="rect">
            <a:avLst/>
          </a:prstGeom>
          <a:noFill/>
        </p:spPr>
        <p:txBody>
          <a:bodyPr wrap="square">
            <a:spAutoFit/>
          </a:bodyPr>
          <a:lstStyle/>
          <a:p>
            <a:pPr algn="l">
              <a:spcBef>
                <a:spcPts val="600"/>
              </a:spcBef>
              <a:defRPr sz="2600" b="1">
                <a:solidFill>
                  <a:srgbClr val="003366"/>
                </a:solidFill>
              </a:defRPr>
            </a:pPr>
            <a:r>
              <a:t>材料体系</a:t>
            </a:r>
          </a:p>
        </p:txBody>
      </p:sp>
      <p:sp>
        <p:nvSpPr>
          <p:cNvPr id="9" name="TextBox 8"/>
          <p:cNvSpPr txBox="1"/>
          <p:nvPr/>
        </p:nvSpPr>
        <p:spPr>
          <a:xfrm>
            <a:off x="550000" y="1800000"/>
            <a:ext cx="5000000" cy="3000000"/>
          </a:xfrm>
          <a:prstGeom prst="rect">
            <a:avLst/>
          </a:prstGeom>
          <a:noFill/>
        </p:spPr>
        <p:txBody>
          <a:bodyPr wrap="square">
            <a:spAutoFit/>
          </a:bodyPr>
          <a:lstStyle/>
          <a:p>
            <a:pPr algn="l">
              <a:spcBef>
                <a:spcPts val="600"/>
              </a:spcBef>
              <a:defRPr sz="1800" b="0">
                <a:solidFill>
                  <a:srgbClr val="444444"/>
                </a:solidFill>
              </a:defRPr>
            </a:pPr>
            <a:r>
              <a:t>AT2 (A=Zr,Hf; T=P,As) 系列拓扑材料</a:t>
            </a:r>
          </a:p>
          <a:p>
            <a:pPr algn="l">
              <a:spcBef>
                <a:spcPts val="600"/>
              </a:spcBef>
              <a:defRPr sz="1800" b="0">
                <a:solidFill>
                  <a:srgbClr val="444444"/>
                </a:solidFill>
              </a:defRPr>
            </a:pPr>
            <a:r>
              <a:t>ZrAs2属于节线半金属家族</a:t>
            </a:r>
          </a:p>
          <a:p>
            <a:pPr algn="l">
              <a:spcBef>
                <a:spcPts val="600"/>
              </a:spcBef>
              <a:defRPr sz="1800" b="0">
                <a:solidFill>
                  <a:srgbClr val="444444"/>
                </a:solidFill>
              </a:defRPr>
            </a:pPr>
            <a:r>
              <a:t>晶体结构：四方晶系 I4/mmm</a:t>
            </a:r>
          </a:p>
          <a:p>
            <a:pPr algn="l">
              <a:spcBef>
                <a:spcPts val="600"/>
              </a:spcBef>
              <a:defRPr sz="1800" b="0">
                <a:solidFill>
                  <a:srgbClr val="444444"/>
                </a:solidFill>
              </a:defRPr>
            </a:pPr>
            <a:r>
              <a:t>与ZrSiS同构，属于AB2型化合物</a:t>
            </a:r>
          </a:p>
          <a:p>
            <a:pPr algn="l">
              <a:spcBef>
                <a:spcPts val="600"/>
              </a:spcBef>
              <a:defRPr sz="1800" b="0">
                <a:solidFill>
                  <a:srgbClr val="444444"/>
                </a:solidFill>
              </a:defRPr>
            </a:pPr>
          </a:p>
          <a:p>
            <a:pPr algn="l">
              <a:spcBef>
                <a:spcPts val="600"/>
              </a:spcBef>
              <a:defRPr sz="1800" b="0">
                <a:solidFill>
                  <a:srgbClr val="444444"/>
                </a:solidFill>
              </a:defRPr>
            </a:pPr>
            <a:r>
              <a:t>关键特性：</a:t>
            </a:r>
          </a:p>
          <a:p>
            <a:pPr algn="l">
              <a:spcBef>
                <a:spcPts val="600"/>
              </a:spcBef>
              <a:defRPr sz="1800" b="0">
                <a:solidFill>
                  <a:srgbClr val="444444"/>
                </a:solidFill>
              </a:defRPr>
            </a:pPr>
            <a:r>
              <a:t>  - 节点线受晶体对称性保护</a:t>
            </a:r>
          </a:p>
          <a:p>
            <a:pPr algn="l">
              <a:spcBef>
                <a:spcPts val="600"/>
              </a:spcBef>
              <a:defRPr sz="1800" b="0">
                <a:solidFill>
                  <a:srgbClr val="444444"/>
                </a:solidFill>
              </a:defRPr>
            </a:pPr>
            <a:r>
              <a:t>  - 电子-空穴近似补偿</a:t>
            </a:r>
          </a:p>
          <a:p>
            <a:pPr algn="l">
              <a:spcBef>
                <a:spcPts val="600"/>
              </a:spcBef>
              <a:defRPr sz="1800" b="0">
                <a:solidFill>
                  <a:srgbClr val="444444"/>
                </a:solidFill>
              </a:defRPr>
            </a:pPr>
            <a:r>
              <a:t>  - 高迁移率载流子</a:t>
            </a:r>
          </a:p>
          <a:p>
            <a:pPr algn="l">
              <a:spcBef>
                <a:spcPts val="600"/>
              </a:spcBef>
              <a:defRPr sz="1800" b="0">
                <a:solidFill>
                  <a:srgbClr val="444444"/>
                </a:solidFill>
              </a:defRPr>
            </a:pPr>
            <a:r>
              <a:t>  - 理论预测为拓扑非平庸材料</a:t>
            </a:r>
          </a:p>
        </p:txBody>
      </p:sp>
      <p:sp>
        <p:nvSpPr>
          <p:cNvPr id="10" name="TextBox 9"/>
          <p:cNvSpPr txBox="1"/>
          <p:nvPr/>
        </p:nvSpPr>
        <p:spPr>
          <a:xfrm>
            <a:off x="6350000" y="1350000"/>
            <a:ext cx="5000000" cy="400000"/>
          </a:xfrm>
          <a:prstGeom prst="rect">
            <a:avLst/>
          </a:prstGeom>
          <a:noFill/>
        </p:spPr>
        <p:txBody>
          <a:bodyPr wrap="square">
            <a:spAutoFit/>
          </a:bodyPr>
          <a:lstStyle/>
          <a:p>
            <a:pPr algn="l">
              <a:spcBef>
                <a:spcPts val="600"/>
              </a:spcBef>
              <a:defRPr sz="2600" b="1">
                <a:solidFill>
                  <a:srgbClr val="003366"/>
                </a:solidFill>
              </a:defRPr>
            </a:pPr>
            <a:r>
              <a:t>研究动机</a:t>
            </a:r>
          </a:p>
        </p:txBody>
      </p:sp>
      <p:sp>
        <p:nvSpPr>
          <p:cNvPr id="11" name="TextBox 10"/>
          <p:cNvSpPr txBox="1"/>
          <p:nvPr/>
        </p:nvSpPr>
        <p:spPr>
          <a:xfrm>
            <a:off x="6350000" y="1800000"/>
            <a:ext cx="5000000" cy="3000000"/>
          </a:xfrm>
          <a:prstGeom prst="rect">
            <a:avLst/>
          </a:prstGeom>
          <a:noFill/>
        </p:spPr>
        <p:txBody>
          <a:bodyPr wrap="square">
            <a:spAutoFit/>
          </a:bodyPr>
          <a:lstStyle/>
          <a:p>
            <a:pPr algn="l">
              <a:spcBef>
                <a:spcPts val="600"/>
              </a:spcBef>
              <a:defRPr sz="1800" b="0">
                <a:solidFill>
                  <a:srgbClr val="444444"/>
                </a:solidFill>
              </a:defRPr>
            </a:pPr>
            <a:r>
              <a:t>已知节线半金属（ZrSiS等）已报道</a:t>
            </a:r>
          </a:p>
          <a:p>
            <a:pPr algn="l">
              <a:spcBef>
                <a:spcPts val="600"/>
              </a:spcBef>
              <a:defRPr sz="1800" b="0">
                <a:solidFill>
                  <a:srgbClr val="444444"/>
                </a:solidFill>
              </a:defRPr>
            </a:pPr>
            <a:r>
              <a:t>巨大磁阻与SdH振荡现象</a:t>
            </a:r>
          </a:p>
          <a:p>
            <a:pPr algn="l">
              <a:spcBef>
                <a:spcPts val="600"/>
              </a:spcBef>
              <a:defRPr sz="1800" b="0">
                <a:solidFill>
                  <a:srgbClr val="444444"/>
                </a:solidFill>
              </a:defRPr>
            </a:pPr>
          </a:p>
          <a:p>
            <a:pPr algn="l">
              <a:spcBef>
                <a:spcPts val="600"/>
              </a:spcBef>
              <a:defRPr sz="1800" b="0">
                <a:solidFill>
                  <a:srgbClr val="444444"/>
                </a:solidFill>
              </a:defRPr>
            </a:pPr>
            <a:r>
              <a:t>但ZrAs2体系的实验研究仍较少：</a:t>
            </a:r>
          </a:p>
          <a:p>
            <a:pPr algn="l">
              <a:spcBef>
                <a:spcPts val="600"/>
              </a:spcBef>
              <a:defRPr sz="1800" b="0">
                <a:solidFill>
                  <a:srgbClr val="444444"/>
                </a:solidFill>
              </a:defRPr>
            </a:pPr>
            <a:r>
              <a:t>  - 磁阻的具体来源尚不清晰</a:t>
            </a:r>
          </a:p>
          <a:p>
            <a:pPr algn="l">
              <a:spcBef>
                <a:spcPts val="600"/>
              </a:spcBef>
              <a:defRPr sz="1800" b="0">
                <a:solidFill>
                  <a:srgbClr val="444444"/>
                </a:solidFill>
              </a:defRPr>
            </a:pPr>
            <a:r>
              <a:t>  - 费米面结构缺乏实验解析</a:t>
            </a:r>
          </a:p>
          <a:p>
            <a:pPr algn="l">
              <a:spcBef>
                <a:spcPts val="600"/>
              </a:spcBef>
              <a:defRPr sz="1800" b="0">
                <a:solidFill>
                  <a:srgbClr val="444444"/>
                </a:solidFill>
              </a:defRPr>
            </a:pPr>
            <a:r>
              <a:t>  - 是否存在手性反常现象？</a:t>
            </a:r>
          </a:p>
          <a:p>
            <a:pPr algn="l">
              <a:spcBef>
                <a:spcPts val="600"/>
              </a:spcBef>
              <a:defRPr sz="1800" b="0">
                <a:solidFill>
                  <a:srgbClr val="444444"/>
                </a:solidFill>
              </a:defRPr>
            </a:pPr>
          </a:p>
          <a:p>
            <a:pPr algn="l">
              <a:spcBef>
                <a:spcPts val="600"/>
              </a:spcBef>
              <a:defRPr sz="1800" b="0">
                <a:solidFill>
                  <a:srgbClr val="444444"/>
                </a:solidFill>
              </a:defRPr>
            </a:pPr>
            <a:r>
              <a:t>本研究目的：</a:t>
            </a:r>
          </a:p>
          <a:p>
            <a:pPr algn="l">
              <a:spcBef>
                <a:spcPts val="600"/>
              </a:spcBef>
              <a:defRPr sz="1800" b="0">
                <a:solidFill>
                  <a:srgbClr val="444444"/>
                </a:solidFill>
              </a:defRPr>
            </a:pPr>
            <a:r>
              <a:t>  - 系统测量ZrAs2的磁输运性质</a:t>
            </a:r>
          </a:p>
          <a:p>
            <a:pPr algn="l">
              <a:spcBef>
                <a:spcPts val="600"/>
              </a:spcBef>
              <a:defRPr sz="1800" b="0">
                <a:solidFill>
                  <a:srgbClr val="444444"/>
                </a:solidFill>
              </a:defRPr>
            </a:pPr>
            <a:r>
              <a:t>  - 通过SdH振荡解析费米面</a:t>
            </a:r>
          </a:p>
          <a:p>
            <a:pPr algn="l">
              <a:spcBef>
                <a:spcPts val="600"/>
              </a:spcBef>
              <a:defRPr sz="1800" b="0">
                <a:solidFill>
                  <a:srgbClr val="444444"/>
                </a:solidFill>
              </a:defRPr>
            </a:pPr>
            <a:r>
              <a:t>  - 探索手性反常与拓扑特性关联</a:t>
            </a:r>
          </a:p>
        </p:txBody>
      </p:sp>
      <p:sp>
        <p:nvSpPr>
          <p:cNvPr id="12" name="TextBox 11"/>
          <p:cNvSpPr txBox="1"/>
          <p:nvPr/>
        </p:nvSpPr>
        <p:spPr>
          <a:xfrm>
            <a:off x="11600000" y="6450000"/>
            <a:ext cx="500000" cy="350000"/>
          </a:xfrm>
          <a:prstGeom prst="rect">
            <a:avLst/>
          </a:prstGeom>
          <a:noFill/>
        </p:spPr>
        <p:txBody>
          <a:bodyPr wrap="square">
            <a:spAutoFit/>
          </a:bodyPr>
          <a:lstStyle/>
          <a:p>
            <a:pPr algn="ctr">
              <a:spcBef>
                <a:spcPts val="600"/>
              </a:spcBef>
              <a:defRPr sz="1400" b="0">
                <a:solidFill>
                  <a:srgbClr val="E0E0E0"/>
                </a:solidFill>
              </a:defRPr>
            </a:pPr>
            <a:r>
              <a:t>11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50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50000"/>
            <a:ext cx="11000000" cy="700000"/>
          </a:xfrm>
          <a:prstGeom prst="rect">
            <a:avLst/>
          </a:prstGeom>
          <a:noFill/>
        </p:spPr>
        <p:txBody>
          <a:bodyPr wrap="square">
            <a:spAutoFit/>
          </a:bodyPr>
          <a:lstStyle/>
          <a:p>
            <a:pPr algn="l">
              <a:spcBef>
                <a:spcPts val="600"/>
              </a:spcBef>
              <a:defRPr sz="3200" b="1">
                <a:solidFill>
                  <a:srgbClr val="003366"/>
                </a:solidFill>
              </a:defRPr>
            </a:pPr>
            <a:r>
              <a:t>3.2 ZrAs2 核心结果</a:t>
            </a:r>
          </a:p>
        </p:txBody>
      </p:sp>
      <p:sp>
        <p:nvSpPr>
          <p:cNvPr id="6" name="Rectangle 5"/>
          <p:cNvSpPr/>
          <p:nvPr/>
        </p:nvSpPr>
        <p:spPr>
          <a:xfrm>
            <a:off x="500000" y="800000"/>
            <a:ext cx="1500000" cy="4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850000"/>
            <a:ext cx="11000000" cy="500000"/>
          </a:xfrm>
          <a:prstGeom prst="rect">
            <a:avLst/>
          </a:prstGeom>
          <a:noFill/>
        </p:spPr>
        <p:txBody>
          <a:bodyPr wrap="square">
            <a:spAutoFit/>
          </a:bodyPr>
          <a:lstStyle/>
          <a:p>
            <a:pPr algn="l">
              <a:spcBef>
                <a:spcPts val="600"/>
              </a:spcBef>
              <a:defRPr sz="2200" b="1">
                <a:solidFill>
                  <a:srgbClr val="1A4B8C"/>
                </a:solidFill>
              </a:defRPr>
            </a:pPr>
            <a:r>
              <a:t>极大不饱和磁阻 + 量子振荡</a:t>
            </a:r>
          </a:p>
        </p:txBody>
      </p:sp>
      <p:sp>
        <p:nvSpPr>
          <p:cNvPr id="8" name="TextBox 7"/>
          <p:cNvSpPr txBox="1"/>
          <p:nvPr/>
        </p:nvSpPr>
        <p:spPr>
          <a:xfrm>
            <a:off x="550000" y="1400000"/>
            <a:ext cx="5000000" cy="4000000"/>
          </a:xfrm>
          <a:prstGeom prst="rect">
            <a:avLst/>
          </a:prstGeom>
          <a:noFill/>
        </p:spPr>
        <p:txBody>
          <a:bodyPr wrap="square">
            <a:spAutoFit/>
          </a:bodyPr>
          <a:lstStyle/>
          <a:p>
            <a:pPr algn="l">
              <a:spcBef>
                <a:spcPts val="800"/>
              </a:spcBef>
              <a:defRPr sz="2000" b="0">
                <a:solidFill>
                  <a:srgbClr val="444444"/>
                </a:solidFill>
              </a:defRPr>
            </a:pPr>
            <a:r>
              <a:t>极大不饱和磁阻：</a:t>
            </a:r>
          </a:p>
          <a:p>
            <a:pPr algn="l">
              <a:spcBef>
                <a:spcPts val="800"/>
              </a:spcBef>
              <a:defRPr sz="2000" b="0">
                <a:solidFill>
                  <a:srgbClr val="444444"/>
                </a:solidFill>
              </a:defRPr>
            </a:pPr>
            <a:r>
              <a:t>  - 低温下MR高达数千百分比</a:t>
            </a:r>
          </a:p>
          <a:p>
            <a:pPr algn="l">
              <a:spcBef>
                <a:spcPts val="800"/>
              </a:spcBef>
              <a:defRPr sz="2000" b="0">
                <a:solidFill>
                  <a:srgbClr val="444444"/>
                </a:solidFill>
              </a:defRPr>
            </a:pPr>
            <a:r>
              <a:t>  - 磁场达到14 T仍未饱和</a:t>
            </a:r>
          </a:p>
          <a:p>
            <a:pPr algn="l">
              <a:spcBef>
                <a:spcPts val="800"/>
              </a:spcBef>
              <a:defRPr sz="2000" b="0">
                <a:solidFill>
                  <a:srgbClr val="444444"/>
                </a:solidFill>
              </a:defRPr>
            </a:pPr>
            <a:r>
              <a:t>  - 来源于电子-空穴补偿机制</a:t>
            </a:r>
          </a:p>
          <a:p>
            <a:pPr algn="l">
              <a:spcBef>
                <a:spcPts val="800"/>
              </a:spcBef>
              <a:defRPr sz="2000" b="0">
                <a:solidFill>
                  <a:srgbClr val="444444"/>
                </a:solidFill>
              </a:defRPr>
            </a:pPr>
          </a:p>
          <a:p>
            <a:pPr algn="l">
              <a:spcBef>
                <a:spcPts val="800"/>
              </a:spcBef>
              <a:defRPr sz="2000" b="0">
                <a:solidFill>
                  <a:srgbClr val="444444"/>
                </a:solidFill>
              </a:defRPr>
            </a:pPr>
            <a:r>
              <a:t>SdH量子振荡：</a:t>
            </a:r>
          </a:p>
          <a:p>
            <a:pPr algn="l">
              <a:spcBef>
                <a:spcPts val="800"/>
              </a:spcBef>
              <a:defRPr sz="2000" b="0">
                <a:solidFill>
                  <a:srgbClr val="444444"/>
                </a:solidFill>
              </a:defRPr>
            </a:pPr>
            <a:r>
              <a:t>  - FFT提取四个频率</a:t>
            </a:r>
          </a:p>
          <a:p>
            <a:pPr algn="l">
              <a:spcBef>
                <a:spcPts val="800"/>
              </a:spcBef>
              <a:defRPr sz="2000" b="0">
                <a:solidFill>
                  <a:srgbClr val="444444"/>
                </a:solidFill>
              </a:defRPr>
            </a:pPr>
            <a:r>
              <a:t>  - F1=155T, F2=178T</a:t>
            </a:r>
          </a:p>
          <a:p>
            <a:pPr algn="l">
              <a:spcBef>
                <a:spcPts val="800"/>
              </a:spcBef>
              <a:defRPr sz="2000" b="0">
                <a:solidFill>
                  <a:srgbClr val="444444"/>
                </a:solidFill>
              </a:defRPr>
            </a:pPr>
            <a:r>
              <a:t>  - F3=443T, F4=579T</a:t>
            </a:r>
          </a:p>
          <a:p>
            <a:pPr algn="l">
              <a:spcBef>
                <a:spcPts val="800"/>
              </a:spcBef>
              <a:defRPr sz="2000" b="0">
                <a:solidFill>
                  <a:srgbClr val="444444"/>
                </a:solidFill>
              </a:defRPr>
            </a:pPr>
            <a:r>
              <a:t>  - 非平庸pi的贝里相位</a:t>
            </a:r>
          </a:p>
          <a:p>
            <a:pPr algn="l">
              <a:spcBef>
                <a:spcPts val="800"/>
              </a:spcBef>
              <a:defRPr sz="2000" b="0">
                <a:solidFill>
                  <a:srgbClr val="444444"/>
                </a:solidFill>
              </a:defRPr>
            </a:pPr>
            <a:r>
              <a:t>  - 多带电子结构</a:t>
            </a:r>
          </a:p>
        </p:txBody>
      </p:sp>
      <p:sp>
        <p:nvSpPr>
          <p:cNvPr id="9" name="TextBox 8"/>
          <p:cNvSpPr txBox="1"/>
          <p:nvPr/>
        </p:nvSpPr>
        <p:spPr>
          <a:xfrm>
            <a:off x="6350000" y="1400000"/>
            <a:ext cx="5000000" cy="4000000"/>
          </a:xfrm>
          <a:prstGeom prst="rect">
            <a:avLst/>
          </a:prstGeom>
          <a:noFill/>
        </p:spPr>
        <p:txBody>
          <a:bodyPr wrap="square">
            <a:spAutoFit/>
          </a:bodyPr>
          <a:lstStyle/>
          <a:p>
            <a:pPr algn="l">
              <a:spcBef>
                <a:spcPts val="800"/>
              </a:spcBef>
              <a:defRPr sz="2000" b="0">
                <a:solidFill>
                  <a:srgbClr val="444444"/>
                </a:solidFill>
              </a:defRPr>
            </a:pPr>
            <a:r>
              <a:t>角度依赖SdH振荡：</a:t>
            </a:r>
          </a:p>
          <a:p>
            <a:pPr algn="l">
              <a:spcBef>
                <a:spcPts val="800"/>
              </a:spcBef>
              <a:defRPr sz="2000" b="0">
                <a:solidFill>
                  <a:srgbClr val="444444"/>
                </a:solidFill>
              </a:defRPr>
            </a:pPr>
            <a:r>
              <a:t>  - 磁场方向从a轴旋转到c轴</a:t>
            </a:r>
          </a:p>
          <a:p>
            <a:pPr algn="l">
              <a:spcBef>
                <a:spcPts val="800"/>
              </a:spcBef>
              <a:defRPr sz="2000" b="0">
                <a:solidFill>
                  <a:srgbClr val="444444"/>
                </a:solidFill>
              </a:defRPr>
            </a:pPr>
            <a:r>
              <a:t>  - 所有方向均观测到SdH振荡</a:t>
            </a:r>
          </a:p>
          <a:p>
            <a:pPr algn="l">
              <a:spcBef>
                <a:spcPts val="800"/>
              </a:spcBef>
              <a:defRPr sz="2000" b="0">
                <a:solidFill>
                  <a:srgbClr val="444444"/>
                </a:solidFill>
              </a:defRPr>
            </a:pPr>
            <a:r>
              <a:t>  - F3、F4频率随角度显著变化</a:t>
            </a:r>
          </a:p>
          <a:p>
            <a:pPr algn="l">
              <a:spcBef>
                <a:spcPts val="800"/>
              </a:spcBef>
              <a:defRPr sz="2000" b="0">
                <a:solidFill>
                  <a:srgbClr val="444444"/>
                </a:solidFill>
              </a:defRPr>
            </a:pPr>
            <a:r>
              <a:t>  - 揭示各向异性费米面口袋</a:t>
            </a:r>
          </a:p>
          <a:p>
            <a:pPr algn="l">
              <a:spcBef>
                <a:spcPts val="800"/>
              </a:spcBef>
              <a:defRPr sz="2000" b="0">
                <a:solidFill>
                  <a:srgbClr val="444444"/>
                </a:solidFill>
              </a:defRPr>
            </a:pPr>
          </a:p>
          <a:p>
            <a:pPr algn="l">
              <a:spcBef>
                <a:spcPts val="800"/>
              </a:spcBef>
              <a:defRPr sz="2000" b="0">
                <a:solidFill>
                  <a:srgbClr val="444444"/>
                </a:solidFill>
              </a:defRPr>
            </a:pPr>
            <a:r>
              <a:t>手性反常：</a:t>
            </a:r>
          </a:p>
          <a:p>
            <a:pPr algn="l">
              <a:spcBef>
                <a:spcPts val="800"/>
              </a:spcBef>
              <a:defRPr sz="2000" b="0">
                <a:solidFill>
                  <a:srgbClr val="444444"/>
                </a:solidFill>
              </a:defRPr>
            </a:pPr>
            <a:r>
              <a:t>  - 平行电磁场下出现负磁阻</a:t>
            </a:r>
          </a:p>
          <a:p>
            <a:pPr algn="l">
              <a:spcBef>
                <a:spcPts val="800"/>
              </a:spcBef>
              <a:defRPr sz="2000" b="0">
                <a:solidFill>
                  <a:srgbClr val="444444"/>
                </a:solidFill>
              </a:defRPr>
            </a:pPr>
            <a:r>
              <a:t>  - 非平庸pi贝里相位验证拓扑性质</a:t>
            </a:r>
          </a:p>
          <a:p>
            <a:pPr algn="l">
              <a:spcBef>
                <a:spcPts val="800"/>
              </a:spcBef>
              <a:defRPr sz="2000" b="0">
                <a:solidFill>
                  <a:srgbClr val="444444"/>
                </a:solidFill>
              </a:defRPr>
            </a:pPr>
            <a:r>
              <a:t>  - 证明了ZrAs2具有拓扑非平庸电子结构</a:t>
            </a:r>
          </a:p>
        </p:txBody>
      </p:sp>
      <p:sp>
        <p:nvSpPr>
          <p:cNvPr id="10" name="TextBox 9"/>
          <p:cNvSpPr txBox="1"/>
          <p:nvPr/>
        </p:nvSpPr>
        <p:spPr>
          <a:xfrm>
            <a:off x="11600000" y="6450000"/>
            <a:ext cx="500000" cy="350000"/>
          </a:xfrm>
          <a:prstGeom prst="rect">
            <a:avLst/>
          </a:prstGeom>
          <a:noFill/>
        </p:spPr>
        <p:txBody>
          <a:bodyPr wrap="square">
            <a:spAutoFit/>
          </a:bodyPr>
          <a:lstStyle/>
          <a:p>
            <a:pPr algn="ctr">
              <a:spcBef>
                <a:spcPts val="600"/>
              </a:spcBef>
              <a:defRPr sz="1400" b="0">
                <a:solidFill>
                  <a:srgbClr val="E0E0E0"/>
                </a:solidFill>
              </a:defRPr>
            </a:pPr>
            <a:r>
              <a:t>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0000" y="1800000"/>
            <a:ext cx="3000000" cy="2000000"/>
          </a:xfrm>
          <a:prstGeom prst="rect">
            <a:avLst/>
          </a:prstGeom>
          <a:noFill/>
        </p:spPr>
        <p:txBody>
          <a:bodyPr wrap="square">
            <a:spAutoFit/>
          </a:bodyPr>
          <a:lstStyle/>
          <a:p>
            <a:pPr algn="l">
              <a:spcBef>
                <a:spcPts val="600"/>
              </a:spcBef>
              <a:defRPr sz="8000" b="1">
                <a:solidFill>
                  <a:srgbClr val="1870B6"/>
                </a:solidFill>
              </a:defRPr>
            </a:pPr>
            <a:r>
              <a:t>4</a:t>
            </a:r>
          </a:p>
        </p:txBody>
      </p:sp>
      <p:sp>
        <p:nvSpPr>
          <p:cNvPr id="6" name="TextBox 5"/>
          <p:cNvSpPr txBox="1"/>
          <p:nvPr/>
        </p:nvSpPr>
        <p:spPr>
          <a:xfrm>
            <a:off x="800000" y="2800000"/>
            <a:ext cx="10000000" cy="1000000"/>
          </a:xfrm>
          <a:prstGeom prst="rect">
            <a:avLst/>
          </a:prstGeom>
          <a:noFill/>
        </p:spPr>
        <p:txBody>
          <a:bodyPr wrap="square">
            <a:spAutoFit/>
          </a:bodyPr>
          <a:lstStyle/>
          <a:p>
            <a:pPr algn="l">
              <a:spcBef>
                <a:spcPts val="600"/>
              </a:spcBef>
              <a:defRPr sz="5200" b="1">
                <a:solidFill>
                  <a:srgbClr val="FFFFFF"/>
                </a:solidFill>
              </a:defRPr>
            </a:pPr>
            <a:r>
              <a:t>工作二</a:t>
            </a:r>
          </a:p>
        </p:txBody>
      </p:sp>
      <p:sp>
        <p:nvSpPr>
          <p:cNvPr id="7" name="Rectangle 6"/>
          <p:cNvSpPr/>
          <p:nvPr/>
        </p:nvSpPr>
        <p:spPr>
          <a:xfrm>
            <a:off x="800000" y="3900000"/>
            <a:ext cx="3000000" cy="30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4100000"/>
            <a:ext cx="10000000" cy="800000"/>
          </a:xfrm>
          <a:prstGeom prst="rect">
            <a:avLst/>
          </a:prstGeom>
          <a:noFill/>
        </p:spPr>
        <p:txBody>
          <a:bodyPr wrap="square">
            <a:spAutoFit/>
          </a:bodyPr>
          <a:lstStyle/>
          <a:p>
            <a:pPr algn="l">
              <a:spcBef>
                <a:spcPts val="600"/>
              </a:spcBef>
              <a:defRPr sz="2400" b="0">
                <a:solidFill>
                  <a:srgbClr val="E0E0E0"/>
                </a:solidFill>
              </a:defRPr>
            </a:pPr>
            <a:r>
              <a:t>手性反铁磁CoNb3S6中的拓扑三阶非线性霍尔效应</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50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50000"/>
            <a:ext cx="11000000" cy="700000"/>
          </a:xfrm>
          <a:prstGeom prst="rect">
            <a:avLst/>
          </a:prstGeom>
          <a:noFill/>
        </p:spPr>
        <p:txBody>
          <a:bodyPr wrap="square">
            <a:spAutoFit/>
          </a:bodyPr>
          <a:lstStyle/>
          <a:p>
            <a:pPr algn="l">
              <a:spcBef>
                <a:spcPts val="600"/>
              </a:spcBef>
              <a:defRPr sz="3200" b="1">
                <a:solidFill>
                  <a:srgbClr val="003366"/>
                </a:solidFill>
              </a:defRPr>
            </a:pPr>
            <a:r>
              <a:t>4.1 CoNb3S6 材料与方法</a:t>
            </a:r>
          </a:p>
        </p:txBody>
      </p:sp>
      <p:sp>
        <p:nvSpPr>
          <p:cNvPr id="6" name="Rectangle 5"/>
          <p:cNvSpPr/>
          <p:nvPr/>
        </p:nvSpPr>
        <p:spPr>
          <a:xfrm>
            <a:off x="500000" y="800000"/>
            <a:ext cx="1500000" cy="4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850000"/>
            <a:ext cx="11000000" cy="500000"/>
          </a:xfrm>
          <a:prstGeom prst="rect">
            <a:avLst/>
          </a:prstGeom>
          <a:noFill/>
        </p:spPr>
        <p:txBody>
          <a:bodyPr wrap="square">
            <a:spAutoFit/>
          </a:bodyPr>
          <a:lstStyle/>
          <a:p>
            <a:pPr algn="l">
              <a:spcBef>
                <a:spcPts val="600"/>
              </a:spcBef>
              <a:defRPr sz="2200" b="1">
                <a:solidFill>
                  <a:srgbClr val="1A4B8C"/>
                </a:solidFill>
              </a:defRPr>
            </a:pPr>
            <a:r>
              <a:t>手性反铁磁晶体结构</a:t>
            </a:r>
          </a:p>
        </p:txBody>
      </p:sp>
      <p:sp>
        <p:nvSpPr>
          <p:cNvPr id="8" name="TextBox 7"/>
          <p:cNvSpPr txBox="1"/>
          <p:nvPr/>
        </p:nvSpPr>
        <p:spPr>
          <a:xfrm>
            <a:off x="550000" y="1400000"/>
            <a:ext cx="5000000" cy="3500000"/>
          </a:xfrm>
          <a:prstGeom prst="rect">
            <a:avLst/>
          </a:prstGeom>
          <a:noFill/>
        </p:spPr>
        <p:txBody>
          <a:bodyPr wrap="square">
            <a:spAutoFit/>
          </a:bodyPr>
          <a:lstStyle/>
          <a:p>
            <a:pPr algn="l">
              <a:spcBef>
                <a:spcPts val="800"/>
              </a:spcBef>
              <a:defRPr sz="1900" b="0">
                <a:solidFill>
                  <a:srgbClr val="444444"/>
                </a:solidFill>
              </a:defRPr>
            </a:pPr>
            <a:r>
              <a:t>晶体结构：六方空间群 P6322</a:t>
            </a:r>
          </a:p>
          <a:p>
            <a:pPr algn="l">
              <a:spcBef>
                <a:spcPts val="800"/>
              </a:spcBef>
              <a:defRPr sz="1900" b="0">
                <a:solidFill>
                  <a:srgbClr val="444444"/>
                </a:solidFill>
              </a:defRPr>
            </a:pPr>
            <a:r>
              <a:t>Co原子插层于2H-NbS2层之间</a:t>
            </a:r>
          </a:p>
          <a:p>
            <a:pPr algn="l">
              <a:spcBef>
                <a:spcPts val="800"/>
              </a:spcBef>
              <a:defRPr sz="1900" b="0">
                <a:solidFill>
                  <a:srgbClr val="444444"/>
                </a:solidFill>
              </a:defRPr>
            </a:pPr>
            <a:r>
              <a:t>破缺空间反演与镜面对称性</a:t>
            </a:r>
          </a:p>
          <a:p>
            <a:pPr algn="l">
              <a:spcBef>
                <a:spcPts val="800"/>
              </a:spcBef>
              <a:defRPr sz="1900" b="0">
                <a:solidFill>
                  <a:srgbClr val="444444"/>
                </a:solidFill>
              </a:defRPr>
            </a:pPr>
            <a:r>
              <a:t>形成手性晶体结构</a:t>
            </a:r>
          </a:p>
          <a:p>
            <a:pPr algn="l">
              <a:spcBef>
                <a:spcPts val="800"/>
              </a:spcBef>
              <a:defRPr sz="1900" b="0">
                <a:solidFill>
                  <a:srgbClr val="444444"/>
                </a:solidFill>
              </a:defRPr>
            </a:pPr>
          </a:p>
          <a:p>
            <a:pPr algn="l">
              <a:spcBef>
                <a:spcPts val="800"/>
              </a:spcBef>
              <a:defRPr sz="1900" b="0">
                <a:solidFill>
                  <a:srgbClr val="444444"/>
                </a:solidFill>
              </a:defRPr>
            </a:pPr>
            <a:r>
              <a:t>磁性：</a:t>
            </a:r>
          </a:p>
          <a:p>
            <a:pPr algn="l">
              <a:spcBef>
                <a:spcPts val="800"/>
              </a:spcBef>
              <a:defRPr sz="1900" b="0">
                <a:solidFill>
                  <a:srgbClr val="444444"/>
                </a:solidFill>
              </a:defRPr>
            </a:pPr>
            <a:r>
              <a:t>  - 反铁磁转变 TN=29K</a:t>
            </a:r>
          </a:p>
          <a:p>
            <a:pPr algn="l">
              <a:spcBef>
                <a:spcPts val="800"/>
              </a:spcBef>
              <a:defRPr sz="1900" b="0">
                <a:solidFill>
                  <a:srgbClr val="444444"/>
                </a:solidFill>
              </a:defRPr>
            </a:pPr>
            <a:r>
              <a:t>  - all-in-all-out非共面磁结构</a:t>
            </a:r>
          </a:p>
          <a:p>
            <a:pPr algn="l">
              <a:spcBef>
                <a:spcPts val="800"/>
              </a:spcBef>
              <a:defRPr sz="1900" b="0">
                <a:solidFill>
                  <a:srgbClr val="444444"/>
                </a:solidFill>
              </a:defRPr>
            </a:pPr>
            <a:r>
              <a:t>  - 破坏时间反演对称性</a:t>
            </a:r>
          </a:p>
          <a:p>
            <a:pPr algn="l">
              <a:spcBef>
                <a:spcPts val="800"/>
              </a:spcBef>
              <a:defRPr sz="1900" b="0">
                <a:solidFill>
                  <a:srgbClr val="444444"/>
                </a:solidFill>
              </a:defRPr>
            </a:pPr>
            <a:r>
              <a:t>  - 磁点群 32'（prime）</a:t>
            </a:r>
          </a:p>
        </p:txBody>
      </p:sp>
      <p:sp>
        <p:nvSpPr>
          <p:cNvPr id="9" name="TextBox 8"/>
          <p:cNvSpPr txBox="1"/>
          <p:nvPr/>
        </p:nvSpPr>
        <p:spPr>
          <a:xfrm>
            <a:off x="6350000" y="1400000"/>
            <a:ext cx="5000000" cy="3500000"/>
          </a:xfrm>
          <a:prstGeom prst="rect">
            <a:avLst/>
          </a:prstGeom>
          <a:noFill/>
        </p:spPr>
        <p:txBody>
          <a:bodyPr wrap="square">
            <a:spAutoFit/>
          </a:bodyPr>
          <a:lstStyle/>
          <a:p>
            <a:pPr algn="l">
              <a:spcBef>
                <a:spcPts val="800"/>
              </a:spcBef>
              <a:defRPr sz="1900" b="0">
                <a:solidFill>
                  <a:srgbClr val="444444"/>
                </a:solidFill>
              </a:defRPr>
            </a:pPr>
            <a:r>
              <a:t>实验方法：</a:t>
            </a:r>
          </a:p>
          <a:p>
            <a:pPr algn="l">
              <a:spcBef>
                <a:spcPts val="800"/>
              </a:spcBef>
              <a:defRPr sz="1900" b="0">
                <a:solidFill>
                  <a:srgbClr val="444444"/>
                </a:solidFill>
              </a:defRPr>
            </a:pPr>
          </a:p>
          <a:p>
            <a:pPr algn="l">
              <a:spcBef>
                <a:spcPts val="800"/>
              </a:spcBef>
              <a:defRPr sz="1900" b="0">
                <a:solidFill>
                  <a:srgbClr val="444444"/>
                </a:solidFill>
              </a:defRPr>
            </a:pPr>
            <a:r>
              <a:t>化学气相输运法(CVT)生长单晶</a:t>
            </a:r>
          </a:p>
          <a:p>
            <a:pPr algn="l">
              <a:spcBef>
                <a:spcPts val="800"/>
              </a:spcBef>
              <a:defRPr sz="1900" b="0">
                <a:solidFill>
                  <a:srgbClr val="444444"/>
                </a:solidFill>
              </a:defRPr>
            </a:pPr>
            <a:r>
              <a:t>  - Co+Nb+S粉末 1:3:6 配比</a:t>
            </a:r>
          </a:p>
          <a:p>
            <a:pPr algn="l">
              <a:spcBef>
                <a:spcPts val="800"/>
              </a:spcBef>
              <a:defRPr sz="1900" b="0">
                <a:solidFill>
                  <a:srgbClr val="444444"/>
                </a:solidFill>
              </a:defRPr>
            </a:pPr>
            <a:r>
              <a:t>  - 900°C烧结5天制备多晶前驱体</a:t>
            </a:r>
          </a:p>
          <a:p>
            <a:pPr algn="l">
              <a:spcBef>
                <a:spcPts val="800"/>
              </a:spcBef>
              <a:defRPr sz="1900" b="0">
                <a:solidFill>
                  <a:srgbClr val="444444"/>
                </a:solidFill>
              </a:defRPr>
            </a:pPr>
            <a:r>
              <a:t>  - 石英管密封，950-850°C温区</a:t>
            </a:r>
          </a:p>
          <a:p>
            <a:pPr algn="l">
              <a:spcBef>
                <a:spcPts val="800"/>
              </a:spcBef>
              <a:defRPr sz="1900" b="0">
                <a:solidFill>
                  <a:srgbClr val="444444"/>
                </a:solidFill>
              </a:defRPr>
            </a:pPr>
          </a:p>
          <a:p>
            <a:pPr algn="l">
              <a:spcBef>
                <a:spcPts val="800"/>
              </a:spcBef>
              <a:defRPr sz="1900" b="0">
                <a:solidFill>
                  <a:srgbClr val="444444"/>
                </a:solidFill>
              </a:defRPr>
            </a:pPr>
            <a:r>
              <a:t>电输运测量：</a:t>
            </a:r>
          </a:p>
          <a:p>
            <a:pPr algn="l">
              <a:spcBef>
                <a:spcPts val="800"/>
              </a:spcBef>
              <a:defRPr sz="1900" b="0">
                <a:solidFill>
                  <a:srgbClr val="444444"/>
                </a:solidFill>
              </a:defRPr>
            </a:pPr>
            <a:r>
              <a:t>  - 标准霍尔构型微纳器件</a:t>
            </a:r>
          </a:p>
          <a:p>
            <a:pPr algn="l">
              <a:spcBef>
                <a:spcPts val="800"/>
              </a:spcBef>
              <a:defRPr sz="1900" b="0">
                <a:solidFill>
                  <a:srgbClr val="444444"/>
                </a:solidFill>
              </a:defRPr>
            </a:pPr>
            <a:r>
              <a:t>  - 交流锁相技术（13.33 Hz基频）</a:t>
            </a:r>
          </a:p>
          <a:p>
            <a:pPr algn="l">
              <a:spcBef>
                <a:spcPts val="800"/>
              </a:spcBef>
              <a:defRPr sz="1900" b="0">
                <a:solidFill>
                  <a:srgbClr val="444444"/>
                </a:solidFill>
              </a:defRPr>
            </a:pPr>
            <a:r>
              <a:t>  - 同时检测一阶和三阶信号</a:t>
            </a:r>
          </a:p>
          <a:p>
            <a:pPr algn="l">
              <a:spcBef>
                <a:spcPts val="800"/>
              </a:spcBef>
              <a:defRPr sz="1900" b="0">
                <a:solidFill>
                  <a:srgbClr val="444444"/>
                </a:solidFill>
              </a:defRPr>
            </a:pPr>
            <a:r>
              <a:t>  - 场冷处理(FC) 控制磁化方向</a:t>
            </a:r>
          </a:p>
        </p:txBody>
      </p:sp>
      <p:sp>
        <p:nvSpPr>
          <p:cNvPr id="10" name="TextBox 9"/>
          <p:cNvSpPr txBox="1"/>
          <p:nvPr/>
        </p:nvSpPr>
        <p:spPr>
          <a:xfrm>
            <a:off x="11600000" y="6450000"/>
            <a:ext cx="500000" cy="350000"/>
          </a:xfrm>
          <a:prstGeom prst="rect">
            <a:avLst/>
          </a:prstGeom>
          <a:noFill/>
        </p:spPr>
        <p:txBody>
          <a:bodyPr wrap="square">
            <a:spAutoFit/>
          </a:bodyPr>
          <a:lstStyle/>
          <a:p>
            <a:pPr algn="ctr">
              <a:spcBef>
                <a:spcPts val="600"/>
              </a:spcBef>
              <a:defRPr sz="1400" b="0">
                <a:solidFill>
                  <a:srgbClr val="E0E0E0"/>
                </a:solidFill>
              </a:defRPr>
            </a:pPr>
            <a:r>
              <a:t>13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50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50000"/>
            <a:ext cx="11000000" cy="700000"/>
          </a:xfrm>
          <a:prstGeom prst="rect">
            <a:avLst/>
          </a:prstGeom>
          <a:noFill/>
        </p:spPr>
        <p:txBody>
          <a:bodyPr wrap="square">
            <a:spAutoFit/>
          </a:bodyPr>
          <a:lstStyle/>
          <a:p>
            <a:pPr algn="l">
              <a:spcBef>
                <a:spcPts val="600"/>
              </a:spcBef>
              <a:defRPr sz="3200" b="1">
                <a:solidFill>
                  <a:srgbClr val="003366"/>
                </a:solidFill>
              </a:defRPr>
            </a:pPr>
            <a:r>
              <a:t>4.2 CoNb3S6 核心结果</a:t>
            </a:r>
          </a:p>
        </p:txBody>
      </p:sp>
      <p:sp>
        <p:nvSpPr>
          <p:cNvPr id="6" name="Rectangle 5"/>
          <p:cNvSpPr/>
          <p:nvPr/>
        </p:nvSpPr>
        <p:spPr>
          <a:xfrm>
            <a:off x="500000" y="800000"/>
            <a:ext cx="1500000" cy="4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850000"/>
            <a:ext cx="11000000" cy="500000"/>
          </a:xfrm>
          <a:prstGeom prst="rect">
            <a:avLst/>
          </a:prstGeom>
          <a:noFill/>
        </p:spPr>
        <p:txBody>
          <a:bodyPr wrap="square">
            <a:spAutoFit/>
          </a:bodyPr>
          <a:lstStyle/>
          <a:p>
            <a:pPr algn="l">
              <a:spcBef>
                <a:spcPts val="600"/>
              </a:spcBef>
              <a:defRPr sz="2200" b="1">
                <a:solidFill>
                  <a:srgbClr val="1A4B8C"/>
                </a:solidFill>
              </a:defRPr>
            </a:pPr>
            <a:r>
              <a:t>三阶非线性霍尔效应与拓扑起源</a:t>
            </a:r>
          </a:p>
        </p:txBody>
      </p:sp>
      <p:sp>
        <p:nvSpPr>
          <p:cNvPr id="8" name="TextBox 7"/>
          <p:cNvSpPr txBox="1"/>
          <p:nvPr/>
        </p:nvSpPr>
        <p:spPr>
          <a:xfrm>
            <a:off x="550000" y="1350000"/>
            <a:ext cx="5000000" cy="4000000"/>
          </a:xfrm>
          <a:prstGeom prst="rect">
            <a:avLst/>
          </a:prstGeom>
          <a:noFill/>
        </p:spPr>
        <p:txBody>
          <a:bodyPr wrap="square">
            <a:spAutoFit/>
          </a:bodyPr>
          <a:lstStyle/>
          <a:p>
            <a:pPr algn="l">
              <a:spcBef>
                <a:spcPts val="800"/>
              </a:spcBef>
              <a:defRPr sz="1900" b="0">
                <a:solidFill>
                  <a:srgbClr val="444444"/>
                </a:solidFill>
              </a:defRPr>
            </a:pPr>
            <a:r>
              <a:t>关键发现：</a:t>
            </a:r>
          </a:p>
          <a:p>
            <a:pPr algn="l">
              <a:spcBef>
                <a:spcPts val="800"/>
              </a:spcBef>
              <a:defRPr sz="1900" b="0">
                <a:solidFill>
                  <a:srgbClr val="444444"/>
                </a:solidFill>
              </a:defRPr>
            </a:pPr>
          </a:p>
          <a:p>
            <a:pPr algn="l">
              <a:spcBef>
                <a:spcPts val="800"/>
              </a:spcBef>
              <a:defRPr sz="1900" b="0">
                <a:solidFill>
                  <a:srgbClr val="444444"/>
                </a:solidFill>
              </a:defRPr>
            </a:pPr>
            <a:r>
              <a:t>1. 反铁磁有序相中出现</a:t>
            </a:r>
          </a:p>
          <a:p>
            <a:pPr algn="l">
              <a:spcBef>
                <a:spcPts val="800"/>
              </a:spcBef>
              <a:defRPr sz="1900" b="0">
                <a:solidFill>
                  <a:srgbClr val="444444"/>
                </a:solidFill>
              </a:defRPr>
            </a:pPr>
            <a:r>
              <a:t>   显著的三阶非线性霍尔响应</a:t>
            </a:r>
          </a:p>
          <a:p>
            <a:pPr algn="l">
              <a:spcBef>
                <a:spcPts val="800"/>
              </a:spcBef>
              <a:defRPr sz="1900" b="0">
                <a:solidFill>
                  <a:srgbClr val="444444"/>
                </a:solidFill>
              </a:defRPr>
            </a:pPr>
          </a:p>
          <a:p>
            <a:pPr algn="l">
              <a:spcBef>
                <a:spcPts val="800"/>
              </a:spcBef>
              <a:defRPr sz="1900" b="0">
                <a:solidFill>
                  <a:srgbClr val="444444"/>
                </a:solidFill>
              </a:defRPr>
            </a:pPr>
            <a:r>
              <a:t>2. 二阶响应被严格禁止</a:t>
            </a:r>
          </a:p>
          <a:p>
            <a:pPr algn="l">
              <a:spcBef>
                <a:spcPts val="800"/>
              </a:spcBef>
              <a:defRPr sz="1900" b="0">
                <a:solidFill>
                  <a:srgbClr val="444444"/>
                </a:solidFill>
              </a:defRPr>
            </a:pPr>
            <a:r>
              <a:t>   - 对称性分析：磁点群32'</a:t>
            </a:r>
          </a:p>
          <a:p>
            <a:pPr algn="l">
              <a:spcBef>
                <a:spcPts val="800"/>
              </a:spcBef>
              <a:defRPr sz="1900" b="0">
                <a:solidFill>
                  <a:srgbClr val="444444"/>
                </a:solidFill>
              </a:defRPr>
            </a:pPr>
            <a:r>
              <a:t>   - 时间反演奇/偶分量均不守恒</a:t>
            </a:r>
          </a:p>
          <a:p>
            <a:pPr algn="l">
              <a:spcBef>
                <a:spcPts val="800"/>
              </a:spcBef>
              <a:defRPr sz="1900" b="0">
                <a:solidFill>
                  <a:srgbClr val="444444"/>
                </a:solidFill>
              </a:defRPr>
            </a:pPr>
            <a:r>
              <a:t>   - sigma_abc = 0</a:t>
            </a:r>
          </a:p>
          <a:p>
            <a:pPr algn="l">
              <a:spcBef>
                <a:spcPts val="800"/>
              </a:spcBef>
              <a:defRPr sz="1900" b="0">
                <a:solidFill>
                  <a:srgbClr val="444444"/>
                </a:solidFill>
              </a:defRPr>
            </a:pPr>
          </a:p>
          <a:p>
            <a:pPr algn="l">
              <a:spcBef>
                <a:spcPts val="800"/>
              </a:spcBef>
              <a:defRPr sz="1900" b="0">
                <a:solidFill>
                  <a:srgbClr val="444444"/>
                </a:solidFill>
              </a:defRPr>
            </a:pPr>
            <a:r>
              <a:t>3. 接近TN时出现符号翻转</a:t>
            </a:r>
          </a:p>
          <a:p>
            <a:pPr algn="l">
              <a:spcBef>
                <a:spcPts val="800"/>
              </a:spcBef>
              <a:defRPr sz="1900" b="0">
                <a:solidFill>
                  <a:srgbClr val="444444"/>
                </a:solidFill>
              </a:defRPr>
            </a:pPr>
            <a:r>
              <a:t>   - 发生在24-25K（低于TN=29K）</a:t>
            </a:r>
          </a:p>
          <a:p>
            <a:pPr algn="l">
              <a:spcBef>
                <a:spcPts val="800"/>
              </a:spcBef>
              <a:defRPr sz="1900" b="0">
                <a:solidFill>
                  <a:srgbClr val="444444"/>
                </a:solidFill>
              </a:defRPr>
            </a:pPr>
            <a:r>
              <a:t>   - 不同于其他体系的机制</a:t>
            </a:r>
          </a:p>
        </p:txBody>
      </p:sp>
      <p:sp>
        <p:nvSpPr>
          <p:cNvPr id="9" name="TextBox 8"/>
          <p:cNvSpPr txBox="1"/>
          <p:nvPr/>
        </p:nvSpPr>
        <p:spPr>
          <a:xfrm>
            <a:off x="6350000" y="1350000"/>
            <a:ext cx="5000000" cy="4000000"/>
          </a:xfrm>
          <a:prstGeom prst="rect">
            <a:avLst/>
          </a:prstGeom>
          <a:noFill/>
        </p:spPr>
        <p:txBody>
          <a:bodyPr wrap="square">
            <a:spAutoFit/>
          </a:bodyPr>
          <a:lstStyle/>
          <a:p>
            <a:pPr algn="l">
              <a:spcBef>
                <a:spcPts val="800"/>
              </a:spcBef>
              <a:defRPr sz="1900" b="0">
                <a:solidFill>
                  <a:srgbClr val="444444"/>
                </a:solidFill>
              </a:defRPr>
            </a:pPr>
            <a:r>
              <a:t>拓扑起源：</a:t>
            </a:r>
          </a:p>
          <a:p>
            <a:pPr algn="l">
              <a:spcBef>
                <a:spcPts val="800"/>
              </a:spcBef>
              <a:defRPr sz="1900" b="0">
                <a:solidFill>
                  <a:srgbClr val="444444"/>
                </a:solidFill>
              </a:defRPr>
            </a:pPr>
          </a:p>
          <a:p>
            <a:pPr algn="l">
              <a:spcBef>
                <a:spcPts val="800"/>
              </a:spcBef>
              <a:defRPr sz="1900" b="0">
                <a:solidFill>
                  <a:srgbClr val="444444"/>
                </a:solidFill>
              </a:defRPr>
            </a:pPr>
            <a:r>
              <a:t>贝里曲率四极矩(BCQ)驱动</a:t>
            </a:r>
          </a:p>
          <a:p>
            <a:pPr algn="l">
              <a:spcBef>
                <a:spcPts val="800"/>
              </a:spcBef>
              <a:defRPr sz="1900" b="0">
                <a:solidFill>
                  <a:srgbClr val="444444"/>
                </a:solidFill>
              </a:defRPr>
            </a:pPr>
          </a:p>
          <a:p>
            <a:pPr algn="l">
              <a:spcBef>
                <a:spcPts val="800"/>
              </a:spcBef>
              <a:defRPr sz="1900" b="0">
                <a:solidFill>
                  <a:srgbClr val="444444"/>
                </a:solidFill>
              </a:defRPr>
            </a:pPr>
            <a:r>
              <a:t>【对称性分析】</a:t>
            </a:r>
          </a:p>
          <a:p>
            <a:pPr algn="l">
              <a:spcBef>
                <a:spcPts val="800"/>
              </a:spcBef>
              <a:defRPr sz="1900" b="0">
                <a:solidFill>
                  <a:srgbClr val="444444"/>
                </a:solidFill>
              </a:defRPr>
            </a:pPr>
            <a:r>
              <a:t>  - 三阶电导张量在32'群下的变换</a:t>
            </a:r>
          </a:p>
          <a:p>
            <a:pPr algn="l">
              <a:spcBef>
                <a:spcPts val="800"/>
              </a:spcBef>
              <a:defRPr sz="1900" b="0">
                <a:solidFill>
                  <a:srgbClr val="444444"/>
                </a:solidFill>
              </a:defRPr>
            </a:pPr>
            <a:r>
              <a:t>  - sigma_xxxx, sigma_yyyy 等非零</a:t>
            </a:r>
          </a:p>
          <a:p>
            <a:pPr algn="l">
              <a:spcBef>
                <a:spcPts val="800"/>
              </a:spcBef>
              <a:defRPr sz="1900" b="0">
                <a:solidFill>
                  <a:srgbClr val="444444"/>
                </a:solidFill>
              </a:defRPr>
            </a:pPr>
          </a:p>
          <a:p>
            <a:pPr algn="l">
              <a:spcBef>
                <a:spcPts val="800"/>
              </a:spcBef>
              <a:defRPr sz="1900" b="0">
                <a:solidFill>
                  <a:srgbClr val="444444"/>
                </a:solidFill>
              </a:defRPr>
            </a:pPr>
            <a:r>
              <a:t>【理论建模】</a:t>
            </a:r>
          </a:p>
          <a:p>
            <a:pPr algn="l">
              <a:spcBef>
                <a:spcPts val="800"/>
              </a:spcBef>
              <a:defRPr sz="1900" b="0">
                <a:solidFill>
                  <a:srgbClr val="444444"/>
                </a:solidFill>
              </a:defRPr>
            </a:pPr>
            <a:r>
              <a:t>  - all-in-all-out磁结构诱导</a:t>
            </a:r>
          </a:p>
          <a:p>
            <a:pPr algn="l">
              <a:spcBef>
                <a:spcPts val="800"/>
              </a:spcBef>
              <a:defRPr sz="1900" b="0">
                <a:solidFill>
                  <a:srgbClr val="444444"/>
                </a:solidFill>
              </a:defRPr>
            </a:pPr>
            <a:r>
              <a:t>  - 无需自旋轨道耦合(SOC)</a:t>
            </a:r>
          </a:p>
          <a:p>
            <a:pPr algn="l">
              <a:spcBef>
                <a:spcPts val="800"/>
              </a:spcBef>
              <a:defRPr sz="1900" b="0">
                <a:solidFill>
                  <a:srgbClr val="444444"/>
                </a:solidFill>
              </a:defRPr>
            </a:pPr>
            <a:r>
              <a:t>  - 非共面磁结构产生几何相位</a:t>
            </a:r>
          </a:p>
          <a:p>
            <a:pPr algn="l">
              <a:spcBef>
                <a:spcPts val="800"/>
              </a:spcBef>
              <a:defRPr sz="1900" b="0">
                <a:solidFill>
                  <a:srgbClr val="444444"/>
                </a:solidFill>
              </a:defRPr>
            </a:pPr>
            <a:r>
              <a:t>  - BCQ随交换作用J演化</a:t>
            </a:r>
          </a:p>
          <a:p>
            <a:pPr algn="l">
              <a:spcBef>
                <a:spcPts val="800"/>
              </a:spcBef>
              <a:defRPr sz="1900" b="0">
                <a:solidFill>
                  <a:srgbClr val="444444"/>
                </a:solidFill>
              </a:defRPr>
            </a:pPr>
          </a:p>
          <a:p>
            <a:pPr algn="l">
              <a:spcBef>
                <a:spcPts val="800"/>
              </a:spcBef>
              <a:defRPr sz="1900" b="0">
                <a:solidFill>
                  <a:srgbClr val="444444"/>
                </a:solidFill>
              </a:defRPr>
            </a:pPr>
            <a:r>
              <a:t>【温度依赖】</a:t>
            </a:r>
          </a:p>
          <a:p>
            <a:pPr algn="l">
              <a:spcBef>
                <a:spcPts val="800"/>
              </a:spcBef>
              <a:defRPr sz="1900" b="0">
                <a:solidFill>
                  <a:srgbClr val="444444"/>
                </a:solidFill>
              </a:defRPr>
            </a:pPr>
            <a:r>
              <a:t>  - 磁有序决定BCQ强度</a:t>
            </a:r>
          </a:p>
          <a:p>
            <a:pPr algn="l">
              <a:spcBef>
                <a:spcPts val="800"/>
              </a:spcBef>
              <a:defRPr sz="1900" b="0">
                <a:solidFill>
                  <a:srgbClr val="444444"/>
                </a:solidFill>
              </a:defRPr>
            </a:pPr>
            <a:r>
              <a:t>  - 费米面演化引起符号翻转</a:t>
            </a:r>
          </a:p>
        </p:txBody>
      </p:sp>
      <p:sp>
        <p:nvSpPr>
          <p:cNvPr id="10" name="TextBox 9"/>
          <p:cNvSpPr txBox="1"/>
          <p:nvPr/>
        </p:nvSpPr>
        <p:spPr>
          <a:xfrm>
            <a:off x="11600000" y="6450000"/>
            <a:ext cx="500000" cy="350000"/>
          </a:xfrm>
          <a:prstGeom prst="rect">
            <a:avLst/>
          </a:prstGeom>
          <a:noFill/>
        </p:spPr>
        <p:txBody>
          <a:bodyPr wrap="square">
            <a:spAutoFit/>
          </a:bodyPr>
          <a:lstStyle/>
          <a:p>
            <a:pPr algn="ctr">
              <a:spcBef>
                <a:spcPts val="600"/>
              </a:spcBef>
              <a:defRPr sz="1400" b="0">
                <a:solidFill>
                  <a:srgbClr val="E0E0E0"/>
                </a:solidFill>
              </a:defRPr>
            </a:pPr>
            <a:r>
              <a:t>14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0000" y="1800000"/>
            <a:ext cx="3000000" cy="2000000"/>
          </a:xfrm>
          <a:prstGeom prst="rect">
            <a:avLst/>
          </a:prstGeom>
          <a:noFill/>
        </p:spPr>
        <p:txBody>
          <a:bodyPr wrap="square">
            <a:spAutoFit/>
          </a:bodyPr>
          <a:lstStyle/>
          <a:p>
            <a:pPr algn="l">
              <a:spcBef>
                <a:spcPts val="600"/>
              </a:spcBef>
              <a:defRPr sz="8000" b="1">
                <a:solidFill>
                  <a:srgbClr val="1870B6"/>
                </a:solidFill>
              </a:defRPr>
            </a:pPr>
            <a:r>
              <a:t>5</a:t>
            </a:r>
          </a:p>
        </p:txBody>
      </p:sp>
      <p:sp>
        <p:nvSpPr>
          <p:cNvPr id="6" name="TextBox 5"/>
          <p:cNvSpPr txBox="1"/>
          <p:nvPr/>
        </p:nvSpPr>
        <p:spPr>
          <a:xfrm>
            <a:off x="800000" y="2800000"/>
            <a:ext cx="10000000" cy="1000000"/>
          </a:xfrm>
          <a:prstGeom prst="rect">
            <a:avLst/>
          </a:prstGeom>
          <a:noFill/>
        </p:spPr>
        <p:txBody>
          <a:bodyPr wrap="square">
            <a:spAutoFit/>
          </a:bodyPr>
          <a:lstStyle/>
          <a:p>
            <a:pPr algn="l">
              <a:spcBef>
                <a:spcPts val="600"/>
              </a:spcBef>
              <a:defRPr sz="5200" b="1">
                <a:solidFill>
                  <a:srgbClr val="FFFFFF"/>
                </a:solidFill>
              </a:defRPr>
            </a:pPr>
            <a:r>
              <a:t>工作三</a:t>
            </a:r>
          </a:p>
        </p:txBody>
      </p:sp>
      <p:sp>
        <p:nvSpPr>
          <p:cNvPr id="7" name="Rectangle 6"/>
          <p:cNvSpPr/>
          <p:nvPr/>
        </p:nvSpPr>
        <p:spPr>
          <a:xfrm>
            <a:off x="800000" y="3900000"/>
            <a:ext cx="3000000" cy="30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4100000"/>
            <a:ext cx="10000000" cy="800000"/>
          </a:xfrm>
          <a:prstGeom prst="rect">
            <a:avLst/>
          </a:prstGeom>
          <a:noFill/>
        </p:spPr>
        <p:txBody>
          <a:bodyPr wrap="square">
            <a:spAutoFit/>
          </a:bodyPr>
          <a:lstStyle/>
          <a:p>
            <a:pPr algn="l">
              <a:spcBef>
                <a:spcPts val="600"/>
              </a:spcBef>
              <a:defRPr sz="2400" b="0">
                <a:solidFill>
                  <a:srgbClr val="E0E0E0"/>
                </a:solidFill>
              </a:defRPr>
            </a:pPr>
            <a:r>
              <a:t>手性反铁磁CoNb3S6中的手性声子与巨大的磁光拉曼效应</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50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50000"/>
            <a:ext cx="11000000" cy="700000"/>
          </a:xfrm>
          <a:prstGeom prst="rect">
            <a:avLst/>
          </a:prstGeom>
          <a:noFill/>
        </p:spPr>
        <p:txBody>
          <a:bodyPr wrap="square">
            <a:spAutoFit/>
          </a:bodyPr>
          <a:lstStyle/>
          <a:p>
            <a:pPr algn="l">
              <a:spcBef>
                <a:spcPts val="600"/>
              </a:spcBef>
              <a:defRPr sz="3200" b="1">
                <a:solidFill>
                  <a:srgbClr val="003366"/>
                </a:solidFill>
              </a:defRPr>
            </a:pPr>
            <a:r>
              <a:t>5.1 CoNb3S6 声子核心结果</a:t>
            </a:r>
          </a:p>
        </p:txBody>
      </p:sp>
      <p:sp>
        <p:nvSpPr>
          <p:cNvPr id="6" name="Rectangle 5"/>
          <p:cNvSpPr/>
          <p:nvPr/>
        </p:nvSpPr>
        <p:spPr>
          <a:xfrm>
            <a:off x="500000" y="800000"/>
            <a:ext cx="1500000" cy="4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850000"/>
            <a:ext cx="11000000" cy="500000"/>
          </a:xfrm>
          <a:prstGeom prst="rect">
            <a:avLst/>
          </a:prstGeom>
          <a:noFill/>
        </p:spPr>
        <p:txBody>
          <a:bodyPr wrap="square">
            <a:spAutoFit/>
          </a:bodyPr>
          <a:lstStyle/>
          <a:p>
            <a:pPr algn="l">
              <a:spcBef>
                <a:spcPts val="600"/>
              </a:spcBef>
              <a:defRPr sz="2200" b="1">
                <a:solidFill>
                  <a:srgbClr val="1A4B8C"/>
                </a:solidFill>
              </a:defRPr>
            </a:pPr>
            <a:r>
              <a:t>线性声子 vs 手性声子的对比</a:t>
            </a:r>
          </a:p>
        </p:txBody>
      </p:sp>
      <p:sp>
        <p:nvSpPr>
          <p:cNvPr id="8" name="TextBox 7"/>
          <p:cNvSpPr txBox="1"/>
          <p:nvPr/>
        </p:nvSpPr>
        <p:spPr>
          <a:xfrm>
            <a:off x="550000" y="1350000"/>
            <a:ext cx="5000000" cy="3500000"/>
          </a:xfrm>
          <a:prstGeom prst="rect">
            <a:avLst/>
          </a:prstGeom>
          <a:noFill/>
        </p:spPr>
        <p:txBody>
          <a:bodyPr wrap="square">
            <a:spAutoFit/>
          </a:bodyPr>
          <a:lstStyle/>
          <a:p>
            <a:pPr algn="l">
              <a:spcBef>
                <a:spcPts val="800"/>
              </a:spcBef>
              <a:defRPr sz="1900" b="0">
                <a:solidFill>
                  <a:srgbClr val="444444"/>
                </a:solidFill>
              </a:defRPr>
            </a:pPr>
            <a:r>
              <a:t>线性声子（4支）：</a:t>
            </a:r>
          </a:p>
          <a:p>
            <a:pPr algn="l">
              <a:spcBef>
                <a:spcPts val="800"/>
              </a:spcBef>
              <a:defRPr sz="1900" b="0">
                <a:solidFill>
                  <a:srgbClr val="444444"/>
                </a:solidFill>
              </a:defRPr>
            </a:pPr>
          </a:p>
          <a:p>
            <a:pPr algn="l">
              <a:spcBef>
                <a:spcPts val="800"/>
              </a:spcBef>
              <a:defRPr sz="1900" b="0">
                <a:solidFill>
                  <a:srgbClr val="444444"/>
                </a:solidFill>
              </a:defRPr>
            </a:pPr>
            <a:r>
              <a:t>A1_1, A2_1, E2_1, E2_2 模式</a:t>
            </a:r>
          </a:p>
          <a:p>
            <a:pPr algn="l">
              <a:spcBef>
                <a:spcPts val="800"/>
              </a:spcBef>
              <a:defRPr sz="1900" b="0">
                <a:solidFill>
                  <a:srgbClr val="444444"/>
                </a:solidFill>
              </a:defRPr>
            </a:pPr>
          </a:p>
          <a:p>
            <a:pPr algn="l">
              <a:spcBef>
                <a:spcPts val="800"/>
              </a:spcBef>
              <a:defRPr sz="1900" b="0">
                <a:solidFill>
                  <a:srgbClr val="444444"/>
                </a:solidFill>
              </a:defRPr>
            </a:pPr>
            <a:r>
              <a:t>关键发现：</a:t>
            </a:r>
          </a:p>
          <a:p>
            <a:pPr algn="l">
              <a:spcBef>
                <a:spcPts val="800"/>
              </a:spcBef>
              <a:defRPr sz="1900" b="0">
                <a:solidFill>
                  <a:srgbClr val="444444"/>
                </a:solidFill>
              </a:defRPr>
            </a:pPr>
            <a:r>
              <a:t>  - 巨大的磁光拉曼效应</a:t>
            </a:r>
          </a:p>
          <a:p>
            <a:pPr algn="l">
              <a:spcBef>
                <a:spcPts val="800"/>
              </a:spcBef>
              <a:defRPr sz="1900" b="0">
                <a:solidFill>
                  <a:srgbClr val="444444"/>
                </a:solidFill>
              </a:defRPr>
            </a:pPr>
            <a:r>
              <a:t>  - 12T磁场下偏振旋转80度</a:t>
            </a:r>
          </a:p>
          <a:p>
            <a:pPr algn="l">
              <a:spcBef>
                <a:spcPts val="800"/>
              </a:spcBef>
              <a:defRPr sz="1900" b="0">
                <a:solidFill>
                  <a:srgbClr val="444444"/>
                </a:solidFill>
              </a:defRPr>
            </a:pPr>
            <a:r>
              <a:t>  - 散射光偏振方向随磁场变化</a:t>
            </a:r>
          </a:p>
          <a:p>
            <a:pPr algn="l">
              <a:spcBef>
                <a:spcPts val="800"/>
              </a:spcBef>
              <a:defRPr sz="1900" b="0">
                <a:solidFill>
                  <a:srgbClr val="444444"/>
                </a:solidFill>
              </a:defRPr>
            </a:pPr>
            <a:r>
              <a:t>  - 洛伦兹力调制振荡偶极子</a:t>
            </a:r>
          </a:p>
          <a:p>
            <a:pPr algn="l">
              <a:spcBef>
                <a:spcPts val="800"/>
              </a:spcBef>
              <a:defRPr sz="1900" b="0">
                <a:solidFill>
                  <a:srgbClr val="444444"/>
                </a:solidFill>
              </a:defRPr>
            </a:pPr>
          </a:p>
          <a:p>
            <a:pPr algn="l">
              <a:spcBef>
                <a:spcPts val="800"/>
              </a:spcBef>
              <a:defRPr sz="1900" b="0">
                <a:solidFill>
                  <a:srgbClr val="444444"/>
                </a:solidFill>
              </a:defRPr>
            </a:pPr>
            <a:r>
              <a:t>拉曼强度与磁场关系</a:t>
            </a:r>
          </a:p>
          <a:p>
            <a:pPr algn="l">
              <a:spcBef>
                <a:spcPts val="800"/>
              </a:spcBef>
              <a:defRPr sz="1900" b="0">
                <a:solidFill>
                  <a:srgbClr val="444444"/>
                </a:solidFill>
              </a:defRPr>
            </a:pPr>
            <a:r>
              <a:t>  → 可通过理论公式精确描述</a:t>
            </a:r>
          </a:p>
        </p:txBody>
      </p:sp>
      <p:sp>
        <p:nvSpPr>
          <p:cNvPr id="9" name="TextBox 8"/>
          <p:cNvSpPr txBox="1"/>
          <p:nvPr/>
        </p:nvSpPr>
        <p:spPr>
          <a:xfrm>
            <a:off x="6350000" y="1350000"/>
            <a:ext cx="5000000" cy="3500000"/>
          </a:xfrm>
          <a:prstGeom prst="rect">
            <a:avLst/>
          </a:prstGeom>
          <a:noFill/>
        </p:spPr>
        <p:txBody>
          <a:bodyPr wrap="square">
            <a:spAutoFit/>
          </a:bodyPr>
          <a:lstStyle/>
          <a:p>
            <a:pPr algn="l">
              <a:spcBef>
                <a:spcPts val="800"/>
              </a:spcBef>
              <a:defRPr sz="1900" b="0">
                <a:solidFill>
                  <a:srgbClr val="444444"/>
                </a:solidFill>
              </a:defRPr>
            </a:pPr>
            <a:r>
              <a:t>手性声子（2支）：</a:t>
            </a:r>
          </a:p>
          <a:p>
            <a:pPr algn="l">
              <a:spcBef>
                <a:spcPts val="800"/>
              </a:spcBef>
              <a:defRPr sz="1900" b="0">
                <a:solidFill>
                  <a:srgbClr val="444444"/>
                </a:solidFill>
              </a:defRPr>
            </a:pPr>
          </a:p>
          <a:p>
            <a:pPr algn="l">
              <a:spcBef>
                <a:spcPts val="800"/>
              </a:spcBef>
              <a:defRPr sz="1900" b="0">
                <a:solidFill>
                  <a:srgbClr val="444444"/>
                </a:solidFill>
              </a:defRPr>
            </a:pPr>
            <a:r>
              <a:t>E1_2, E2_2 模式</a:t>
            </a:r>
          </a:p>
          <a:p>
            <a:pPr algn="l">
              <a:spcBef>
                <a:spcPts val="800"/>
              </a:spcBef>
              <a:defRPr sz="1900" b="0">
                <a:solidFill>
                  <a:srgbClr val="444444"/>
                </a:solidFill>
              </a:defRPr>
            </a:pPr>
          </a:p>
          <a:p>
            <a:pPr algn="l">
              <a:spcBef>
                <a:spcPts val="800"/>
              </a:spcBef>
              <a:defRPr sz="1900" b="0">
                <a:solidFill>
                  <a:srgbClr val="444444"/>
                </a:solidFill>
              </a:defRPr>
            </a:pPr>
            <a:r>
              <a:t>关键发现：</a:t>
            </a:r>
          </a:p>
          <a:p>
            <a:pPr algn="l">
              <a:spcBef>
                <a:spcPts val="800"/>
              </a:spcBef>
              <a:defRPr sz="1900" b="0">
                <a:solidFill>
                  <a:srgbClr val="444444"/>
                </a:solidFill>
              </a:defRPr>
            </a:pPr>
            <a:r>
              <a:t>  - 未观察到随外磁场的旋转</a:t>
            </a:r>
          </a:p>
          <a:p>
            <a:pPr algn="l">
              <a:spcBef>
                <a:spcPts val="800"/>
              </a:spcBef>
              <a:defRPr sz="1900" b="0">
                <a:solidFill>
                  <a:srgbClr val="444444"/>
                </a:solidFill>
              </a:defRPr>
            </a:pPr>
            <a:r>
              <a:t>  - 未观察到显著能量分裂</a:t>
            </a:r>
          </a:p>
          <a:p>
            <a:pPr algn="l">
              <a:spcBef>
                <a:spcPts val="800"/>
              </a:spcBef>
              <a:defRPr sz="1900" b="0">
                <a:solidFill>
                  <a:srgbClr val="444444"/>
                </a:solidFill>
              </a:defRPr>
            </a:pPr>
            <a:r>
              <a:t>  - 即使高达12T磁场下亦然</a:t>
            </a:r>
          </a:p>
          <a:p>
            <a:pPr algn="l">
              <a:spcBef>
                <a:spcPts val="800"/>
              </a:spcBef>
              <a:defRPr sz="1900" b="0">
                <a:solidFill>
                  <a:srgbClr val="444444"/>
                </a:solidFill>
              </a:defRPr>
            </a:pPr>
            <a:r>
              <a:t>  - 可能与CoNb3S6弱磁矩相关</a:t>
            </a:r>
          </a:p>
          <a:p>
            <a:pPr algn="l">
              <a:spcBef>
                <a:spcPts val="800"/>
              </a:spcBef>
              <a:defRPr sz="1900" b="0">
                <a:solidFill>
                  <a:srgbClr val="444444"/>
                </a:solidFill>
              </a:defRPr>
            </a:pPr>
          </a:p>
          <a:p>
            <a:pPr algn="l">
              <a:spcBef>
                <a:spcPts val="800"/>
              </a:spcBef>
              <a:defRPr sz="1900" b="0">
                <a:solidFill>
                  <a:srgbClr val="444444"/>
                </a:solidFill>
              </a:defRPr>
            </a:pPr>
            <a:r>
              <a:t>【对比意义】</a:t>
            </a:r>
          </a:p>
          <a:p>
            <a:pPr algn="l">
              <a:spcBef>
                <a:spcPts val="800"/>
              </a:spcBef>
              <a:defRPr sz="1900" b="0">
                <a:solidFill>
                  <a:srgbClr val="444444"/>
                </a:solidFill>
              </a:defRPr>
            </a:pPr>
            <a:r>
              <a:t>  - 首次在同一体系内对比线性</a:t>
            </a:r>
          </a:p>
          <a:p>
            <a:pPr algn="l">
              <a:spcBef>
                <a:spcPts val="800"/>
              </a:spcBef>
              <a:defRPr sz="1900" b="0">
                <a:solidFill>
                  <a:srgbClr val="444444"/>
                </a:solidFill>
              </a:defRPr>
            </a:pPr>
            <a:r>
              <a:t>    声子和手性声子的磁响应差异</a:t>
            </a:r>
          </a:p>
          <a:p>
            <a:pPr algn="l">
              <a:spcBef>
                <a:spcPts val="800"/>
              </a:spcBef>
              <a:defRPr sz="1900" b="0">
                <a:solidFill>
                  <a:srgbClr val="444444"/>
                </a:solidFill>
              </a:defRPr>
            </a:pPr>
            <a:r>
              <a:t>  - 为理解声子-磁场耦合提供</a:t>
            </a:r>
          </a:p>
          <a:p>
            <a:pPr algn="l">
              <a:spcBef>
                <a:spcPts val="800"/>
              </a:spcBef>
              <a:defRPr sz="1900" b="0">
                <a:solidFill>
                  <a:srgbClr val="444444"/>
                </a:solidFill>
              </a:defRPr>
            </a:pPr>
            <a:r>
              <a:t>    新的实验平台</a:t>
            </a:r>
          </a:p>
        </p:txBody>
      </p:sp>
      <p:sp>
        <p:nvSpPr>
          <p:cNvPr id="10" name="TextBox 9"/>
          <p:cNvSpPr txBox="1"/>
          <p:nvPr/>
        </p:nvSpPr>
        <p:spPr>
          <a:xfrm>
            <a:off x="11600000" y="6450000"/>
            <a:ext cx="500000" cy="350000"/>
          </a:xfrm>
          <a:prstGeom prst="rect">
            <a:avLst/>
          </a:prstGeom>
          <a:noFill/>
        </p:spPr>
        <p:txBody>
          <a:bodyPr wrap="square">
            <a:spAutoFit/>
          </a:bodyPr>
          <a:lstStyle/>
          <a:p>
            <a:pPr algn="ctr">
              <a:spcBef>
                <a:spcPts val="600"/>
              </a:spcBef>
              <a:defRPr sz="1400" b="0">
                <a:solidFill>
                  <a:srgbClr val="E0E0E0"/>
                </a:solidFill>
              </a:defRPr>
            </a:pPr>
            <a:r>
              <a:t>15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0000" y="1800000"/>
            <a:ext cx="3000000" cy="2000000"/>
          </a:xfrm>
          <a:prstGeom prst="rect">
            <a:avLst/>
          </a:prstGeom>
          <a:noFill/>
        </p:spPr>
        <p:txBody>
          <a:bodyPr wrap="square">
            <a:spAutoFit/>
          </a:bodyPr>
          <a:lstStyle/>
          <a:p>
            <a:pPr algn="l">
              <a:spcBef>
                <a:spcPts val="600"/>
              </a:spcBef>
              <a:defRPr sz="8000" b="1">
                <a:solidFill>
                  <a:srgbClr val="1870B6"/>
                </a:solidFill>
              </a:defRPr>
            </a:pPr>
            <a:r>
              <a:t>6</a:t>
            </a:r>
          </a:p>
        </p:txBody>
      </p:sp>
      <p:sp>
        <p:nvSpPr>
          <p:cNvPr id="6" name="TextBox 5"/>
          <p:cNvSpPr txBox="1"/>
          <p:nvPr/>
        </p:nvSpPr>
        <p:spPr>
          <a:xfrm>
            <a:off x="800000" y="2800000"/>
            <a:ext cx="10000000" cy="1000000"/>
          </a:xfrm>
          <a:prstGeom prst="rect">
            <a:avLst/>
          </a:prstGeom>
          <a:noFill/>
        </p:spPr>
        <p:txBody>
          <a:bodyPr wrap="square">
            <a:spAutoFit/>
          </a:bodyPr>
          <a:lstStyle/>
          <a:p>
            <a:pPr algn="l">
              <a:spcBef>
                <a:spcPts val="600"/>
              </a:spcBef>
              <a:defRPr sz="5200" b="1">
                <a:solidFill>
                  <a:srgbClr val="FFFFFF"/>
                </a:solidFill>
              </a:defRPr>
            </a:pPr>
            <a:r>
              <a:t>工作四</a:t>
            </a:r>
          </a:p>
        </p:txBody>
      </p:sp>
      <p:sp>
        <p:nvSpPr>
          <p:cNvPr id="7" name="Rectangle 6"/>
          <p:cNvSpPr/>
          <p:nvPr/>
        </p:nvSpPr>
        <p:spPr>
          <a:xfrm>
            <a:off x="800000" y="3900000"/>
            <a:ext cx="3000000" cy="30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4100000"/>
            <a:ext cx="10000000" cy="800000"/>
          </a:xfrm>
          <a:prstGeom prst="rect">
            <a:avLst/>
          </a:prstGeom>
          <a:noFill/>
        </p:spPr>
        <p:txBody>
          <a:bodyPr wrap="square">
            <a:spAutoFit/>
          </a:bodyPr>
          <a:lstStyle/>
          <a:p>
            <a:pPr algn="l">
              <a:spcBef>
                <a:spcPts val="600"/>
              </a:spcBef>
              <a:defRPr sz="2400" b="0">
                <a:solidFill>
                  <a:srgbClr val="E0E0E0"/>
                </a:solidFill>
              </a:defRPr>
            </a:pPr>
            <a:r>
              <a:t>基于Nb3I8的自适应黑体敏感的宽带红外探测器</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50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50000"/>
            <a:ext cx="11000000" cy="700000"/>
          </a:xfrm>
          <a:prstGeom prst="rect">
            <a:avLst/>
          </a:prstGeom>
          <a:noFill/>
        </p:spPr>
        <p:txBody>
          <a:bodyPr wrap="square">
            <a:spAutoFit/>
          </a:bodyPr>
          <a:lstStyle/>
          <a:p>
            <a:pPr algn="l">
              <a:spcBef>
                <a:spcPts val="600"/>
              </a:spcBef>
              <a:defRPr sz="3200" b="1">
                <a:solidFill>
                  <a:srgbClr val="003366"/>
                </a:solidFill>
              </a:defRPr>
            </a:pPr>
            <a:r>
              <a:t>6.1 Nb3I8 红外探测器核心结果</a:t>
            </a:r>
          </a:p>
        </p:txBody>
      </p:sp>
      <p:sp>
        <p:nvSpPr>
          <p:cNvPr id="6" name="Rectangle 5"/>
          <p:cNvSpPr/>
          <p:nvPr/>
        </p:nvSpPr>
        <p:spPr>
          <a:xfrm>
            <a:off x="500000" y="800000"/>
            <a:ext cx="1500000" cy="4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850000"/>
            <a:ext cx="11000000" cy="500000"/>
          </a:xfrm>
          <a:prstGeom prst="rect">
            <a:avLst/>
          </a:prstGeom>
          <a:noFill/>
        </p:spPr>
        <p:txBody>
          <a:bodyPr wrap="square">
            <a:spAutoFit/>
          </a:bodyPr>
          <a:lstStyle/>
          <a:p>
            <a:pPr algn="l">
              <a:spcBef>
                <a:spcPts val="600"/>
              </a:spcBef>
              <a:defRPr sz="2200" b="1">
                <a:solidFill>
                  <a:srgbClr val="1A4B8C"/>
                </a:solidFill>
              </a:defRPr>
            </a:pPr>
            <a:r>
              <a:t>电子平带+声子平带协同机制</a:t>
            </a:r>
          </a:p>
        </p:txBody>
      </p:sp>
      <p:sp>
        <p:nvSpPr>
          <p:cNvPr id="8" name="TextBox 7"/>
          <p:cNvSpPr txBox="1"/>
          <p:nvPr/>
        </p:nvSpPr>
        <p:spPr>
          <a:xfrm>
            <a:off x="550000" y="1350000"/>
            <a:ext cx="5000000" cy="3500000"/>
          </a:xfrm>
          <a:prstGeom prst="rect">
            <a:avLst/>
          </a:prstGeom>
          <a:noFill/>
        </p:spPr>
        <p:txBody>
          <a:bodyPr wrap="square">
            <a:spAutoFit/>
          </a:bodyPr>
          <a:lstStyle/>
          <a:p>
            <a:pPr algn="l">
              <a:spcBef>
                <a:spcPts val="800"/>
              </a:spcBef>
              <a:defRPr sz="1900" b="0">
                <a:solidFill>
                  <a:srgbClr val="444444"/>
                </a:solidFill>
              </a:defRPr>
            </a:pPr>
            <a:r>
              <a:t>材料特性：</a:t>
            </a:r>
          </a:p>
          <a:p>
            <a:pPr algn="l">
              <a:spcBef>
                <a:spcPts val="800"/>
              </a:spcBef>
              <a:defRPr sz="1900" b="0">
                <a:solidFill>
                  <a:srgbClr val="444444"/>
                </a:solidFill>
              </a:defRPr>
            </a:pPr>
          </a:p>
          <a:p>
            <a:pPr algn="l">
              <a:spcBef>
                <a:spcPts val="800"/>
              </a:spcBef>
              <a:defRPr sz="1900" b="0">
                <a:solidFill>
                  <a:srgbClr val="444444"/>
                </a:solidFill>
              </a:defRPr>
            </a:pPr>
            <a:r>
              <a:t>呼吸笼目晶格 Nb3I8</a:t>
            </a:r>
          </a:p>
          <a:p>
            <a:pPr algn="l">
              <a:spcBef>
                <a:spcPts val="800"/>
              </a:spcBef>
              <a:defRPr sz="1900" b="0">
                <a:solidFill>
                  <a:srgbClr val="444444"/>
                </a:solidFill>
              </a:defRPr>
            </a:pPr>
            <a:r>
              <a:t>  - 对称破缺导致狄拉克点打开能隙</a:t>
            </a:r>
          </a:p>
          <a:p>
            <a:pPr algn="l">
              <a:spcBef>
                <a:spcPts val="800"/>
              </a:spcBef>
              <a:defRPr sz="1900" b="0">
                <a:solidFill>
                  <a:srgbClr val="444444"/>
                </a:solidFill>
              </a:defRPr>
            </a:pPr>
            <a:r>
              <a:t>  - 强电子关联效应</a:t>
            </a:r>
          </a:p>
          <a:p>
            <a:pPr algn="l">
              <a:spcBef>
                <a:spcPts val="800"/>
              </a:spcBef>
              <a:defRPr sz="1900" b="0">
                <a:solidFill>
                  <a:srgbClr val="444444"/>
                </a:solidFill>
              </a:defRPr>
            </a:pPr>
          </a:p>
          <a:p>
            <a:pPr algn="l">
              <a:spcBef>
                <a:spcPts val="800"/>
              </a:spcBef>
              <a:defRPr sz="1900" b="0">
                <a:solidFill>
                  <a:srgbClr val="444444"/>
                </a:solidFill>
              </a:defRPr>
            </a:pPr>
            <a:r>
              <a:t>电子平带：</a:t>
            </a:r>
          </a:p>
          <a:p>
            <a:pPr algn="l">
              <a:spcBef>
                <a:spcPts val="800"/>
              </a:spcBef>
              <a:defRPr sz="1900" b="0">
                <a:solidFill>
                  <a:srgbClr val="444444"/>
                </a:solidFill>
              </a:defRPr>
            </a:pPr>
            <a:r>
              <a:t>  - 高态密度增强光吸收</a:t>
            </a:r>
          </a:p>
          <a:p>
            <a:pPr algn="l">
              <a:spcBef>
                <a:spcPts val="800"/>
              </a:spcBef>
              <a:defRPr sz="1900" b="0">
                <a:solidFill>
                  <a:srgbClr val="444444"/>
                </a:solidFill>
              </a:defRPr>
            </a:pPr>
            <a:r>
              <a:t>  - 短波红外(SWIR)高响应</a:t>
            </a:r>
          </a:p>
          <a:p>
            <a:pPr algn="l">
              <a:spcBef>
                <a:spcPts val="800"/>
              </a:spcBef>
              <a:defRPr sz="1900" b="0">
                <a:solidFill>
                  <a:srgbClr val="444444"/>
                </a:solidFill>
              </a:defRPr>
            </a:pPr>
          </a:p>
          <a:p>
            <a:pPr algn="l">
              <a:spcBef>
                <a:spcPts val="800"/>
              </a:spcBef>
              <a:defRPr sz="1900" b="0">
                <a:solidFill>
                  <a:srgbClr val="444444"/>
                </a:solidFill>
              </a:defRPr>
            </a:pPr>
            <a:r>
              <a:t>声子平带：</a:t>
            </a:r>
          </a:p>
          <a:p>
            <a:pPr algn="l">
              <a:spcBef>
                <a:spcPts val="800"/>
              </a:spcBef>
              <a:defRPr sz="1900" b="0">
                <a:solidFill>
                  <a:srgbClr val="444444"/>
                </a:solidFill>
              </a:defRPr>
            </a:pPr>
            <a:r>
              <a:t>  - 低声子群速度</a:t>
            </a:r>
          </a:p>
          <a:p>
            <a:pPr algn="l">
              <a:spcBef>
                <a:spcPts val="800"/>
              </a:spcBef>
              <a:defRPr sz="1900" b="0">
                <a:solidFill>
                  <a:srgbClr val="444444"/>
                </a:solidFill>
              </a:defRPr>
            </a:pPr>
            <a:r>
              <a:t>  - 低热导率 1.12 W/(m*K)</a:t>
            </a:r>
          </a:p>
          <a:p>
            <a:pPr algn="l">
              <a:spcBef>
                <a:spcPts val="800"/>
              </a:spcBef>
              <a:defRPr sz="1900" b="0">
                <a:solidFill>
                  <a:srgbClr val="444444"/>
                </a:solidFill>
              </a:defRPr>
            </a:pPr>
            <a:r>
              <a:t>  - 高热局域化效应</a:t>
            </a:r>
          </a:p>
        </p:txBody>
      </p:sp>
      <p:sp>
        <p:nvSpPr>
          <p:cNvPr id="9" name="TextBox 8"/>
          <p:cNvSpPr txBox="1"/>
          <p:nvPr/>
        </p:nvSpPr>
        <p:spPr>
          <a:xfrm>
            <a:off x="6350000" y="1350000"/>
            <a:ext cx="5000000" cy="3500000"/>
          </a:xfrm>
          <a:prstGeom prst="rect">
            <a:avLst/>
          </a:prstGeom>
          <a:noFill/>
        </p:spPr>
        <p:txBody>
          <a:bodyPr wrap="square">
            <a:spAutoFit/>
          </a:bodyPr>
          <a:lstStyle/>
          <a:p>
            <a:pPr algn="l">
              <a:spcBef>
                <a:spcPts val="800"/>
              </a:spcBef>
              <a:defRPr sz="1900" b="0">
                <a:solidFill>
                  <a:srgbClr val="444444"/>
                </a:solidFill>
              </a:defRPr>
            </a:pPr>
            <a:r>
              <a:t>探测器性能：</a:t>
            </a:r>
          </a:p>
          <a:p>
            <a:pPr algn="l">
              <a:spcBef>
                <a:spcPts val="800"/>
              </a:spcBef>
              <a:defRPr sz="1900" b="0">
                <a:solidFill>
                  <a:srgbClr val="444444"/>
                </a:solidFill>
              </a:defRPr>
            </a:pPr>
          </a:p>
          <a:p>
            <a:pPr algn="l">
              <a:spcBef>
                <a:spcPts val="800"/>
              </a:spcBef>
              <a:defRPr sz="1900" b="0">
                <a:solidFill>
                  <a:srgbClr val="444444"/>
                </a:solidFill>
              </a:defRPr>
            </a:pPr>
            <a:r>
              <a:t>【协同机制】</a:t>
            </a:r>
          </a:p>
          <a:p>
            <a:pPr algn="l">
              <a:spcBef>
                <a:spcPts val="800"/>
              </a:spcBef>
              <a:defRPr sz="1900" b="0">
                <a:solidFill>
                  <a:srgbClr val="444444"/>
                </a:solidFill>
              </a:defRPr>
            </a:pPr>
            <a:r>
              <a:t>电子平带 -&gt; 高SWIR吸收</a:t>
            </a:r>
          </a:p>
          <a:p>
            <a:pPr algn="l">
              <a:spcBef>
                <a:spcPts val="800"/>
              </a:spcBef>
              <a:defRPr sz="1900" b="0">
                <a:solidFill>
                  <a:srgbClr val="444444"/>
                </a:solidFill>
              </a:defRPr>
            </a:pPr>
            <a:r>
              <a:t>声子平带 -&gt; 低热扩散</a:t>
            </a:r>
          </a:p>
          <a:p>
            <a:pPr algn="l">
              <a:spcBef>
                <a:spcPts val="800"/>
              </a:spcBef>
              <a:defRPr sz="1900" b="0">
                <a:solidFill>
                  <a:srgbClr val="444444"/>
                </a:solidFill>
              </a:defRPr>
            </a:pPr>
          </a:p>
          <a:p>
            <a:pPr algn="l">
              <a:spcBef>
                <a:spcPts val="800"/>
              </a:spcBef>
              <a:defRPr sz="1900" b="0">
                <a:solidFill>
                  <a:srgbClr val="444444"/>
                </a:solidFill>
              </a:defRPr>
            </a:pPr>
            <a:r>
              <a:t>【探测范围】</a:t>
            </a:r>
          </a:p>
          <a:p>
            <a:pPr algn="l">
              <a:spcBef>
                <a:spcPts val="800"/>
              </a:spcBef>
              <a:defRPr sz="1900" b="0">
                <a:solidFill>
                  <a:srgbClr val="444444"/>
                </a:solidFill>
              </a:defRPr>
            </a:pPr>
            <a:r>
              <a:t>短波红外(SWIR) -&gt; 超长波红外(VLWIR)</a:t>
            </a:r>
          </a:p>
          <a:p>
            <a:pPr algn="l">
              <a:spcBef>
                <a:spcPts val="800"/>
              </a:spcBef>
              <a:defRPr sz="1900" b="0">
                <a:solidFill>
                  <a:srgbClr val="444444"/>
                </a:solidFill>
              </a:defRPr>
            </a:pPr>
            <a:r>
              <a:t>全宽谱覆盖</a:t>
            </a:r>
          </a:p>
          <a:p>
            <a:pPr algn="l">
              <a:spcBef>
                <a:spcPts val="800"/>
              </a:spcBef>
              <a:defRPr sz="1900" b="0">
                <a:solidFill>
                  <a:srgbClr val="444444"/>
                </a:solidFill>
              </a:defRPr>
            </a:pPr>
          </a:p>
          <a:p>
            <a:pPr algn="l">
              <a:spcBef>
                <a:spcPts val="800"/>
              </a:spcBef>
              <a:defRPr sz="1900" b="0">
                <a:solidFill>
                  <a:srgbClr val="444444"/>
                </a:solidFill>
              </a:defRPr>
            </a:pPr>
            <a:r>
              <a:t>【性能指标】</a:t>
            </a:r>
          </a:p>
          <a:p>
            <a:pPr algn="l">
              <a:spcBef>
                <a:spcPts val="800"/>
              </a:spcBef>
              <a:defRPr sz="1900" b="0">
                <a:solidFill>
                  <a:srgbClr val="444444"/>
                </a:solidFill>
              </a:defRPr>
            </a:pPr>
            <a:r>
              <a:t>  - 高比探测率 D*</a:t>
            </a:r>
          </a:p>
          <a:p>
            <a:pPr algn="l">
              <a:spcBef>
                <a:spcPts val="800"/>
              </a:spcBef>
              <a:defRPr sz="1900" b="0">
                <a:solidFill>
                  <a:srgbClr val="444444"/>
                </a:solidFill>
              </a:defRPr>
            </a:pPr>
            <a:r>
              <a:t>  - 黑体辐射自适应响应</a:t>
            </a:r>
          </a:p>
          <a:p>
            <a:pPr algn="l">
              <a:spcBef>
                <a:spcPts val="800"/>
              </a:spcBef>
              <a:defRPr sz="1900" b="0">
                <a:solidFill>
                  <a:srgbClr val="444444"/>
                </a:solidFill>
              </a:defRPr>
            </a:pPr>
            <a:r>
              <a:t>  - 500K黑体辐射下可探测</a:t>
            </a:r>
          </a:p>
          <a:p>
            <a:pPr algn="l">
              <a:spcBef>
                <a:spcPts val="800"/>
              </a:spcBef>
              <a:defRPr sz="1900" b="0">
                <a:solidFill>
                  <a:srgbClr val="444444"/>
                </a:solidFill>
              </a:defRPr>
            </a:pPr>
            <a:r>
              <a:t>  - 快速响应时间</a:t>
            </a:r>
          </a:p>
        </p:txBody>
      </p:sp>
      <p:sp>
        <p:nvSpPr>
          <p:cNvPr id="10" name="TextBox 9"/>
          <p:cNvSpPr txBox="1"/>
          <p:nvPr/>
        </p:nvSpPr>
        <p:spPr>
          <a:xfrm>
            <a:off x="11600000" y="6450000"/>
            <a:ext cx="500000" cy="350000"/>
          </a:xfrm>
          <a:prstGeom prst="rect">
            <a:avLst/>
          </a:prstGeom>
          <a:noFill/>
        </p:spPr>
        <p:txBody>
          <a:bodyPr wrap="square">
            <a:spAutoFit/>
          </a:bodyPr>
          <a:lstStyle/>
          <a:p>
            <a:pPr algn="ctr">
              <a:spcBef>
                <a:spcPts val="600"/>
              </a:spcBef>
              <a:defRPr sz="1400" b="0">
                <a:solidFill>
                  <a:srgbClr val="E0E0E0"/>
                </a:solidFill>
              </a:defRPr>
            </a:pPr>
            <a:r>
              <a:t>16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50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0000" y="1800000"/>
            <a:ext cx="3000000" cy="2000000"/>
          </a:xfrm>
          <a:prstGeom prst="rect">
            <a:avLst/>
          </a:prstGeom>
          <a:noFill/>
        </p:spPr>
        <p:txBody>
          <a:bodyPr wrap="square">
            <a:spAutoFit/>
          </a:bodyPr>
          <a:lstStyle/>
          <a:p>
            <a:pPr algn="l">
              <a:spcBef>
                <a:spcPts val="600"/>
              </a:spcBef>
              <a:defRPr sz="8000" b="1">
                <a:solidFill>
                  <a:srgbClr val="1870B6"/>
                </a:solidFill>
              </a:defRPr>
            </a:pPr>
            <a:r>
              <a:t>03</a:t>
            </a:r>
          </a:p>
        </p:txBody>
      </p:sp>
      <p:sp>
        <p:nvSpPr>
          <p:cNvPr id="6" name="TextBox 5"/>
          <p:cNvSpPr txBox="1"/>
          <p:nvPr/>
        </p:nvSpPr>
        <p:spPr>
          <a:xfrm>
            <a:off x="800000" y="2800000"/>
            <a:ext cx="10000000" cy="1000000"/>
          </a:xfrm>
          <a:prstGeom prst="rect">
            <a:avLst/>
          </a:prstGeom>
          <a:noFill/>
        </p:spPr>
        <p:txBody>
          <a:bodyPr wrap="square">
            <a:spAutoFit/>
          </a:bodyPr>
          <a:lstStyle/>
          <a:p>
            <a:pPr algn="l">
              <a:spcBef>
                <a:spcPts val="600"/>
              </a:spcBef>
              <a:defRPr sz="5200" b="1">
                <a:solidFill>
                  <a:srgbClr val="FFFFFF"/>
                </a:solidFill>
              </a:defRPr>
            </a:pPr>
            <a:r>
              <a:t>总结与展望</a:t>
            </a:r>
          </a:p>
        </p:txBody>
      </p:sp>
      <p:sp>
        <p:nvSpPr>
          <p:cNvPr id="7" name="Rectangle 6"/>
          <p:cNvSpPr/>
          <p:nvPr/>
        </p:nvSpPr>
        <p:spPr>
          <a:xfrm>
            <a:off x="800000" y="3900000"/>
            <a:ext cx="3000000" cy="30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4100000"/>
            <a:ext cx="10000000" cy="800000"/>
          </a:xfrm>
          <a:prstGeom prst="rect">
            <a:avLst/>
          </a:prstGeom>
          <a:noFill/>
        </p:spPr>
        <p:txBody>
          <a:bodyPr wrap="square">
            <a:spAutoFit/>
          </a:bodyPr>
          <a:lstStyle/>
          <a:p>
            <a:pPr algn="l">
              <a:spcBef>
                <a:spcPts val="600"/>
              </a:spcBef>
              <a:defRPr sz="2400" b="0">
                <a:solidFill>
                  <a:srgbClr val="E0E0E0"/>
                </a:solidFill>
              </a:defRPr>
            </a:pPr>
            <a:r>
              <a:t>核心发现与创新点</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50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50000"/>
            <a:ext cx="11000000" cy="700000"/>
          </a:xfrm>
          <a:prstGeom prst="rect">
            <a:avLst/>
          </a:prstGeom>
          <a:noFill/>
        </p:spPr>
        <p:txBody>
          <a:bodyPr wrap="square">
            <a:spAutoFit/>
          </a:bodyPr>
          <a:lstStyle/>
          <a:p>
            <a:pPr algn="l">
              <a:spcBef>
                <a:spcPts val="600"/>
              </a:spcBef>
              <a:defRPr sz="3200" b="1">
                <a:solidFill>
                  <a:srgbClr val="003366"/>
                </a:solidFill>
              </a:defRPr>
            </a:pPr>
            <a:r>
              <a:t>7.1 研究总结</a:t>
            </a:r>
          </a:p>
        </p:txBody>
      </p:sp>
      <p:sp>
        <p:nvSpPr>
          <p:cNvPr id="6" name="Rectangle 5"/>
          <p:cNvSpPr/>
          <p:nvPr/>
        </p:nvSpPr>
        <p:spPr>
          <a:xfrm>
            <a:off x="500000" y="800000"/>
            <a:ext cx="1500000" cy="4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850000"/>
            <a:ext cx="11000000" cy="500000"/>
          </a:xfrm>
          <a:prstGeom prst="rect">
            <a:avLst/>
          </a:prstGeom>
          <a:noFill/>
        </p:spPr>
        <p:txBody>
          <a:bodyPr wrap="square">
            <a:spAutoFit/>
          </a:bodyPr>
          <a:lstStyle/>
          <a:p>
            <a:pPr algn="l">
              <a:spcBef>
                <a:spcPts val="600"/>
              </a:spcBef>
              <a:defRPr sz="2200" b="1">
                <a:solidFill>
                  <a:srgbClr val="1A4B8C"/>
                </a:solidFill>
              </a:defRPr>
            </a:pPr>
            <a:r>
              <a:t>四个核心贡献</a:t>
            </a:r>
          </a:p>
        </p:txBody>
      </p:sp>
      <p:sp>
        <p:nvSpPr>
          <p:cNvPr id="8" name="Rounded Rectangle 7"/>
          <p:cNvSpPr/>
          <p:nvPr/>
        </p:nvSpPr>
        <p:spPr>
          <a:xfrm>
            <a:off x="400000" y="1300000"/>
            <a:ext cx="11200000" cy="1150000"/>
          </a:xfrm>
          <a:prstGeom prst="roundRect">
            <a:avLst/>
          </a:prstGeom>
          <a:solidFill>
            <a:srgbClr val="F8F9FA"/>
          </a:solidFill>
          <a:ln w="38100">
            <a:solidFill>
              <a:srgbClr val="1870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00000" y="1300000"/>
            <a:ext cx="150000" cy="1150000"/>
          </a:xfrm>
          <a:prstGeom prst="rect">
            <a:avLst/>
          </a:prstGeom>
          <a:solidFill>
            <a:srgbClr val="187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0000" y="1620000"/>
            <a:ext cx="450000" cy="450000"/>
          </a:xfrm>
          <a:prstGeom prst="ellipse">
            <a:avLst/>
          </a:prstGeom>
          <a:solidFill>
            <a:srgbClr val="1870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t>1</a:t>
            </a:r>
          </a:p>
        </p:txBody>
      </p:sp>
      <p:sp>
        <p:nvSpPr>
          <p:cNvPr id="11" name="TextBox 10"/>
          <p:cNvSpPr txBox="1"/>
          <p:nvPr/>
        </p:nvSpPr>
        <p:spPr>
          <a:xfrm>
            <a:off x="1200000" y="1380000"/>
            <a:ext cx="9800000" cy="350000"/>
          </a:xfrm>
          <a:prstGeom prst="rect">
            <a:avLst/>
          </a:prstGeom>
          <a:noFill/>
        </p:spPr>
        <p:txBody>
          <a:bodyPr wrap="square">
            <a:spAutoFit/>
          </a:bodyPr>
          <a:lstStyle/>
          <a:p>
            <a:pPr algn="l">
              <a:spcBef>
                <a:spcPts val="600"/>
              </a:spcBef>
              <a:defRPr sz="2400" b="1">
                <a:solidFill>
                  <a:srgbClr val="003366"/>
                </a:solidFill>
              </a:defRPr>
            </a:pPr>
            <a:r>
              <a:t>工作一：ZrAs2 拓扑节线半金属</a:t>
            </a:r>
          </a:p>
        </p:txBody>
      </p:sp>
      <p:sp>
        <p:nvSpPr>
          <p:cNvPr id="12" name="TextBox 11"/>
          <p:cNvSpPr txBox="1"/>
          <p:nvPr/>
        </p:nvSpPr>
        <p:spPr>
          <a:xfrm>
            <a:off x="1200000" y="1750000"/>
            <a:ext cx="9800000" cy="650000"/>
          </a:xfrm>
          <a:prstGeom prst="rect">
            <a:avLst/>
          </a:prstGeom>
          <a:noFill/>
        </p:spPr>
        <p:txBody>
          <a:bodyPr wrap="square">
            <a:spAutoFit/>
          </a:bodyPr>
          <a:lstStyle/>
          <a:p>
            <a:pPr algn="l">
              <a:spcBef>
                <a:spcPts val="500"/>
              </a:spcBef>
              <a:defRPr sz="1700" b="0">
                <a:solidFill>
                  <a:srgbClr val="555555"/>
                </a:solidFill>
              </a:defRPr>
            </a:pPr>
            <a:r>
              <a:t>揭示了ZrAs2的拓扑物理特性。</a:t>
            </a:r>
          </a:p>
          <a:p>
            <a:pPr algn="l">
              <a:spcBef>
                <a:spcPts val="500"/>
              </a:spcBef>
              <a:defRPr sz="1700" b="0">
                <a:solidFill>
                  <a:srgbClr val="555555"/>
                </a:solidFill>
              </a:defRPr>
            </a:pPr>
            <a:r>
              <a:t>低温下极大不饱和磁阻与电子-空穴补偿。</a:t>
            </a:r>
          </a:p>
          <a:p>
            <a:pPr algn="l">
              <a:spcBef>
                <a:spcPts val="500"/>
              </a:spcBef>
              <a:defRPr sz="1700" b="0">
                <a:solidFill>
                  <a:srgbClr val="555555"/>
                </a:solidFill>
              </a:defRPr>
            </a:pPr>
            <a:r>
              <a:t>SdH振荡解析多带费米面结构，非平庸pi贝里相位。</a:t>
            </a:r>
          </a:p>
          <a:p>
            <a:pPr algn="l">
              <a:spcBef>
                <a:spcPts val="500"/>
              </a:spcBef>
              <a:defRPr sz="1700" b="0">
                <a:solidFill>
                  <a:srgbClr val="555555"/>
                </a:solidFill>
              </a:defRPr>
            </a:pPr>
            <a:r>
              <a:t>平行电磁场下负磁阻证实手性反常。</a:t>
            </a:r>
          </a:p>
        </p:txBody>
      </p:sp>
      <p:sp>
        <p:nvSpPr>
          <p:cNvPr id="13" name="Rounded Rectangle 12"/>
          <p:cNvSpPr/>
          <p:nvPr/>
        </p:nvSpPr>
        <p:spPr>
          <a:xfrm>
            <a:off x="400000" y="2600000"/>
            <a:ext cx="11200000" cy="1150000"/>
          </a:xfrm>
          <a:prstGeom prst="roundRect">
            <a:avLst/>
          </a:prstGeom>
          <a:solidFill>
            <a:srgbClr val="F8F9FA"/>
          </a:solidFill>
          <a:ln w="3810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00000" y="2600000"/>
            <a:ext cx="150000" cy="11500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0000" y="2920000"/>
            <a:ext cx="450000" cy="450000"/>
          </a:xfrm>
          <a:prstGeom prst="ellipse">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t>2</a:t>
            </a:r>
          </a:p>
        </p:txBody>
      </p:sp>
      <p:sp>
        <p:nvSpPr>
          <p:cNvPr id="16" name="TextBox 15"/>
          <p:cNvSpPr txBox="1"/>
          <p:nvPr/>
        </p:nvSpPr>
        <p:spPr>
          <a:xfrm>
            <a:off x="1200000" y="2680000"/>
            <a:ext cx="9800000" cy="350000"/>
          </a:xfrm>
          <a:prstGeom prst="rect">
            <a:avLst/>
          </a:prstGeom>
          <a:noFill/>
        </p:spPr>
        <p:txBody>
          <a:bodyPr wrap="square">
            <a:spAutoFit/>
          </a:bodyPr>
          <a:lstStyle/>
          <a:p>
            <a:pPr algn="l">
              <a:spcBef>
                <a:spcPts val="600"/>
              </a:spcBef>
              <a:defRPr sz="2400" b="1">
                <a:solidFill>
                  <a:srgbClr val="003366"/>
                </a:solidFill>
              </a:defRPr>
            </a:pPr>
            <a:r>
              <a:t>工作二：CoNb3S6 三阶非线性霍尔</a:t>
            </a:r>
          </a:p>
        </p:txBody>
      </p:sp>
      <p:sp>
        <p:nvSpPr>
          <p:cNvPr id="17" name="TextBox 16"/>
          <p:cNvSpPr txBox="1"/>
          <p:nvPr/>
        </p:nvSpPr>
        <p:spPr>
          <a:xfrm>
            <a:off x="1200000" y="3050000"/>
            <a:ext cx="9800000" cy="650000"/>
          </a:xfrm>
          <a:prstGeom prst="rect">
            <a:avLst/>
          </a:prstGeom>
          <a:noFill/>
        </p:spPr>
        <p:txBody>
          <a:bodyPr wrap="square">
            <a:spAutoFit/>
          </a:bodyPr>
          <a:lstStyle/>
          <a:p>
            <a:pPr algn="l">
              <a:spcBef>
                <a:spcPts val="500"/>
              </a:spcBef>
              <a:defRPr sz="1700" b="0">
                <a:solidFill>
                  <a:srgbClr val="555555"/>
                </a:solidFill>
              </a:defRPr>
            </a:pPr>
            <a:r>
              <a:t>发现手性反铁磁中拓扑三阶非线性霍尔效应。</a:t>
            </a:r>
          </a:p>
          <a:p>
            <a:pPr algn="l">
              <a:spcBef>
                <a:spcPts val="500"/>
              </a:spcBef>
              <a:defRPr sz="1700" b="0">
                <a:solidFill>
                  <a:srgbClr val="555555"/>
                </a:solidFill>
              </a:defRPr>
            </a:pPr>
            <a:r>
              <a:t>物理起源为all-in-all-out磁结构诱导的贝里曲率四极矩。</a:t>
            </a:r>
          </a:p>
          <a:p>
            <a:pPr algn="l">
              <a:spcBef>
                <a:spcPts val="500"/>
              </a:spcBef>
              <a:defRPr sz="1700" b="0">
                <a:solidFill>
                  <a:srgbClr val="555555"/>
                </a:solidFill>
              </a:defRPr>
            </a:pPr>
            <a:r>
              <a:t>无需SOC即可产生非平庸拓扑。</a:t>
            </a:r>
          </a:p>
          <a:p>
            <a:pPr algn="l">
              <a:spcBef>
                <a:spcPts val="500"/>
              </a:spcBef>
              <a:defRPr sz="1700" b="0">
                <a:solidFill>
                  <a:srgbClr val="555555"/>
                </a:solidFill>
              </a:defRPr>
            </a:pPr>
            <a:r>
              <a:t>接近TN时出现标志性符号翻转。</a:t>
            </a:r>
          </a:p>
        </p:txBody>
      </p:sp>
      <p:sp>
        <p:nvSpPr>
          <p:cNvPr id="18" name="Rounded Rectangle 17"/>
          <p:cNvSpPr/>
          <p:nvPr/>
        </p:nvSpPr>
        <p:spPr>
          <a:xfrm>
            <a:off x="400000" y="3900000"/>
            <a:ext cx="11200000" cy="1150000"/>
          </a:xfrm>
          <a:prstGeom prst="roundRect">
            <a:avLst/>
          </a:prstGeom>
          <a:solidFill>
            <a:srgbClr val="F8F9FA"/>
          </a:solidFill>
          <a:ln w="381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00000" y="3900000"/>
            <a:ext cx="150000" cy="11500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0000" y="4220000"/>
            <a:ext cx="450000" cy="45000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t>3</a:t>
            </a:r>
          </a:p>
        </p:txBody>
      </p:sp>
      <p:sp>
        <p:nvSpPr>
          <p:cNvPr id="21" name="TextBox 20"/>
          <p:cNvSpPr txBox="1"/>
          <p:nvPr/>
        </p:nvSpPr>
        <p:spPr>
          <a:xfrm>
            <a:off x="1200000" y="3980000"/>
            <a:ext cx="9800000" cy="350000"/>
          </a:xfrm>
          <a:prstGeom prst="rect">
            <a:avLst/>
          </a:prstGeom>
          <a:noFill/>
        </p:spPr>
        <p:txBody>
          <a:bodyPr wrap="square">
            <a:spAutoFit/>
          </a:bodyPr>
          <a:lstStyle/>
          <a:p>
            <a:pPr algn="l">
              <a:spcBef>
                <a:spcPts val="600"/>
              </a:spcBef>
              <a:defRPr sz="2400" b="1">
                <a:solidFill>
                  <a:srgbClr val="003366"/>
                </a:solidFill>
              </a:defRPr>
            </a:pPr>
            <a:r>
              <a:t>工作三：CoNb3S6 声子动力学</a:t>
            </a:r>
          </a:p>
        </p:txBody>
      </p:sp>
      <p:sp>
        <p:nvSpPr>
          <p:cNvPr id="22" name="TextBox 21"/>
          <p:cNvSpPr txBox="1"/>
          <p:nvPr/>
        </p:nvSpPr>
        <p:spPr>
          <a:xfrm>
            <a:off x="1200000" y="4350000"/>
            <a:ext cx="9800000" cy="650000"/>
          </a:xfrm>
          <a:prstGeom prst="rect">
            <a:avLst/>
          </a:prstGeom>
          <a:noFill/>
        </p:spPr>
        <p:txBody>
          <a:bodyPr wrap="square">
            <a:spAutoFit/>
          </a:bodyPr>
          <a:lstStyle/>
          <a:p>
            <a:pPr algn="l">
              <a:spcBef>
                <a:spcPts val="500"/>
              </a:spcBef>
              <a:defRPr sz="1700" b="0">
                <a:solidFill>
                  <a:srgbClr val="555555"/>
                </a:solidFill>
              </a:defRPr>
            </a:pPr>
            <a:r>
              <a:t>发现6支声子模式：4支线性+2支手性。</a:t>
            </a:r>
          </a:p>
          <a:p>
            <a:pPr algn="l">
              <a:spcBef>
                <a:spcPts val="500"/>
              </a:spcBef>
              <a:defRPr sz="1700" b="0">
                <a:solidFill>
                  <a:srgbClr val="555555"/>
                </a:solidFill>
              </a:defRPr>
            </a:pPr>
            <a:r>
              <a:t>线性声子巨大磁光拉曼效应（12T下偏振旋转80度）。</a:t>
            </a:r>
          </a:p>
          <a:p>
            <a:pPr algn="l">
              <a:spcBef>
                <a:spcPts val="500"/>
              </a:spcBef>
              <a:defRPr sz="1700" b="0">
                <a:solidFill>
                  <a:srgbClr val="555555"/>
                </a:solidFill>
              </a:defRPr>
            </a:pPr>
            <a:r>
              <a:t>手性声子未表现出磁场响应的对比研究。</a:t>
            </a:r>
          </a:p>
          <a:p>
            <a:pPr algn="l">
              <a:spcBef>
                <a:spcPts val="500"/>
              </a:spcBef>
              <a:defRPr sz="1700" b="0">
                <a:solidFill>
                  <a:srgbClr val="555555"/>
                </a:solidFill>
              </a:defRPr>
            </a:pPr>
            <a:r>
              <a:t>为手性声子体系及磁光调控提供新实验依据。</a:t>
            </a:r>
          </a:p>
        </p:txBody>
      </p:sp>
      <p:sp>
        <p:nvSpPr>
          <p:cNvPr id="23" name="Rounded Rectangle 22"/>
          <p:cNvSpPr/>
          <p:nvPr/>
        </p:nvSpPr>
        <p:spPr>
          <a:xfrm>
            <a:off x="400000" y="5200000"/>
            <a:ext cx="11200000" cy="1150000"/>
          </a:xfrm>
          <a:prstGeom prst="roundRect">
            <a:avLst/>
          </a:prstGeom>
          <a:solidFill>
            <a:srgbClr val="F8F9FA"/>
          </a:solidFill>
          <a:ln w="381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00000" y="5200000"/>
            <a:ext cx="150000" cy="115000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0000" y="5520000"/>
            <a:ext cx="450000" cy="450000"/>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FFFFFF"/>
                </a:solidFill>
              </a:defRPr>
            </a:pPr>
            <a:r>
              <a:t>4</a:t>
            </a:r>
          </a:p>
        </p:txBody>
      </p:sp>
      <p:sp>
        <p:nvSpPr>
          <p:cNvPr id="26" name="TextBox 25"/>
          <p:cNvSpPr txBox="1"/>
          <p:nvPr/>
        </p:nvSpPr>
        <p:spPr>
          <a:xfrm>
            <a:off x="1200000" y="5280000"/>
            <a:ext cx="9800000" cy="350000"/>
          </a:xfrm>
          <a:prstGeom prst="rect">
            <a:avLst/>
          </a:prstGeom>
          <a:noFill/>
        </p:spPr>
        <p:txBody>
          <a:bodyPr wrap="square">
            <a:spAutoFit/>
          </a:bodyPr>
          <a:lstStyle/>
          <a:p>
            <a:pPr algn="l">
              <a:spcBef>
                <a:spcPts val="600"/>
              </a:spcBef>
              <a:defRPr sz="2400" b="1">
                <a:solidFill>
                  <a:srgbClr val="003366"/>
                </a:solidFill>
              </a:defRPr>
            </a:pPr>
            <a:r>
              <a:t>工作四：Nb3I8 红外光电探测</a:t>
            </a:r>
          </a:p>
        </p:txBody>
      </p:sp>
      <p:sp>
        <p:nvSpPr>
          <p:cNvPr id="27" name="TextBox 26"/>
          <p:cNvSpPr txBox="1"/>
          <p:nvPr/>
        </p:nvSpPr>
        <p:spPr>
          <a:xfrm>
            <a:off x="1200000" y="5650000"/>
            <a:ext cx="9800000" cy="650000"/>
          </a:xfrm>
          <a:prstGeom prst="rect">
            <a:avLst/>
          </a:prstGeom>
          <a:noFill/>
        </p:spPr>
        <p:txBody>
          <a:bodyPr wrap="square">
            <a:spAutoFit/>
          </a:bodyPr>
          <a:lstStyle/>
          <a:p>
            <a:pPr algn="l">
              <a:spcBef>
                <a:spcPts val="500"/>
              </a:spcBef>
              <a:defRPr sz="1700" b="0">
                <a:solidFill>
                  <a:srgbClr val="555555"/>
                </a:solidFill>
              </a:defRPr>
            </a:pPr>
            <a:r>
              <a:t>利用电子平带+声子平带协同机制。</a:t>
            </a:r>
          </a:p>
          <a:p>
            <a:pPr algn="l">
              <a:spcBef>
                <a:spcPts val="500"/>
              </a:spcBef>
              <a:defRPr sz="1700" b="0">
                <a:solidFill>
                  <a:srgbClr val="555555"/>
                </a:solidFill>
              </a:defRPr>
            </a:pPr>
            <a:r>
              <a:t>实现SWIR到VLWIR全宽谱探测。</a:t>
            </a:r>
          </a:p>
          <a:p>
            <a:pPr algn="l">
              <a:spcBef>
                <a:spcPts val="500"/>
              </a:spcBef>
              <a:defRPr sz="1700" b="0">
                <a:solidFill>
                  <a:srgbClr val="555555"/>
                </a:solidFill>
              </a:defRPr>
            </a:pPr>
            <a:r>
              <a:t>平带电子增强吸收，平带声子抑制热扩散。</a:t>
            </a:r>
          </a:p>
          <a:p>
            <a:pPr algn="l">
              <a:spcBef>
                <a:spcPts val="500"/>
              </a:spcBef>
              <a:defRPr sz="1700" b="0">
                <a:solidFill>
                  <a:srgbClr val="555555"/>
                </a:solidFill>
              </a:defRPr>
            </a:pPr>
            <a:r>
              <a:t>为基于量子平带材料的新型红外器件提供新思路。</a:t>
            </a:r>
          </a:p>
        </p:txBody>
      </p:sp>
      <p:sp>
        <p:nvSpPr>
          <p:cNvPr id="28" name="TextBox 27"/>
          <p:cNvSpPr txBox="1"/>
          <p:nvPr/>
        </p:nvSpPr>
        <p:spPr>
          <a:xfrm>
            <a:off x="11600000" y="6450000"/>
            <a:ext cx="500000" cy="350000"/>
          </a:xfrm>
          <a:prstGeom prst="rect">
            <a:avLst/>
          </a:prstGeom>
          <a:noFill/>
        </p:spPr>
        <p:txBody>
          <a:bodyPr wrap="square">
            <a:spAutoFit/>
          </a:bodyPr>
          <a:lstStyle/>
          <a:p>
            <a:pPr algn="ctr">
              <a:spcBef>
                <a:spcPts val="600"/>
              </a:spcBef>
              <a:defRPr sz="1400" b="0">
                <a:solidFill>
                  <a:srgbClr val="E0E0E0"/>
                </a:solidFill>
              </a:defRPr>
            </a:pPr>
            <a:r>
              <a:t>17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50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50000"/>
            <a:ext cx="11000000" cy="700000"/>
          </a:xfrm>
          <a:prstGeom prst="rect">
            <a:avLst/>
          </a:prstGeom>
          <a:noFill/>
        </p:spPr>
        <p:txBody>
          <a:bodyPr wrap="square">
            <a:spAutoFit/>
          </a:bodyPr>
          <a:lstStyle/>
          <a:p>
            <a:pPr algn="l">
              <a:spcBef>
                <a:spcPts val="600"/>
              </a:spcBef>
              <a:defRPr sz="3200" b="1">
                <a:solidFill>
                  <a:srgbClr val="003366"/>
                </a:solidFill>
              </a:defRPr>
            </a:pPr>
            <a:r>
              <a:t>博士期间发表论文</a:t>
            </a:r>
          </a:p>
        </p:txBody>
      </p:sp>
      <p:sp>
        <p:nvSpPr>
          <p:cNvPr id="6" name="Rectangle 5"/>
          <p:cNvSpPr/>
          <p:nvPr/>
        </p:nvSpPr>
        <p:spPr>
          <a:xfrm>
            <a:off x="500000" y="800000"/>
            <a:ext cx="1500000" cy="4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0000" y="1400000"/>
            <a:ext cx="11000000" cy="4000000"/>
          </a:xfrm>
          <a:prstGeom prst="rect">
            <a:avLst/>
          </a:prstGeom>
          <a:noFill/>
        </p:spPr>
        <p:txBody>
          <a:bodyPr wrap="square">
            <a:spAutoFit/>
          </a:bodyPr>
          <a:lstStyle/>
          <a:p>
            <a:pPr algn="l">
              <a:spcBef>
                <a:spcPts val="1200"/>
              </a:spcBef>
              <a:defRPr sz="2200" b="0">
                <a:solidFill>
                  <a:srgbClr val="444444"/>
                </a:solidFill>
              </a:defRPr>
            </a:pPr>
            <a:r>
              <a:t>第一作者：</a:t>
            </a:r>
          </a:p>
          <a:p>
            <a:pPr algn="l">
              <a:spcBef>
                <a:spcPts val="1200"/>
              </a:spcBef>
              <a:defRPr sz="2200" b="0">
                <a:solidFill>
                  <a:srgbClr val="444444"/>
                </a:solidFill>
              </a:defRPr>
            </a:pPr>
          </a:p>
          <a:p>
            <a:pPr algn="l">
              <a:spcBef>
                <a:spcPts val="1200"/>
              </a:spcBef>
              <a:defRPr sz="2200" b="0">
                <a:solidFill>
                  <a:srgbClr val="444444"/>
                </a:solidFill>
              </a:defRPr>
            </a:pPr>
            <a:r>
              <a:t>1. Extremely large magnetoresistance and chiral anomaly in the nodal-line semimetal ZrAs2</a:t>
            </a:r>
          </a:p>
          <a:p>
            <a:pPr algn="l">
              <a:spcBef>
                <a:spcPts val="1200"/>
              </a:spcBef>
              <a:defRPr sz="2200" b="0">
                <a:solidFill>
                  <a:srgbClr val="444444"/>
                </a:solidFill>
              </a:defRPr>
            </a:pPr>
            <a:r>
              <a:t>   Front. Phys. 20, 034203 (2025).</a:t>
            </a:r>
          </a:p>
          <a:p>
            <a:pPr algn="l">
              <a:spcBef>
                <a:spcPts val="1200"/>
              </a:spcBef>
              <a:defRPr sz="2200" b="0">
                <a:solidFill>
                  <a:srgbClr val="444444"/>
                </a:solidFill>
              </a:defRPr>
            </a:pPr>
          </a:p>
          <a:p>
            <a:pPr algn="l">
              <a:spcBef>
                <a:spcPts val="1200"/>
              </a:spcBef>
              <a:defRPr sz="2200" b="0">
                <a:solidFill>
                  <a:srgbClr val="444444"/>
                </a:solidFill>
              </a:defRPr>
            </a:pPr>
            <a:r>
              <a:t>2. Topological third order nonlinear Hall effect in chiral antiferromagnet CoNb3S6</a:t>
            </a:r>
          </a:p>
          <a:p>
            <a:pPr algn="l">
              <a:spcBef>
                <a:spcPts val="1200"/>
              </a:spcBef>
              <a:defRPr sz="2200" b="0">
                <a:solidFill>
                  <a:srgbClr val="444444"/>
                </a:solidFill>
              </a:defRPr>
            </a:pPr>
            <a:r>
              <a:t>   （在投/待发表）</a:t>
            </a:r>
          </a:p>
          <a:p>
            <a:pPr algn="l">
              <a:spcBef>
                <a:spcPts val="1200"/>
              </a:spcBef>
              <a:defRPr sz="2200" b="0">
                <a:solidFill>
                  <a:srgbClr val="444444"/>
                </a:solidFill>
              </a:defRPr>
            </a:pPr>
          </a:p>
          <a:p>
            <a:pPr algn="l">
              <a:spcBef>
                <a:spcPts val="1200"/>
              </a:spcBef>
              <a:defRPr sz="2200" b="0">
                <a:solidFill>
                  <a:srgbClr val="444444"/>
                </a:solidFill>
              </a:defRPr>
            </a:pPr>
            <a:r>
              <a:t>3. Chiral phonon and giant magneto-optical Raman effect in chiral antiferromagnet CoNb3S6</a:t>
            </a:r>
          </a:p>
          <a:p>
            <a:pPr algn="l">
              <a:spcBef>
                <a:spcPts val="1200"/>
              </a:spcBef>
              <a:defRPr sz="2200" b="0">
                <a:solidFill>
                  <a:srgbClr val="444444"/>
                </a:solidFill>
              </a:defRPr>
            </a:pPr>
            <a:r>
              <a:t>   （在投/待发表）</a:t>
            </a:r>
          </a:p>
          <a:p>
            <a:pPr algn="l">
              <a:spcBef>
                <a:spcPts val="1200"/>
              </a:spcBef>
              <a:defRPr sz="2200" b="0">
                <a:solidFill>
                  <a:srgbClr val="444444"/>
                </a:solidFill>
              </a:defRPr>
            </a:pPr>
          </a:p>
          <a:p>
            <a:pPr algn="l">
              <a:spcBef>
                <a:spcPts val="1200"/>
              </a:spcBef>
              <a:defRPr sz="2200" b="0">
                <a:solidFill>
                  <a:srgbClr val="444444"/>
                </a:solidFill>
              </a:defRPr>
            </a:pPr>
            <a:r>
              <a:t>4. Blackbody-sensitive adaptive ultra-broadband infrared photodetector based on Nb3I8</a:t>
            </a:r>
          </a:p>
          <a:p>
            <a:pPr algn="l">
              <a:spcBef>
                <a:spcPts val="1200"/>
              </a:spcBef>
              <a:defRPr sz="2200" b="0">
                <a:solidFill>
                  <a:srgbClr val="444444"/>
                </a:solidFill>
              </a:defRPr>
            </a:pPr>
            <a:r>
              <a:t>   （在投/待发表）</a:t>
            </a:r>
          </a:p>
        </p:txBody>
      </p:sp>
      <p:sp>
        <p:nvSpPr>
          <p:cNvPr id="8" name="TextBox 7"/>
          <p:cNvSpPr txBox="1"/>
          <p:nvPr/>
        </p:nvSpPr>
        <p:spPr>
          <a:xfrm>
            <a:off x="11600000" y="6450000"/>
            <a:ext cx="500000" cy="350000"/>
          </a:xfrm>
          <a:prstGeom prst="rect">
            <a:avLst/>
          </a:prstGeom>
          <a:noFill/>
        </p:spPr>
        <p:txBody>
          <a:bodyPr wrap="square">
            <a:spAutoFit/>
          </a:bodyPr>
          <a:lstStyle/>
          <a:p>
            <a:pPr algn="ctr">
              <a:spcBef>
                <a:spcPts val="600"/>
              </a:spcBef>
              <a:defRPr sz="1400" b="0">
                <a:solidFill>
                  <a:srgbClr val="E0E0E0"/>
                </a:solidFill>
              </a:defRPr>
            </a:pPr>
            <a:r>
              <a:t>18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Rectangle 2"/>
          <p:cNvSpPr/>
          <p:nvPr/>
        </p:nvSpPr>
        <p:spPr>
          <a:xfrm>
            <a:off x="0" y="0"/>
            <a:ext cx="12192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2000" cy="1300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0000" y="100000"/>
            <a:ext cx="4000000" cy="600000"/>
          </a:xfrm>
          <a:prstGeom prst="rect">
            <a:avLst/>
          </a:prstGeom>
          <a:noFill/>
        </p:spPr>
        <p:txBody>
          <a:bodyPr wrap="square">
            <a:spAutoFit/>
          </a:bodyPr>
          <a:lstStyle/>
          <a:p>
            <a:pPr algn="l">
              <a:spcBef>
                <a:spcPts val="600"/>
              </a:spcBef>
              <a:defRPr sz="2200" b="1">
                <a:solidFill>
                  <a:srgbClr val="FFD700"/>
                </a:solidFill>
              </a:defRPr>
            </a:pPr>
            <a:r>
              <a:t>求是创新</a:t>
            </a:r>
          </a:p>
        </p:txBody>
      </p:sp>
      <p:sp>
        <p:nvSpPr>
          <p:cNvPr id="6" name="TextBox 5"/>
          <p:cNvSpPr txBox="1"/>
          <p:nvPr/>
        </p:nvSpPr>
        <p:spPr>
          <a:xfrm>
            <a:off x="800000" y="2200000"/>
            <a:ext cx="10500000" cy="1500000"/>
          </a:xfrm>
          <a:prstGeom prst="rect">
            <a:avLst/>
          </a:prstGeom>
          <a:noFill/>
        </p:spPr>
        <p:txBody>
          <a:bodyPr wrap="square">
            <a:spAutoFit/>
          </a:bodyPr>
          <a:lstStyle/>
          <a:p>
            <a:pPr algn="ctr">
              <a:spcBef>
                <a:spcPts val="600"/>
              </a:spcBef>
              <a:defRPr sz="5200" b="1">
                <a:solidFill>
                  <a:srgbClr val="FFFFFF"/>
                </a:solidFill>
              </a:defRPr>
            </a:pPr>
            <a:r>
              <a:t>感谢各位专家</a:t>
            </a:r>
          </a:p>
        </p:txBody>
      </p:sp>
      <p:sp>
        <p:nvSpPr>
          <p:cNvPr id="7" name="TextBox 6"/>
          <p:cNvSpPr txBox="1"/>
          <p:nvPr/>
        </p:nvSpPr>
        <p:spPr>
          <a:xfrm>
            <a:off x="800000" y="3800000"/>
            <a:ext cx="10500000" cy="800000"/>
          </a:xfrm>
          <a:prstGeom prst="rect">
            <a:avLst/>
          </a:prstGeom>
          <a:noFill/>
        </p:spPr>
        <p:txBody>
          <a:bodyPr wrap="square">
            <a:spAutoFit/>
          </a:bodyPr>
          <a:lstStyle/>
          <a:p>
            <a:pPr algn="ctr">
              <a:spcBef>
                <a:spcPts val="600"/>
              </a:spcBef>
              <a:defRPr sz="3600" b="0">
                <a:solidFill>
                  <a:srgbClr val="E0E0E0"/>
                </a:solidFill>
              </a:defRPr>
            </a:pPr>
            <a:r>
              <a:t>敬请批评指正</a:t>
            </a:r>
          </a:p>
        </p:txBody>
      </p:sp>
      <p:sp>
        <p:nvSpPr>
          <p:cNvPr id="8" name="TextBox 7"/>
          <p:cNvSpPr txBox="1"/>
          <p:nvPr/>
        </p:nvSpPr>
        <p:spPr>
          <a:xfrm>
            <a:off x="800000" y="5000000"/>
            <a:ext cx="10500000" cy="600000"/>
          </a:xfrm>
          <a:prstGeom prst="rect">
            <a:avLst/>
          </a:prstGeom>
          <a:noFill/>
        </p:spPr>
        <p:txBody>
          <a:bodyPr wrap="square">
            <a:spAutoFit/>
          </a:bodyPr>
          <a:lstStyle/>
          <a:p>
            <a:pPr algn="ctr">
              <a:spcBef>
                <a:spcPts val="600"/>
              </a:spcBef>
              <a:defRPr sz="2400" b="0">
                <a:solidFill>
                  <a:srgbClr val="E0E0E0"/>
                </a:solidFill>
              </a:defRPr>
            </a:pPr>
            <a:r>
              <a:t>答辩人：杨浩</a:t>
            </a:r>
          </a:p>
        </p:txBody>
      </p:sp>
      <p:sp>
        <p:nvSpPr>
          <p:cNvPr id="9" name="TextBox 8"/>
          <p:cNvSpPr txBox="1"/>
          <p:nvPr/>
        </p:nvSpPr>
        <p:spPr>
          <a:xfrm>
            <a:off x="11200000" y="6400000"/>
            <a:ext cx="800000" cy="400000"/>
          </a:xfrm>
          <a:prstGeom prst="rect">
            <a:avLst/>
          </a:prstGeom>
          <a:noFill/>
        </p:spPr>
        <p:txBody>
          <a:bodyPr wrap="square">
            <a:spAutoFit/>
          </a:bodyPr>
          <a:lstStyle/>
          <a:p>
            <a:pPr algn="ctr">
              <a:spcBef>
                <a:spcPts val="600"/>
              </a:spcBef>
              <a:defRPr sz="1400" b="0">
                <a:solidFill>
                  <a:srgbClr val="E0E0E0"/>
                </a:solidFill>
              </a:defRPr>
            </a:pPr>
            <a: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